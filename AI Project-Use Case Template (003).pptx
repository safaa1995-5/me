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2" r:id="rId2"/>
    <p:sldId id="2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FEF"/>
    <a:srgbClr val="EFF6F0"/>
    <a:srgbClr val="FCFCFC"/>
    <a:srgbClr val="EAF2FA"/>
    <a:srgbClr val="EBF3FB"/>
    <a:srgbClr val="F0F7FC"/>
    <a:srgbClr val="153D58"/>
    <a:srgbClr val="F6F8FA"/>
    <a:srgbClr val="000000"/>
    <a:srgbClr val="E2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DFE732-48EA-4853-9CFF-17CB7222D2C8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9CEEC-B799-4806-BF33-2F1ABD3AF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70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B3A49-C2E8-4AAC-8A15-78724902F19A}" type="slidenum">
              <a:rPr kumimoji="0" lang="en-A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260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A6651-22D0-C2A1-DD78-883F7412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1CF9F-3446-78FB-A4BE-DC5DC8808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23251-CFBF-1FCB-BE28-854107098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C5DDF-CD7C-22C8-45CE-B82E26652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B3A49-C2E8-4AAC-8A15-78724902F19A}" type="slidenum">
              <a:rPr kumimoji="0" lang="en-A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981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8152-80AB-89F7-6CAE-8B2555EE1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BE0B1-8B85-CADA-9AC5-063C88111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50823-85B3-8758-37AF-247A043C7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8083-13A9-4587-9909-DDC9E1899641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5545B-F50F-CAEF-3562-F00435B2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C69DC-9D35-5676-D1C9-4298AE81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78DC-AEFB-4A8E-A452-880052F72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63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A25E-3374-147B-8E44-F08219AE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41CB2-0FD2-4FB3-93A1-203E8BB9E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220FC-380B-038D-F581-5D138128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8083-13A9-4587-9909-DDC9E1899641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D0D52-36FD-2AD1-D8EB-421F41C6B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5D19E-DE95-9A8D-8AEE-8265653D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78DC-AEFB-4A8E-A452-880052F72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5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034BE-9514-8303-D28B-5F9C970FF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7080D-995C-D94F-BC09-2AA6DFA13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BC047-5D0F-2E98-5EED-995E1939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8083-13A9-4587-9909-DDC9E1899641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96FA6-449E-D8F6-6850-57C2378B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1B1AB-6573-0F70-D59A-07675BED4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78DC-AEFB-4A8E-A452-880052F72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4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2069-00A7-1F32-A582-A76262A0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4C1F1-2ECD-5429-B341-2624C24B60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9EA14-E671-F467-F9A5-876E437A6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760E1-1202-178E-95B0-C2B28172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8083-13A9-4587-9909-DDC9E1899641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543E9-024F-B941-6F20-31C7CDD1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92A86-8DA1-322C-B909-AF864E441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78DC-AEFB-4A8E-A452-880052F72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26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E7125-22E8-5503-F499-331AB338D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6CC6D-594D-B2C1-1799-409BB99BB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828DC-B3AA-57CF-68F7-82AB5D0ED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292170-A996-94E6-9F5D-8BE92196B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2A96C3-F3A9-36EA-D664-9027A5347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7C2BC-82EB-0BAB-07AC-ABA6CEDB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8083-13A9-4587-9909-DDC9E1899641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5F99A8-EAE3-37BC-2E80-199024E2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2C89AA-66D9-E1C1-2D1F-D2C097D2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78DC-AEFB-4A8E-A452-880052F72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66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12B2-41B0-CC54-EED0-4A365945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07A901-87F6-D4D1-9682-2198FCC83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8083-13A9-4587-9909-DDC9E1899641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68013-D4CF-DD9A-589C-69FCCD20A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1AADDE-FBA6-602C-2969-B1F57C24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78DC-AEFB-4A8E-A452-880052F72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55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826E5-9466-1615-9991-E8AA1241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8083-13A9-4587-9909-DDC9E1899641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FA2AD1-4F4D-9AD0-84C9-8DC33CC4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EA0B3-7CBE-058F-CB2C-8A56409F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78DC-AEFB-4A8E-A452-880052F72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50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3D37-1168-B845-D79F-E2812C09D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9113A-6358-4EEC-916E-8F4003D73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B1628-A041-8453-71DF-F4B5D0DD5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12319-A4EF-199F-1D68-9FADB62AA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8083-13A9-4587-9909-DDC9E1899641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DFEC8-73EE-EBC2-8ABB-CD9B25361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46FB9-E857-418B-A0CD-0884D4340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78DC-AEFB-4A8E-A452-880052F72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0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CDE1A-F9D4-3B17-E88B-F3CBD5820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C0FEC-0BC0-4FCF-473F-F22974324C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91BE0-F997-F05B-4D6D-83FD11015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C1538-A26E-BA66-C230-7E539EFE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8083-13A9-4587-9909-DDC9E1899641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F5C37-8D86-4D44-55E4-04594361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0758-BB36-8D83-FBB4-B00443A62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78DC-AEFB-4A8E-A452-880052F72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1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C69A6-1108-C472-5C7F-931AD43B9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5854A-DACA-2390-2DFD-866E2AE57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4050D-4D7D-8190-9D38-40391F001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8083-13A9-4587-9909-DDC9E1899641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99A7A-9083-935C-4941-78786F242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C22C7-1E33-F8B4-A595-3232FA37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78DC-AEFB-4A8E-A452-880052F72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3EF21D-00BB-69C5-1844-BE4F358A9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52D13-47E6-3D1F-541D-E0E3001A0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0D657-7DAF-8D1C-4F19-882D56290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8083-13A9-4587-9909-DDC9E1899641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91839-4A90-0727-1BE9-BE377C5D5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5104-54B1-53FC-DBB2-20D3C1B6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78DC-AEFB-4A8E-A452-880052F72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5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134AA3C-2F0D-D667-86A9-3A48F0A226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2620779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F5F9FD-6A12-0179-05FA-D739067A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B5469-6284-8450-E539-458827A58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46C2F-A2C2-7907-17E0-AFE333FD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A8083-13A9-4587-9909-DDC9E1899641}" type="datetimeFigureOut">
              <a:rPr lang="en-US" smtClean="0"/>
              <a:t>15/07/2026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FB1F5-A9A9-84CA-16E4-8568CB54A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47181-8B38-877C-A5EC-259FCB719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0378DC-AEFB-4A8E-A452-880052F72D3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2A2AFF-22CF-4A8D-6D6B-0B3432EC797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707688" y="6642100"/>
            <a:ext cx="14779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Dubai Health  - Internal Use </a:t>
            </a:r>
          </a:p>
        </p:txBody>
      </p:sp>
    </p:spTree>
    <p:extLst>
      <p:ext uri="{BB962C8B-B14F-4D97-AF65-F5344CB8AC3E}">
        <p14:creationId xmlns:p14="http://schemas.microsoft.com/office/powerpoint/2010/main" val="63101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1EAFD-F627-9981-9B4E-21AC76D4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FE3E04-621C-C04E-B403-AE0B051D03A3}"/>
              </a:ext>
            </a:extLst>
          </p:cNvPr>
          <p:cNvSpPr/>
          <p:nvPr/>
        </p:nvSpPr>
        <p:spPr>
          <a:xfrm>
            <a:off x="0" y="-979"/>
            <a:ext cx="12216384" cy="2121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04BE40-B3F2-C2B2-10A9-B1C6FED40F2E}"/>
              </a:ext>
            </a:extLst>
          </p:cNvPr>
          <p:cNvSpPr/>
          <p:nvPr/>
        </p:nvSpPr>
        <p:spPr>
          <a:xfrm>
            <a:off x="8572981" y="2124071"/>
            <a:ext cx="3617126" cy="47339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rnd">
            <a:noFill/>
            <a:prstDash val="sysDot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1" u="none" strike="noStrike" kern="1200" cap="none" spc="0" normalizeH="0" baseline="0" noProof="0">
              <a:ln>
                <a:noFill/>
              </a:ln>
              <a:solidFill>
                <a:srgbClr val="37373A"/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Lato" panose="020F0502020204030203" pitchFamily="34" charset="0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37A411-9DD4-9547-7E70-2A25A7FA1018}"/>
              </a:ext>
            </a:extLst>
          </p:cNvPr>
          <p:cNvSpPr/>
          <p:nvPr/>
        </p:nvSpPr>
        <p:spPr>
          <a:xfrm>
            <a:off x="0" y="4000292"/>
            <a:ext cx="4181246" cy="1249396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 w="381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274320" rIns="91440" bIns="91440" numCol="1" spcCol="38100" rtlCol="0" anchor="t">
            <a:no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l-PL" sz="1100" b="0" i="0" u="none" strike="noStrike" kern="1200" cap="none" spc="0" normalizeH="0" baseline="0" noProof="0">
              <a:ln>
                <a:noFill/>
              </a:ln>
              <a:solidFill>
                <a:srgbClr val="696969">
                  <a:lumMod val="50000"/>
                  <a:lumOff val="5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29949-549E-0179-C50D-2089A0854F40}"/>
              </a:ext>
            </a:extLst>
          </p:cNvPr>
          <p:cNvSpPr/>
          <p:nvPr/>
        </p:nvSpPr>
        <p:spPr>
          <a:xfrm>
            <a:off x="0" y="3750306"/>
            <a:ext cx="4181246" cy="1984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Expected Benefit</a:t>
            </a:r>
            <a:endParaRPr kumimoji="0" lang="en-ZA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5F32E8-7453-3BA7-F79F-BDEB3AA9AE25}"/>
              </a:ext>
            </a:extLst>
          </p:cNvPr>
          <p:cNvSpPr txBox="1"/>
          <p:nvPr/>
        </p:nvSpPr>
        <p:spPr>
          <a:xfrm>
            <a:off x="111464" y="3993412"/>
            <a:ext cx="3958318" cy="26161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-----------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3D5260-5FCD-CE89-B42D-133C22562423}"/>
              </a:ext>
            </a:extLst>
          </p:cNvPr>
          <p:cNvSpPr/>
          <p:nvPr/>
        </p:nvSpPr>
        <p:spPr>
          <a:xfrm>
            <a:off x="4362714" y="4000292"/>
            <a:ext cx="4181246" cy="1249396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 w="381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274320" rIns="91440" bIns="91440" numCol="1" spcCol="38100" rtlCol="0" anchor="t">
            <a:no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l-PL" sz="1100" b="0" i="0" u="none" strike="noStrike" kern="1200" cap="none" spc="0" normalizeH="0" baseline="0" noProof="0">
              <a:ln>
                <a:noFill/>
              </a:ln>
              <a:solidFill>
                <a:srgbClr val="696969">
                  <a:lumMod val="50000"/>
                  <a:lumOff val="5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E5FA76-EF49-68CD-670E-D44236501BD9}"/>
              </a:ext>
            </a:extLst>
          </p:cNvPr>
          <p:cNvSpPr/>
          <p:nvPr/>
        </p:nvSpPr>
        <p:spPr>
          <a:xfrm>
            <a:off x="4362714" y="3750306"/>
            <a:ext cx="4181246" cy="1984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Key Audience</a:t>
            </a:r>
            <a:endParaRPr kumimoji="0" lang="en-ZA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F7286-FB08-6D45-2D14-EE64FBF4DED2}"/>
              </a:ext>
            </a:extLst>
          </p:cNvPr>
          <p:cNvSpPr txBox="1"/>
          <p:nvPr/>
        </p:nvSpPr>
        <p:spPr>
          <a:xfrm>
            <a:off x="4474178" y="3993412"/>
            <a:ext cx="3958318" cy="26161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--------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315958-04D3-6FCE-1225-A3934700D38F}"/>
              </a:ext>
            </a:extLst>
          </p:cNvPr>
          <p:cNvSpPr/>
          <p:nvPr/>
        </p:nvSpPr>
        <p:spPr>
          <a:xfrm>
            <a:off x="0" y="5608604"/>
            <a:ext cx="4181246" cy="1249396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 w="381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274320" rIns="91440" bIns="91440" numCol="1" spcCol="38100" rtlCol="0" anchor="t">
            <a:no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l-PL" sz="1100" b="0" i="0" u="none" strike="noStrike" kern="1200" cap="none" spc="0" normalizeH="0" baseline="0" noProof="0">
              <a:ln>
                <a:noFill/>
              </a:ln>
              <a:solidFill>
                <a:srgbClr val="696969">
                  <a:lumMod val="50000"/>
                  <a:lumOff val="5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4E56C4-C4EE-84F6-D9A5-2ECEAA616324}"/>
              </a:ext>
            </a:extLst>
          </p:cNvPr>
          <p:cNvSpPr/>
          <p:nvPr/>
        </p:nvSpPr>
        <p:spPr>
          <a:xfrm>
            <a:off x="0" y="5358618"/>
            <a:ext cx="4181246" cy="1984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Data Requirement 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(Data Type)</a:t>
            </a:r>
            <a:endParaRPr kumimoji="0" lang="en-ZA" sz="9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0F9929-F002-F115-19C9-B40320FDE7DE}"/>
              </a:ext>
            </a:extLst>
          </p:cNvPr>
          <p:cNvSpPr txBox="1"/>
          <p:nvPr/>
        </p:nvSpPr>
        <p:spPr>
          <a:xfrm>
            <a:off x="111464" y="5779524"/>
            <a:ext cx="3958318" cy="26161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------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09FE7A-88F1-AEF3-53FF-DA2ED2B1B431}"/>
              </a:ext>
            </a:extLst>
          </p:cNvPr>
          <p:cNvSpPr/>
          <p:nvPr/>
        </p:nvSpPr>
        <p:spPr>
          <a:xfrm>
            <a:off x="4362714" y="5608604"/>
            <a:ext cx="4181246" cy="1249396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 w="381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274320" rIns="91440" bIns="91440" numCol="1" spcCol="38100" rtlCol="0" anchor="t">
            <a:no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l-PL" sz="1100" b="0" i="0" u="none" strike="noStrike" kern="1200" cap="none" spc="0" normalizeH="0" baseline="0" noProof="0">
              <a:ln>
                <a:noFill/>
              </a:ln>
              <a:solidFill>
                <a:srgbClr val="696969">
                  <a:lumMod val="50000"/>
                  <a:lumOff val="5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7A0187-735D-FF17-B197-9030CE3A4BE7}"/>
              </a:ext>
            </a:extLst>
          </p:cNvPr>
          <p:cNvSpPr/>
          <p:nvPr/>
        </p:nvSpPr>
        <p:spPr>
          <a:xfrm>
            <a:off x="4362714" y="5358618"/>
            <a:ext cx="4181246" cy="1984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System Dependencies </a:t>
            </a:r>
            <a:r>
              <a:rPr kumimoji="0" lang="pt-BR" sz="9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(EMR/ERP/ etc)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B95D43-1988-2228-5820-5E6B6B9106AD}"/>
              </a:ext>
            </a:extLst>
          </p:cNvPr>
          <p:cNvSpPr/>
          <p:nvPr/>
        </p:nvSpPr>
        <p:spPr>
          <a:xfrm>
            <a:off x="-1" y="2391980"/>
            <a:ext cx="8572981" cy="1249396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</a:gradFill>
          <a:ln w="381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274320" rIns="91440" bIns="91440" numCol="1" spcCol="38100" rtlCol="0" anchor="t">
            <a:no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l-PL" sz="1100" b="0" i="0" u="none" strike="noStrike" kern="1200" cap="none" spc="0" normalizeH="0" baseline="0" noProof="0">
              <a:ln>
                <a:noFill/>
              </a:ln>
              <a:solidFill>
                <a:srgbClr val="696969">
                  <a:lumMod val="50000"/>
                  <a:lumOff val="5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9846AB-B4B6-1E85-BB42-7D265134D88A}"/>
              </a:ext>
            </a:extLst>
          </p:cNvPr>
          <p:cNvSpPr/>
          <p:nvPr/>
        </p:nvSpPr>
        <p:spPr>
          <a:xfrm>
            <a:off x="-1" y="2141994"/>
            <a:ext cx="8572981" cy="1984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Problem Statement</a:t>
            </a:r>
            <a:endParaRPr kumimoji="0" lang="en-ZA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FE59FE-DE5D-4A75-806A-CB2ED3BF7FCF}"/>
              </a:ext>
            </a:extLst>
          </p:cNvPr>
          <p:cNvSpPr txBox="1"/>
          <p:nvPr/>
        </p:nvSpPr>
        <p:spPr>
          <a:xfrm>
            <a:off x="228538" y="2562900"/>
            <a:ext cx="8115903" cy="26161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--------</a:t>
            </a:r>
          </a:p>
        </p:txBody>
      </p:sp>
      <p:sp>
        <p:nvSpPr>
          <p:cNvPr id="30" name="Lorem Ipsum">
            <a:extLst>
              <a:ext uri="{FF2B5EF4-FFF2-40B4-BE49-F238E27FC236}">
                <a16:creationId xmlns:a16="http://schemas.microsoft.com/office/drawing/2014/main" id="{2E9DD8CA-4E03-C700-965B-38CF9BEFC483}"/>
              </a:ext>
            </a:extLst>
          </p:cNvPr>
          <p:cNvSpPr txBox="1">
            <a:spLocks/>
          </p:cNvSpPr>
          <p:nvPr/>
        </p:nvSpPr>
        <p:spPr>
          <a:xfrm>
            <a:off x="9033207" y="2502916"/>
            <a:ext cx="2699925" cy="27974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 u="none" strike="noStrike" cap="none" spc="0" baseline="0" dirty="0">
                <a:solidFill>
                  <a:srgbClr val="243780"/>
                </a:solidFill>
                <a:uFillTx/>
                <a:latin typeface="Circular Std Bold" panose="020B0804020101010102" pitchFamily="34" charset="0"/>
                <a:ea typeface="Circular Std Bold" panose="020B0804020101010102" pitchFamily="34" charset="0"/>
                <a:cs typeface="Circular Std Bold" panose="020B0804020101010102" pitchFamily="34" charset="0"/>
                <a:sym typeface="Helvetica Neue"/>
              </a:defRPr>
            </a:lvl1pPr>
            <a:lvl2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ptos Display" panose="02110004020202020204"/>
                <a:sym typeface="Helvetica Neue"/>
              </a:rPr>
              <a:t>Prioritization Outcomes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B0A36D-19A6-A428-A8A5-52249E40BAE3}"/>
              </a:ext>
            </a:extLst>
          </p:cNvPr>
          <p:cNvGrpSpPr/>
          <p:nvPr/>
        </p:nvGrpSpPr>
        <p:grpSpPr>
          <a:xfrm>
            <a:off x="8855985" y="2949624"/>
            <a:ext cx="3510427" cy="426575"/>
            <a:chOff x="8855985" y="2856587"/>
            <a:chExt cx="3510427" cy="42657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6221D86-4493-A2B8-CCA6-C3053CD4CE62}"/>
                </a:ext>
              </a:extLst>
            </p:cNvPr>
            <p:cNvGrpSpPr/>
            <p:nvPr/>
          </p:nvGrpSpPr>
          <p:grpSpPr>
            <a:xfrm>
              <a:off x="8855985" y="2893604"/>
              <a:ext cx="1728429" cy="352541"/>
              <a:chOff x="8751288" y="2540042"/>
              <a:chExt cx="1728429" cy="352541"/>
            </a:xfrm>
          </p:grpSpPr>
          <p:pic>
            <p:nvPicPr>
              <p:cNvPr id="35" name="Graphic 34" descr="Diamond">
                <a:extLst>
                  <a:ext uri="{FF2B5EF4-FFF2-40B4-BE49-F238E27FC236}">
                    <a16:creationId xmlns:a16="http://schemas.microsoft.com/office/drawing/2014/main" id="{229C0E19-76AD-FEDE-522F-5E3930EC58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751288" y="2540042"/>
                <a:ext cx="352541" cy="352541"/>
              </a:xfrm>
              <a:prstGeom prst="rect">
                <a:avLst/>
              </a:prstGeom>
            </p:spPr>
          </p:pic>
          <p:sp>
            <p:nvSpPr>
              <p:cNvPr id="36" name="Text Placeholder 10">
                <a:extLst>
                  <a:ext uri="{FF2B5EF4-FFF2-40B4-BE49-F238E27FC236}">
                    <a16:creationId xmlns:a16="http://schemas.microsoft.com/office/drawing/2014/main" id="{2112C4EA-BA63-E997-357A-CFF4BFF5DB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53892" y="2608590"/>
                <a:ext cx="132582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lvl1pPr marL="0" marR="0" indent="0" algn="ctr" defTabSz="41275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lang="en-US" sz="3000" b="1" i="0" u="none" strike="noStrike" cap="none" spc="0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FillTx/>
                    <a:latin typeface="Circular Std"/>
                    <a:ea typeface="Helvetica Neue"/>
                    <a:cs typeface="Helvetica Neue"/>
                    <a:sym typeface="Helvetica Neue"/>
                  </a:defRPr>
                </a:lvl1pPr>
                <a:lvl2pPr marL="0" marR="0" indent="0" algn="ctr" defTabSz="41275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2pPr>
                <a:lvl3pPr marL="0" marR="0" indent="0" algn="ctr" defTabSz="41275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3pPr>
                <a:lvl4pPr marL="0" marR="0" indent="0" algn="ctr" defTabSz="41275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4pPr>
                <a:lvl5pPr marL="0" marR="0" indent="0" algn="ctr" defTabSz="41275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5pPr>
                <a:lvl6pPr marL="0" marR="0" indent="177800" algn="ctr" defTabSz="41275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6pPr>
                <a:lvl7pPr marL="0" marR="0" indent="355600" algn="ctr" defTabSz="41275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7pPr>
                <a:lvl8pPr marL="0" marR="0" indent="533400" algn="ctr" defTabSz="41275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8pPr>
                <a:lvl9pPr marL="0" marR="0" indent="711200" algn="ctr" defTabSz="41275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9pPr>
              </a:lstStyle>
              <a:p>
                <a:pPr marL="0" marR="0" lvl="0" indent="0" algn="l" defTabSz="41275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273370"/>
                    </a:solidFill>
                    <a:effectLst/>
                    <a:uLnTx/>
                    <a:uFillTx/>
                    <a:latin typeface="Aptos Display" panose="02110004020202020204"/>
                    <a:ea typeface="Helvetica Neue"/>
                    <a:cs typeface="Helvetica Neue"/>
                    <a:sym typeface="Helvetica Neue"/>
                  </a:rPr>
                  <a:t>Value</a:t>
                </a:r>
                <a:endParaRPr kumimoji="0" lang="en-GB" sz="1400" b="1" i="0" u="none" strike="noStrike" kern="0" cap="none" spc="0" normalizeH="0" baseline="0" noProof="0">
                  <a:ln>
                    <a:noFill/>
                  </a:ln>
                  <a:solidFill>
                    <a:srgbClr val="273370"/>
                  </a:solidFill>
                  <a:effectLst/>
                  <a:uLnTx/>
                  <a:uFillTx/>
                  <a:latin typeface="Aptos Display" panose="02110004020202020204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8BF3D001-F120-93D6-E440-C94BC5113C49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14840" y="2856587"/>
              <a:ext cx="426575" cy="426575"/>
            </a:xfrm>
            <a:prstGeom prst="rect">
              <a:avLst/>
            </a:prstGeom>
          </p:spPr>
        </p:pic>
        <p:sp>
          <p:nvSpPr>
            <p:cNvPr id="34" name="Text Placeholder 10">
              <a:extLst>
                <a:ext uri="{FF2B5EF4-FFF2-40B4-BE49-F238E27FC236}">
                  <a16:creationId xmlns:a16="http://schemas.microsoft.com/office/drawing/2014/main" id="{4E22C927-008C-6AEF-1171-6F0C4B8623E5}"/>
                </a:ext>
              </a:extLst>
            </p:cNvPr>
            <p:cNvSpPr txBox="1">
              <a:spLocks/>
            </p:cNvSpPr>
            <p:nvPr/>
          </p:nvSpPr>
          <p:spPr>
            <a:xfrm>
              <a:off x="11040587" y="2962152"/>
              <a:ext cx="132582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lvl1pPr marL="0" marR="0" indent="0" algn="ctr" defTabSz="41275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lang="en-US" sz="3000" b="1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Circular Std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41275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41275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41275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41275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0" marR="0" indent="177800" algn="ctr" defTabSz="41275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0" marR="0" indent="355600" algn="ctr" defTabSz="41275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0" marR="0" indent="533400" algn="ctr" defTabSz="41275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0" marR="0" indent="711200" algn="ctr" defTabSz="41275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marL="0" marR="0" lvl="0" indent="0" algn="l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273370"/>
                  </a:solidFill>
                  <a:effectLst/>
                  <a:uLnTx/>
                  <a:uFillTx/>
                  <a:latin typeface="Aptos Display" panose="02110004020202020204"/>
                  <a:ea typeface="Helvetica Neue"/>
                  <a:cs typeface="Helvetica Neue"/>
                  <a:sym typeface="Helvetica Neue"/>
                </a:rPr>
                <a:t>Feasibility</a:t>
              </a:r>
              <a:endPara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273370"/>
                </a:solidFill>
                <a:effectLst/>
                <a:uLnTx/>
                <a:uFillTx/>
                <a:latin typeface="Aptos Display" panose="02110004020202020204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3E0AE76-D866-BED9-CE70-E289877BF672}"/>
              </a:ext>
            </a:extLst>
          </p:cNvPr>
          <p:cNvSpPr/>
          <p:nvPr/>
        </p:nvSpPr>
        <p:spPr>
          <a:xfrm>
            <a:off x="8803430" y="6333805"/>
            <a:ext cx="151253" cy="14534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err="1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66D4BA-DF2E-1120-9352-A1ACBE2AD202}"/>
              </a:ext>
            </a:extLst>
          </p:cNvPr>
          <p:cNvSpPr/>
          <p:nvPr/>
        </p:nvSpPr>
        <p:spPr>
          <a:xfrm>
            <a:off x="8902882" y="6333805"/>
            <a:ext cx="959164" cy="14534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0 – 6  months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40CF54-A9D9-D288-3A90-1BA412C2E2B2}"/>
              </a:ext>
            </a:extLst>
          </p:cNvPr>
          <p:cNvSpPr/>
          <p:nvPr/>
        </p:nvSpPr>
        <p:spPr>
          <a:xfrm>
            <a:off x="9850775" y="6333805"/>
            <a:ext cx="151253" cy="145349"/>
          </a:xfrm>
          <a:prstGeom prst="rect">
            <a:avLst/>
          </a:prstGeom>
          <a:solidFill>
            <a:schemeClr val="accent1"/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err="1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6428DE-DA9C-47A8-13C9-FF47AB511DD1}"/>
              </a:ext>
            </a:extLst>
          </p:cNvPr>
          <p:cNvSpPr/>
          <p:nvPr/>
        </p:nvSpPr>
        <p:spPr>
          <a:xfrm>
            <a:off x="9950227" y="6333805"/>
            <a:ext cx="959164" cy="14534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6-12 months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843225-2817-A485-A457-FA6FAEBF693A}"/>
              </a:ext>
            </a:extLst>
          </p:cNvPr>
          <p:cNvSpPr/>
          <p:nvPr/>
        </p:nvSpPr>
        <p:spPr>
          <a:xfrm>
            <a:off x="10901043" y="6333805"/>
            <a:ext cx="151253" cy="145349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err="1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C45D53E-C8EC-E0BD-2D76-200AE0CC4C21}"/>
              </a:ext>
            </a:extLst>
          </p:cNvPr>
          <p:cNvSpPr/>
          <p:nvPr/>
        </p:nvSpPr>
        <p:spPr>
          <a:xfrm>
            <a:off x="11000495" y="6333805"/>
            <a:ext cx="959164" cy="14534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&gt;12 months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525520-FED7-E1BC-0D6A-77FADAE57B29}"/>
              </a:ext>
            </a:extLst>
          </p:cNvPr>
          <p:cNvSpPr/>
          <p:nvPr/>
        </p:nvSpPr>
        <p:spPr>
          <a:xfrm>
            <a:off x="8828414" y="3600892"/>
            <a:ext cx="9042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Clinical Impact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F2EB77-D051-EFE9-048E-4474C558E26A}"/>
              </a:ext>
            </a:extLst>
          </p:cNvPr>
          <p:cNvSpPr/>
          <p:nvPr/>
        </p:nvSpPr>
        <p:spPr>
          <a:xfrm>
            <a:off x="9719604" y="3753953"/>
            <a:ext cx="124133" cy="111394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8463498-C10A-291F-51B7-2A9C097B0190}"/>
              </a:ext>
            </a:extLst>
          </p:cNvPr>
          <p:cNvSpPr/>
          <p:nvPr/>
        </p:nvSpPr>
        <p:spPr>
          <a:xfrm>
            <a:off x="9718402" y="3843287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L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A20F5FB-0B11-8F67-DC2F-0FBDE49ACDE3}"/>
              </a:ext>
            </a:extLst>
          </p:cNvPr>
          <p:cNvSpPr/>
          <p:nvPr/>
        </p:nvSpPr>
        <p:spPr>
          <a:xfrm>
            <a:off x="9883443" y="3655291"/>
            <a:ext cx="124133" cy="21005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E8B475-1B08-21BB-F428-00EE0E07F4E9}"/>
              </a:ext>
            </a:extLst>
          </p:cNvPr>
          <p:cNvSpPr/>
          <p:nvPr/>
        </p:nvSpPr>
        <p:spPr>
          <a:xfrm>
            <a:off x="9882241" y="3843287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M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760311F-B28C-1E02-AC7D-90A662898519}"/>
              </a:ext>
            </a:extLst>
          </p:cNvPr>
          <p:cNvSpPr/>
          <p:nvPr/>
        </p:nvSpPr>
        <p:spPr>
          <a:xfrm>
            <a:off x="10047281" y="3543163"/>
            <a:ext cx="124133" cy="322184"/>
          </a:xfrm>
          <a:prstGeom prst="rect">
            <a:avLst/>
          </a:prstGeom>
          <a:solidFill>
            <a:schemeClr val="accent1"/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52DA895-F995-3FA4-5101-88FD32BBAC86}"/>
              </a:ext>
            </a:extLst>
          </p:cNvPr>
          <p:cNvSpPr/>
          <p:nvPr/>
        </p:nvSpPr>
        <p:spPr>
          <a:xfrm>
            <a:off x="10046079" y="3843287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H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CE39411-3BFB-E9D6-40B7-5D6A8750DD50}"/>
              </a:ext>
            </a:extLst>
          </p:cNvPr>
          <p:cNvSpPr/>
          <p:nvPr/>
        </p:nvSpPr>
        <p:spPr>
          <a:xfrm>
            <a:off x="10322147" y="3600892"/>
            <a:ext cx="11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Technical Feasibility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F5F8CF1-83E5-A55D-A303-4BBC5968CD4E}"/>
              </a:ext>
            </a:extLst>
          </p:cNvPr>
          <p:cNvSpPr/>
          <p:nvPr/>
        </p:nvSpPr>
        <p:spPr>
          <a:xfrm>
            <a:off x="11426244" y="3753953"/>
            <a:ext cx="124133" cy="111394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22546B-1A62-C598-58F6-007FA12324EB}"/>
              </a:ext>
            </a:extLst>
          </p:cNvPr>
          <p:cNvSpPr/>
          <p:nvPr/>
        </p:nvSpPr>
        <p:spPr>
          <a:xfrm>
            <a:off x="11425042" y="3843287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932AFD6-9782-5703-5C85-BBFF0809671A}"/>
              </a:ext>
            </a:extLst>
          </p:cNvPr>
          <p:cNvSpPr/>
          <p:nvPr/>
        </p:nvSpPr>
        <p:spPr>
          <a:xfrm>
            <a:off x="11590083" y="3655291"/>
            <a:ext cx="124133" cy="210056"/>
          </a:xfrm>
          <a:prstGeom prst="rect">
            <a:avLst/>
          </a:prstGeom>
          <a:solidFill>
            <a:schemeClr val="accent1"/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4EF3908-76D9-FD4F-CE78-8057E70E98BA}"/>
              </a:ext>
            </a:extLst>
          </p:cNvPr>
          <p:cNvSpPr/>
          <p:nvPr/>
        </p:nvSpPr>
        <p:spPr>
          <a:xfrm>
            <a:off x="11588881" y="3843287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5645F8C-F278-3289-7AE0-87DBDD44380A}"/>
              </a:ext>
            </a:extLst>
          </p:cNvPr>
          <p:cNvSpPr/>
          <p:nvPr/>
        </p:nvSpPr>
        <p:spPr>
          <a:xfrm>
            <a:off x="11753921" y="3543163"/>
            <a:ext cx="124133" cy="322184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AEB7464-C2C8-4126-96AF-B66D6D64E6C6}"/>
              </a:ext>
            </a:extLst>
          </p:cNvPr>
          <p:cNvSpPr/>
          <p:nvPr/>
        </p:nvSpPr>
        <p:spPr>
          <a:xfrm>
            <a:off x="11752719" y="3843287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8E4F83C-AE03-11E9-D4C9-91B0FAC42D65}"/>
              </a:ext>
            </a:extLst>
          </p:cNvPr>
          <p:cNvSpPr/>
          <p:nvPr/>
        </p:nvSpPr>
        <p:spPr>
          <a:xfrm>
            <a:off x="8828414" y="4226373"/>
            <a:ext cx="9042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Business Impact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C941F1-94F7-1EC5-B89D-5297D1E1648C}"/>
              </a:ext>
            </a:extLst>
          </p:cNvPr>
          <p:cNvSpPr/>
          <p:nvPr/>
        </p:nvSpPr>
        <p:spPr>
          <a:xfrm>
            <a:off x="9719604" y="4379434"/>
            <a:ext cx="124133" cy="111394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8C56F1B-023B-A87E-AB27-F7626C66F6C5}"/>
              </a:ext>
            </a:extLst>
          </p:cNvPr>
          <p:cNvSpPr/>
          <p:nvPr/>
        </p:nvSpPr>
        <p:spPr>
          <a:xfrm>
            <a:off x="9718402" y="4468768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L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94FFA98-AD82-505D-0160-DD203A552B8F}"/>
              </a:ext>
            </a:extLst>
          </p:cNvPr>
          <p:cNvSpPr/>
          <p:nvPr/>
        </p:nvSpPr>
        <p:spPr>
          <a:xfrm>
            <a:off x="9883443" y="4280772"/>
            <a:ext cx="124133" cy="21005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C6636E6-AA96-A03E-30E7-7D0E4EA83878}"/>
              </a:ext>
            </a:extLst>
          </p:cNvPr>
          <p:cNvSpPr/>
          <p:nvPr/>
        </p:nvSpPr>
        <p:spPr>
          <a:xfrm>
            <a:off x="9882241" y="4468768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M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658DF67-83C5-F841-3018-027327E1766F}"/>
              </a:ext>
            </a:extLst>
          </p:cNvPr>
          <p:cNvSpPr/>
          <p:nvPr/>
        </p:nvSpPr>
        <p:spPr>
          <a:xfrm>
            <a:off x="10047281" y="4168644"/>
            <a:ext cx="124133" cy="322184"/>
          </a:xfrm>
          <a:prstGeom prst="rect">
            <a:avLst/>
          </a:prstGeom>
          <a:solidFill>
            <a:schemeClr val="accent1"/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9278D8C-A2CA-E6B1-0959-9BB76C1CA994}"/>
              </a:ext>
            </a:extLst>
          </p:cNvPr>
          <p:cNvSpPr/>
          <p:nvPr/>
        </p:nvSpPr>
        <p:spPr>
          <a:xfrm>
            <a:off x="10046079" y="4468768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H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8D529CF-BB8E-A6F7-A253-BA15EAF06D63}"/>
              </a:ext>
            </a:extLst>
          </p:cNvPr>
          <p:cNvSpPr/>
          <p:nvPr/>
        </p:nvSpPr>
        <p:spPr>
          <a:xfrm>
            <a:off x="10322147" y="4226373"/>
            <a:ext cx="11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Organizational Feasibility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98F3108-3201-C62C-2D61-925528633E22}"/>
              </a:ext>
            </a:extLst>
          </p:cNvPr>
          <p:cNvSpPr/>
          <p:nvPr/>
        </p:nvSpPr>
        <p:spPr>
          <a:xfrm>
            <a:off x="11426244" y="4379434"/>
            <a:ext cx="124133" cy="111394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5E04679-88B3-6E9A-342D-6A76593E5720}"/>
              </a:ext>
            </a:extLst>
          </p:cNvPr>
          <p:cNvSpPr/>
          <p:nvPr/>
        </p:nvSpPr>
        <p:spPr>
          <a:xfrm>
            <a:off x="11425042" y="4468768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D7C70B0-EE0F-5923-6C26-945375F996B5}"/>
              </a:ext>
            </a:extLst>
          </p:cNvPr>
          <p:cNvSpPr/>
          <p:nvPr/>
        </p:nvSpPr>
        <p:spPr>
          <a:xfrm>
            <a:off x="11590083" y="4280772"/>
            <a:ext cx="124133" cy="210056"/>
          </a:xfrm>
          <a:prstGeom prst="rect">
            <a:avLst/>
          </a:prstGeom>
          <a:solidFill>
            <a:schemeClr val="accent1"/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463BCAF-BBAA-E275-7853-32184761B809}"/>
              </a:ext>
            </a:extLst>
          </p:cNvPr>
          <p:cNvSpPr/>
          <p:nvPr/>
        </p:nvSpPr>
        <p:spPr>
          <a:xfrm>
            <a:off x="11588881" y="4468768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M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9551A0D-DA16-0575-9CCC-A757EBF1E875}"/>
              </a:ext>
            </a:extLst>
          </p:cNvPr>
          <p:cNvSpPr/>
          <p:nvPr/>
        </p:nvSpPr>
        <p:spPr>
          <a:xfrm>
            <a:off x="11753921" y="4168644"/>
            <a:ext cx="124133" cy="322184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1AFEC15-CFCD-0AA4-83B2-C72271158BCE}"/>
              </a:ext>
            </a:extLst>
          </p:cNvPr>
          <p:cNvSpPr/>
          <p:nvPr/>
        </p:nvSpPr>
        <p:spPr>
          <a:xfrm>
            <a:off x="11752719" y="4468768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H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A27EF73-3D72-5A67-3E06-E35E6EA96231}"/>
              </a:ext>
            </a:extLst>
          </p:cNvPr>
          <p:cNvSpPr/>
          <p:nvPr/>
        </p:nvSpPr>
        <p:spPr>
          <a:xfrm>
            <a:off x="8828414" y="4851854"/>
            <a:ext cx="9042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Strategic Alignment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4752DBD-DAA9-9228-D15D-CD542E2C6E2C}"/>
              </a:ext>
            </a:extLst>
          </p:cNvPr>
          <p:cNvSpPr/>
          <p:nvPr/>
        </p:nvSpPr>
        <p:spPr>
          <a:xfrm>
            <a:off x="9719604" y="5004915"/>
            <a:ext cx="124133" cy="111394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1D1D402-8B61-4E68-A677-2E84EE94D4B6}"/>
              </a:ext>
            </a:extLst>
          </p:cNvPr>
          <p:cNvSpPr/>
          <p:nvPr/>
        </p:nvSpPr>
        <p:spPr>
          <a:xfrm>
            <a:off x="9718402" y="5094249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C02BCC3-4C24-29A7-01CE-F9431373E5D0}"/>
              </a:ext>
            </a:extLst>
          </p:cNvPr>
          <p:cNvSpPr/>
          <p:nvPr/>
        </p:nvSpPr>
        <p:spPr>
          <a:xfrm>
            <a:off x="9883443" y="4906253"/>
            <a:ext cx="124133" cy="21005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3BE1649-2519-0303-3A7F-ED1E46F25FD8}"/>
              </a:ext>
            </a:extLst>
          </p:cNvPr>
          <p:cNvSpPr/>
          <p:nvPr/>
        </p:nvSpPr>
        <p:spPr>
          <a:xfrm>
            <a:off x="9882241" y="5094249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M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2109F5B-099B-89C8-EA2B-EC0C69E6ACA1}"/>
              </a:ext>
            </a:extLst>
          </p:cNvPr>
          <p:cNvSpPr/>
          <p:nvPr/>
        </p:nvSpPr>
        <p:spPr>
          <a:xfrm>
            <a:off x="10047281" y="4794125"/>
            <a:ext cx="124133" cy="322184"/>
          </a:xfrm>
          <a:prstGeom prst="rect">
            <a:avLst/>
          </a:prstGeom>
          <a:solidFill>
            <a:schemeClr val="accent1"/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8F07B3E-F433-AD0B-0BEF-A31BB5BB02AD}"/>
              </a:ext>
            </a:extLst>
          </p:cNvPr>
          <p:cNvSpPr/>
          <p:nvPr/>
        </p:nvSpPr>
        <p:spPr>
          <a:xfrm>
            <a:off x="10046079" y="5094249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H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FFBDEAF-9DFD-CD98-AA6B-1A65643DBC58}"/>
              </a:ext>
            </a:extLst>
          </p:cNvPr>
          <p:cNvSpPr/>
          <p:nvPr/>
        </p:nvSpPr>
        <p:spPr>
          <a:xfrm>
            <a:off x="10322147" y="4851854"/>
            <a:ext cx="11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Cost 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Feasibility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CB4C78C-9A65-6F19-48F7-6BBD1535CC9C}"/>
              </a:ext>
            </a:extLst>
          </p:cNvPr>
          <p:cNvSpPr/>
          <p:nvPr/>
        </p:nvSpPr>
        <p:spPr>
          <a:xfrm>
            <a:off x="11426244" y="5004915"/>
            <a:ext cx="124133" cy="111394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82B9CC1-7870-92B9-13EF-A756F025855D}"/>
              </a:ext>
            </a:extLst>
          </p:cNvPr>
          <p:cNvSpPr/>
          <p:nvPr/>
        </p:nvSpPr>
        <p:spPr>
          <a:xfrm>
            <a:off x="11425042" y="5094249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L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9FEA1E3-1064-6856-533A-2FA09F7A5BD8}"/>
              </a:ext>
            </a:extLst>
          </p:cNvPr>
          <p:cNvSpPr/>
          <p:nvPr/>
        </p:nvSpPr>
        <p:spPr>
          <a:xfrm>
            <a:off x="11590083" y="4906253"/>
            <a:ext cx="124133" cy="210056"/>
          </a:xfrm>
          <a:prstGeom prst="rect">
            <a:avLst/>
          </a:prstGeom>
          <a:solidFill>
            <a:schemeClr val="accent1"/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250A546-277B-4A0B-2E4D-60AB8975D0E9}"/>
              </a:ext>
            </a:extLst>
          </p:cNvPr>
          <p:cNvSpPr/>
          <p:nvPr/>
        </p:nvSpPr>
        <p:spPr>
          <a:xfrm>
            <a:off x="11588881" y="5094249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M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C706363-6564-B126-7AC3-1B25D6648839}"/>
              </a:ext>
            </a:extLst>
          </p:cNvPr>
          <p:cNvSpPr/>
          <p:nvPr/>
        </p:nvSpPr>
        <p:spPr>
          <a:xfrm>
            <a:off x="11753921" y="4794125"/>
            <a:ext cx="124133" cy="322184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3CC9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280B61D-B5FB-B4E1-16B8-EFB16190B8A1}"/>
              </a:ext>
            </a:extLst>
          </p:cNvPr>
          <p:cNvSpPr/>
          <p:nvPr/>
        </p:nvSpPr>
        <p:spPr>
          <a:xfrm>
            <a:off x="11752719" y="5094249"/>
            <a:ext cx="1265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96969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  <a:sym typeface="Helvetica Neue Medium"/>
              </a:rPr>
              <a:t>H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A26B469-9DF3-56A9-ECDA-B01BF6F91B39}"/>
              </a:ext>
            </a:extLst>
          </p:cNvPr>
          <p:cNvCxnSpPr>
            <a:cxnSpLocks/>
          </p:cNvCxnSpPr>
          <p:nvPr/>
        </p:nvCxnSpPr>
        <p:spPr>
          <a:xfrm rot="5400000">
            <a:off x="10381544" y="3876457"/>
            <a:ext cx="0" cy="3200400"/>
          </a:xfrm>
          <a:prstGeom prst="line">
            <a:avLst/>
          </a:prstGeom>
          <a:ln w="19050" cap="flat" cmpd="sng" algn="ctr">
            <a:gradFill>
              <a:gsLst>
                <a:gs pos="0">
                  <a:schemeClr val="accent4">
                    <a:lumMod val="20000"/>
                    <a:lumOff val="80000"/>
                  </a:schemeClr>
                </a:gs>
                <a:gs pos="32000">
                  <a:schemeClr val="tx2"/>
                </a:gs>
                <a:gs pos="70000">
                  <a:schemeClr val="accent1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C1432BE-A1FC-143E-02E0-5EA81C225D59}"/>
              </a:ext>
            </a:extLst>
          </p:cNvPr>
          <p:cNvGrpSpPr/>
          <p:nvPr/>
        </p:nvGrpSpPr>
        <p:grpSpPr>
          <a:xfrm>
            <a:off x="9401362" y="5704988"/>
            <a:ext cx="1960365" cy="400486"/>
            <a:chOff x="9352965" y="5558314"/>
            <a:chExt cx="1960365" cy="40048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8A7AD7FE-76EB-1167-2F3B-3CFB14107CB7}"/>
                </a:ext>
              </a:extLst>
            </p:cNvPr>
            <p:cNvSpPr/>
            <p:nvPr/>
          </p:nvSpPr>
          <p:spPr>
            <a:xfrm>
              <a:off x="9608782" y="5604668"/>
              <a:ext cx="1704548" cy="30777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273370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  <a:sym typeface="Helvetica Neue Medium"/>
                </a:rPr>
                <a:t>Time to Deploy </a:t>
              </a:r>
            </a:p>
          </p:txBody>
        </p:sp>
        <p:pic>
          <p:nvPicPr>
            <p:cNvPr id="88" name="Graphic 87" descr="Stopwatch 75% with solid fill">
              <a:extLst>
                <a:ext uri="{FF2B5EF4-FFF2-40B4-BE49-F238E27FC236}">
                  <a16:creationId xmlns:a16="http://schemas.microsoft.com/office/drawing/2014/main" id="{337987AC-B45B-547D-BBD9-69746E57B5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52965" y="5558314"/>
              <a:ext cx="400486" cy="400486"/>
            </a:xfrm>
            <a:prstGeom prst="rect">
              <a:avLst/>
            </a:prstGeom>
          </p:spPr>
        </p:pic>
      </p:grpSp>
      <p:sp>
        <p:nvSpPr>
          <p:cNvPr id="90" name="Oval 89">
            <a:extLst>
              <a:ext uri="{FF2B5EF4-FFF2-40B4-BE49-F238E27FC236}">
                <a16:creationId xmlns:a16="http://schemas.microsoft.com/office/drawing/2014/main" id="{2B40313E-5848-3707-DBC8-5A50F56B2740}"/>
              </a:ext>
            </a:extLst>
          </p:cNvPr>
          <p:cNvSpPr>
            <a:spLocks noChangeAspect="1"/>
          </p:cNvSpPr>
          <p:nvPr/>
        </p:nvSpPr>
        <p:spPr>
          <a:xfrm>
            <a:off x="370363" y="575951"/>
            <a:ext cx="989623" cy="989623"/>
          </a:xfrm>
          <a:prstGeom prst="ellipse">
            <a:avLst/>
          </a:prstGeom>
          <a:solidFill>
            <a:srgbClr val="4387BD">
              <a:alpha val="30000"/>
            </a:srgb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FS Albert Arabic" panose="020B0503040502020804" pitchFamily="34" charset="-78"/>
                <a:sym typeface="Helvetica Neue Medium"/>
              </a:rPr>
              <a:t>--</a:t>
            </a:r>
          </a:p>
        </p:txBody>
      </p:sp>
      <p:sp>
        <p:nvSpPr>
          <p:cNvPr id="91" name="Lorem Ipsum">
            <a:extLst>
              <a:ext uri="{FF2B5EF4-FFF2-40B4-BE49-F238E27FC236}">
                <a16:creationId xmlns:a16="http://schemas.microsoft.com/office/drawing/2014/main" id="{09663201-2DEE-BD55-A788-BEF4DD2B70D7}"/>
              </a:ext>
            </a:extLst>
          </p:cNvPr>
          <p:cNvSpPr txBox="1">
            <a:spLocks/>
          </p:cNvSpPr>
          <p:nvPr/>
        </p:nvSpPr>
        <p:spPr>
          <a:xfrm>
            <a:off x="1585410" y="509798"/>
            <a:ext cx="10396333" cy="514721"/>
          </a:xfrm>
          <a:prstGeom prst="rect">
            <a:avLst/>
          </a:prstGeom>
        </p:spPr>
        <p:txBody>
          <a:bodyPr wrap="square" lIns="0" tIns="45720" rIns="91440" bIns="45720" anchor="b" anchorCtr="0">
            <a:noAutofit/>
          </a:bodyPr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 u="none" strike="noStrike" cap="none" spc="0" baseline="0" dirty="0">
                <a:solidFill>
                  <a:srgbClr val="243780"/>
                </a:solidFill>
                <a:uFillTx/>
                <a:latin typeface="Circular Std Bold" panose="020B0804020101010102" pitchFamily="34" charset="0"/>
                <a:ea typeface="Circular Std Bold" panose="020B0804020101010102" pitchFamily="34" charset="0"/>
                <a:cs typeface="Circular Std Bold" panose="020B0804020101010102" pitchFamily="34" charset="0"/>
                <a:sym typeface="Helvetica Neue"/>
              </a:defRPr>
            </a:lvl1pPr>
            <a:lvl2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FS Albert Arabic" panose="020B0503040502020804" pitchFamily="34" charset="-78"/>
                <a:sym typeface="Helvetica Neue"/>
              </a:rPr>
              <a:t>AI Project/Use Case Template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7EEAA63-D6FB-FD67-1420-486F56F0C481}"/>
              </a:ext>
            </a:extLst>
          </p:cNvPr>
          <p:cNvSpPr>
            <a:spLocks/>
          </p:cNvSpPr>
          <p:nvPr/>
        </p:nvSpPr>
        <p:spPr>
          <a:xfrm>
            <a:off x="1607645" y="1003500"/>
            <a:ext cx="10123862" cy="324623"/>
          </a:xfrm>
          <a:prstGeom prst="rect">
            <a:avLst/>
          </a:prstGeom>
        </p:spPr>
        <p:txBody>
          <a:bodyPr wrap="square" lIns="0" tIns="45720" rIns="91440" bIns="45720" anchor="t" anchorCtr="0">
            <a:no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Lato Black" panose="020F0502020204030203" pitchFamily="34" charset="0"/>
                <a:cs typeface="FS Albert Arabic" panose="020B0503040502020804" pitchFamily="34" charset="-78"/>
                <a:sym typeface="Helvetica Neue Medium"/>
              </a:rPr>
              <a:t>Use Case Overview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082A433-B81E-58E1-EA97-055776D526F4}"/>
              </a:ext>
            </a:extLst>
          </p:cNvPr>
          <p:cNvSpPr>
            <a:spLocks/>
          </p:cNvSpPr>
          <p:nvPr/>
        </p:nvSpPr>
        <p:spPr>
          <a:xfrm>
            <a:off x="1607645" y="1307103"/>
            <a:ext cx="10123862" cy="324623"/>
          </a:xfrm>
          <a:prstGeom prst="rect">
            <a:avLst/>
          </a:prstGeom>
        </p:spPr>
        <p:txBody>
          <a:bodyPr wrap="square" lIns="0" tIns="45720" rIns="91440" bIns="45720" anchor="t" anchorCtr="0">
            <a:no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Lato Black" panose="020F0502020204030203" pitchFamily="34" charset="0"/>
                <a:cs typeface="FS Albert Arabic" panose="020B0503040502020804" pitchFamily="34" charset="-78"/>
                <a:sym typeface="Helvetica Neue Medium"/>
              </a:rPr>
              <a:t>----------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03B4B0-061F-E427-1274-9C22A5915FCC}"/>
              </a:ext>
            </a:extLst>
          </p:cNvPr>
          <p:cNvSpPr txBox="1"/>
          <p:nvPr/>
        </p:nvSpPr>
        <p:spPr>
          <a:xfrm>
            <a:off x="4474178" y="5779524"/>
            <a:ext cx="3958318" cy="26161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--------</a:t>
            </a:r>
          </a:p>
        </p:txBody>
      </p:sp>
    </p:spTree>
    <p:extLst>
      <p:ext uri="{BB962C8B-B14F-4D97-AF65-F5344CB8AC3E}">
        <p14:creationId xmlns:p14="http://schemas.microsoft.com/office/powerpoint/2010/main" val="208474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AC0C6-9CD5-625C-A68A-8E736FC05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614E11-CB5F-79EE-3640-8B77121D1460}"/>
              </a:ext>
            </a:extLst>
          </p:cNvPr>
          <p:cNvSpPr/>
          <p:nvPr/>
        </p:nvSpPr>
        <p:spPr>
          <a:xfrm>
            <a:off x="0" y="-979"/>
            <a:ext cx="12216384" cy="2121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C2B0BA-9F44-3BA4-1AF1-1D22AFD718E4}"/>
              </a:ext>
            </a:extLst>
          </p:cNvPr>
          <p:cNvSpPr/>
          <p:nvPr/>
        </p:nvSpPr>
        <p:spPr>
          <a:xfrm>
            <a:off x="471945" y="5520341"/>
            <a:ext cx="4005666" cy="1249396"/>
          </a:xfrm>
          <a:prstGeom prst="rect">
            <a:avLst/>
          </a:prstGeom>
          <a:solidFill>
            <a:srgbClr val="EAF2FA"/>
          </a:solidFill>
          <a:ln w="381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274320" rIns="91440" bIns="91440" numCol="1" spcCol="38100" rtlCol="0" anchor="t">
            <a:no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l-PL" sz="1100" b="0" i="0" u="none" strike="noStrike" kern="1200" cap="none" spc="0" normalizeH="0" baseline="0" noProof="0" dirty="0">
              <a:ln>
                <a:noFill/>
              </a:ln>
              <a:solidFill>
                <a:srgbClr val="696969">
                  <a:lumMod val="50000"/>
                  <a:lumOff val="5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2B6269-35E1-61D3-C4AA-5C08973FD56A}"/>
              </a:ext>
            </a:extLst>
          </p:cNvPr>
          <p:cNvSpPr/>
          <p:nvPr/>
        </p:nvSpPr>
        <p:spPr>
          <a:xfrm>
            <a:off x="471945" y="5270355"/>
            <a:ext cx="4005666" cy="1984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Key B</a:t>
            </a:r>
            <a:r>
              <a:rPr lang="en-US" sz="1200" b="1" dirty="0" err="1">
                <a:solidFill>
                  <a:prstClr val="white"/>
                </a:solidFill>
                <a:latin typeface="Aptos Display" panose="02110004020202020204"/>
              </a:rPr>
              <a:t>enefits</a:t>
            </a:r>
            <a:endParaRPr kumimoji="0" lang="en-ZA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A38E53-3528-CBC1-9634-5D1C75D462FE}"/>
              </a:ext>
            </a:extLst>
          </p:cNvPr>
          <p:cNvSpPr txBox="1"/>
          <p:nvPr/>
        </p:nvSpPr>
        <p:spPr>
          <a:xfrm>
            <a:off x="578728" y="5593453"/>
            <a:ext cx="3792099" cy="26161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--------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8B3D47-9586-F318-EBCC-FC1CE0DA3017}"/>
              </a:ext>
            </a:extLst>
          </p:cNvPr>
          <p:cNvSpPr/>
          <p:nvPr/>
        </p:nvSpPr>
        <p:spPr>
          <a:xfrm>
            <a:off x="4604502" y="5509394"/>
            <a:ext cx="3713608" cy="1249396"/>
          </a:xfrm>
          <a:prstGeom prst="rect">
            <a:avLst/>
          </a:prstGeom>
          <a:solidFill>
            <a:srgbClr val="FBEFEF"/>
          </a:solidFill>
          <a:ln w="38100" cap="flat">
            <a:solidFill>
              <a:srgbClr val="FBEFEF"/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274320" rIns="91440" bIns="91440" numCol="1" spcCol="38100" rtlCol="0" anchor="t">
            <a:noAutofit/>
          </a:bodyPr>
          <a:lstStyle/>
          <a:p>
            <a:pPr marR="0" lvl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tabLst/>
              <a:defRPr/>
            </a:pPr>
            <a:endParaRPr kumimoji="0" lang="pl-PL" sz="1100" b="0" i="0" u="none" strike="noStrike" kern="1200" cap="none" spc="0" normalizeH="0" baseline="0" noProof="0" dirty="0">
              <a:ln>
                <a:noFill/>
              </a:ln>
              <a:solidFill>
                <a:srgbClr val="696969">
                  <a:lumMod val="50000"/>
                  <a:lumOff val="5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A68BC5-A4D6-C458-AB71-77A86B5EEE9A}"/>
              </a:ext>
            </a:extLst>
          </p:cNvPr>
          <p:cNvSpPr/>
          <p:nvPr/>
        </p:nvSpPr>
        <p:spPr>
          <a:xfrm>
            <a:off x="4604502" y="5259408"/>
            <a:ext cx="3713608" cy="1984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Risks/ Limitation</a:t>
            </a:r>
            <a:endParaRPr kumimoji="0" lang="en-ZA" sz="9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57D77F-675E-8430-6E93-5141B1789A5F}"/>
              </a:ext>
            </a:extLst>
          </p:cNvPr>
          <p:cNvSpPr/>
          <p:nvPr/>
        </p:nvSpPr>
        <p:spPr>
          <a:xfrm>
            <a:off x="8465980" y="5509394"/>
            <a:ext cx="3556297" cy="1249396"/>
          </a:xfrm>
          <a:prstGeom prst="rect">
            <a:avLst/>
          </a:prstGeom>
          <a:solidFill>
            <a:srgbClr val="EFF6F0"/>
          </a:solidFill>
          <a:ln w="381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274320" rIns="91440" bIns="91440" numCol="1" spcCol="38100" rtlCol="0" anchor="t">
            <a:no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l-PL" sz="1100" b="0" i="0" u="none" strike="noStrike" kern="1200" cap="none" spc="0" normalizeH="0" baseline="0" noProof="0" dirty="0">
              <a:ln>
                <a:noFill/>
              </a:ln>
              <a:solidFill>
                <a:srgbClr val="696969">
                  <a:lumMod val="50000"/>
                  <a:lumOff val="5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FD4A18-315F-887D-B207-1134CDF381CE}"/>
              </a:ext>
            </a:extLst>
          </p:cNvPr>
          <p:cNvSpPr/>
          <p:nvPr/>
        </p:nvSpPr>
        <p:spPr>
          <a:xfrm>
            <a:off x="8465980" y="5259408"/>
            <a:ext cx="3556297" cy="1984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Recommendation</a:t>
            </a:r>
            <a:endParaRPr kumimoji="0" lang="pt-BR" sz="9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CCB0C9-58BD-C308-B587-DA81C89E38C0}"/>
              </a:ext>
            </a:extLst>
          </p:cNvPr>
          <p:cNvSpPr/>
          <p:nvPr/>
        </p:nvSpPr>
        <p:spPr>
          <a:xfrm>
            <a:off x="471943" y="2391979"/>
            <a:ext cx="4424521" cy="2833689"/>
          </a:xfrm>
          <a:prstGeom prst="rect">
            <a:avLst/>
          </a:prstGeom>
          <a:solidFill>
            <a:schemeClr val="bg1"/>
          </a:solidFill>
          <a:ln w="381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274320" rIns="91440" bIns="91440" numCol="1" spcCol="38100" rtlCol="0" anchor="t">
            <a:no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l-PL" sz="1100" b="0" i="0" u="none" strike="noStrike" kern="1200" cap="none" spc="0" normalizeH="0" baseline="0" noProof="0" dirty="0">
              <a:ln>
                <a:noFill/>
              </a:ln>
              <a:solidFill>
                <a:srgbClr val="696969">
                  <a:lumMod val="50000"/>
                  <a:lumOff val="5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73C44B-55DB-678D-5527-47CF56D0AB4F}"/>
              </a:ext>
            </a:extLst>
          </p:cNvPr>
          <p:cNvSpPr/>
          <p:nvPr/>
        </p:nvSpPr>
        <p:spPr>
          <a:xfrm>
            <a:off x="499861" y="2141993"/>
            <a:ext cx="4396603" cy="213167"/>
          </a:xfrm>
          <a:prstGeom prst="rect">
            <a:avLst/>
          </a:prstGeom>
          <a:solidFill>
            <a:schemeClr val="accent4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AI Tool Information</a:t>
            </a:r>
            <a:endParaRPr kumimoji="0" lang="en-ZA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F4D131A-706D-BCAE-3F74-A868906AD925}"/>
              </a:ext>
            </a:extLst>
          </p:cNvPr>
          <p:cNvSpPr>
            <a:spLocks noChangeAspect="1"/>
          </p:cNvSpPr>
          <p:nvPr/>
        </p:nvSpPr>
        <p:spPr>
          <a:xfrm>
            <a:off x="370363" y="575951"/>
            <a:ext cx="989623" cy="989623"/>
          </a:xfrm>
          <a:prstGeom prst="ellipse">
            <a:avLst/>
          </a:prstGeom>
          <a:solidFill>
            <a:srgbClr val="4387BD">
              <a:alpha val="30000"/>
            </a:srgbClr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FS Albert Arabic" panose="020B0503040502020804" pitchFamily="34" charset="-78"/>
                <a:sym typeface="Helvetica Neue Medium"/>
              </a:rPr>
              <a:t>--</a:t>
            </a:r>
          </a:p>
        </p:txBody>
      </p:sp>
      <p:sp>
        <p:nvSpPr>
          <p:cNvPr id="91" name="Lorem Ipsum">
            <a:extLst>
              <a:ext uri="{FF2B5EF4-FFF2-40B4-BE49-F238E27FC236}">
                <a16:creationId xmlns:a16="http://schemas.microsoft.com/office/drawing/2014/main" id="{63CA622A-AAAE-FBE3-CDF7-86F5EA322BC4}"/>
              </a:ext>
            </a:extLst>
          </p:cNvPr>
          <p:cNvSpPr txBox="1">
            <a:spLocks/>
          </p:cNvSpPr>
          <p:nvPr/>
        </p:nvSpPr>
        <p:spPr>
          <a:xfrm>
            <a:off x="1585410" y="509798"/>
            <a:ext cx="10396333" cy="514721"/>
          </a:xfrm>
          <a:prstGeom prst="rect">
            <a:avLst/>
          </a:prstGeom>
        </p:spPr>
        <p:txBody>
          <a:bodyPr wrap="square" lIns="0" tIns="45720" rIns="91440" bIns="45720" anchor="b" anchorCtr="0">
            <a:noAutofit/>
          </a:bodyPr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 u="none" strike="noStrike" cap="none" spc="0" baseline="0" dirty="0">
                <a:solidFill>
                  <a:srgbClr val="243780"/>
                </a:solidFill>
                <a:uFillTx/>
                <a:latin typeface="Circular Std Bold" panose="020B0804020101010102" pitchFamily="34" charset="0"/>
                <a:ea typeface="Circular Std Bold" panose="020B0804020101010102" pitchFamily="34" charset="0"/>
                <a:cs typeface="Circular Std Bold" panose="020B0804020101010102" pitchFamily="34" charset="0"/>
                <a:sym typeface="Helvetica Neue"/>
              </a:defRPr>
            </a:lvl1pPr>
            <a:lvl2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FS Albert Arabic" panose="020B0503040502020804" pitchFamily="34" charset="-78"/>
                <a:sym typeface="Helvetica Neue"/>
              </a:rPr>
              <a:t>AI Project/Use Case Template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8E4A182-8912-69B1-8B70-72E768A89F0C}"/>
              </a:ext>
            </a:extLst>
          </p:cNvPr>
          <p:cNvSpPr>
            <a:spLocks/>
          </p:cNvSpPr>
          <p:nvPr/>
        </p:nvSpPr>
        <p:spPr>
          <a:xfrm>
            <a:off x="1607645" y="1003500"/>
            <a:ext cx="10123862" cy="324623"/>
          </a:xfrm>
          <a:prstGeom prst="rect">
            <a:avLst/>
          </a:prstGeom>
        </p:spPr>
        <p:txBody>
          <a:bodyPr wrap="square" lIns="0" tIns="45720" rIns="91440" bIns="45720" anchor="t" anchorCtr="0">
            <a:no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Lato Black" panose="020F0502020204030203" pitchFamily="34" charset="0"/>
                <a:cs typeface="FS Albert Arabic" panose="020B0503040502020804" pitchFamily="34" charset="-78"/>
                <a:sym typeface="Helvetica Neue Medium"/>
              </a:rPr>
              <a:t>Use Case Overview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F9C7C63-C88B-6926-2BB3-FCBA07978867}"/>
              </a:ext>
            </a:extLst>
          </p:cNvPr>
          <p:cNvSpPr>
            <a:spLocks/>
          </p:cNvSpPr>
          <p:nvPr/>
        </p:nvSpPr>
        <p:spPr>
          <a:xfrm>
            <a:off x="1607645" y="1307103"/>
            <a:ext cx="10123862" cy="324623"/>
          </a:xfrm>
          <a:prstGeom prst="rect">
            <a:avLst/>
          </a:prstGeom>
        </p:spPr>
        <p:txBody>
          <a:bodyPr wrap="square" lIns="0" tIns="45720" rIns="91440" bIns="45720" anchor="t" anchorCtr="0">
            <a:no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Lato Black" panose="020F0502020204030203" pitchFamily="34" charset="0"/>
                <a:cs typeface="FS Albert Arabic" panose="020B0503040502020804" pitchFamily="34" charset="-78"/>
                <a:sym typeface="Helvetica Neue Medium"/>
              </a:rPr>
              <a:t>----------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BA618B-FE56-667A-19F1-6CE32D1D491B}"/>
              </a:ext>
            </a:extLst>
          </p:cNvPr>
          <p:cNvSpPr txBox="1"/>
          <p:nvPr/>
        </p:nvSpPr>
        <p:spPr>
          <a:xfrm>
            <a:off x="8480994" y="5680314"/>
            <a:ext cx="3366689" cy="26161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--------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36B217-BABD-944E-5546-244F780C98F7}"/>
              </a:ext>
            </a:extLst>
          </p:cNvPr>
          <p:cNvSpPr/>
          <p:nvPr/>
        </p:nvSpPr>
        <p:spPr>
          <a:xfrm>
            <a:off x="4812225" y="2391980"/>
            <a:ext cx="6811619" cy="1728477"/>
          </a:xfrm>
          <a:prstGeom prst="rect">
            <a:avLst/>
          </a:prstGeom>
          <a:noFill/>
          <a:ln w="381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274320" rIns="91440" bIns="91440" numCol="1" spcCol="38100" rtlCol="0" anchor="t">
            <a:no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l-PL" sz="1100" b="0" i="0" u="none" strike="noStrike" kern="1200" cap="none" spc="0" normalizeH="0" baseline="0" noProof="0">
              <a:ln>
                <a:noFill/>
              </a:ln>
              <a:solidFill>
                <a:srgbClr val="696969">
                  <a:lumMod val="50000"/>
                  <a:lumOff val="5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E6F743-0C8B-2167-D28F-D9E5C2C79C49}"/>
              </a:ext>
            </a:extLst>
          </p:cNvPr>
          <p:cNvSpPr/>
          <p:nvPr/>
        </p:nvSpPr>
        <p:spPr>
          <a:xfrm>
            <a:off x="5002653" y="2141993"/>
            <a:ext cx="6621191" cy="287841"/>
          </a:xfrm>
          <a:prstGeom prst="rect">
            <a:avLst/>
          </a:prstGeom>
          <a:solidFill>
            <a:schemeClr val="accent4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Process Impact</a:t>
            </a:r>
            <a:endParaRPr kumimoji="0" lang="en-ZA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1D338D-9EA8-6A69-8ECB-DC179D72123D}"/>
              </a:ext>
            </a:extLst>
          </p:cNvPr>
          <p:cNvSpPr txBox="1"/>
          <p:nvPr/>
        </p:nvSpPr>
        <p:spPr>
          <a:xfrm>
            <a:off x="5127024" y="2601063"/>
            <a:ext cx="1374055" cy="430887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3D58"/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Manual Process</a:t>
            </a:r>
            <a:r>
              <a:rPr lang="en-US" sz="1100" b="1" dirty="0">
                <a:solidFill>
                  <a:srgbClr val="153D58"/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 Before AI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153D58"/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AB939BA-39DD-C736-6E5D-6FC331F35557}"/>
              </a:ext>
            </a:extLst>
          </p:cNvPr>
          <p:cNvSpPr txBox="1"/>
          <p:nvPr/>
        </p:nvSpPr>
        <p:spPr>
          <a:xfrm>
            <a:off x="2176861" y="2539956"/>
            <a:ext cx="2630205" cy="430887"/>
          </a:xfrm>
          <a:prstGeom prst="rect">
            <a:avLst/>
          </a:prstGeom>
          <a:solidFill>
            <a:srgbClr val="F0F7FC"/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ChatGPT Enterprise/ Copilot/Gemini/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Mendix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 Maia/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etc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…..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ABC6977-510C-FE80-E033-96EDE34EAA80}"/>
              </a:ext>
            </a:extLst>
          </p:cNvPr>
          <p:cNvSpPr txBox="1"/>
          <p:nvPr/>
        </p:nvSpPr>
        <p:spPr>
          <a:xfrm>
            <a:off x="2176861" y="2979341"/>
            <a:ext cx="2630205" cy="430887"/>
          </a:xfrm>
          <a:prstGeom prst="rect">
            <a:avLst/>
          </a:prstGeom>
          <a:solidFill>
            <a:srgbClr val="F0F7FC"/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What is used for ?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F0713DB-E2B6-BDE8-1BA1-E5B5BBD9C553}"/>
              </a:ext>
            </a:extLst>
          </p:cNvPr>
          <p:cNvSpPr txBox="1"/>
          <p:nvPr/>
        </p:nvSpPr>
        <p:spPr>
          <a:xfrm>
            <a:off x="2176861" y="3417756"/>
            <a:ext cx="2630205" cy="430887"/>
          </a:xfrm>
          <a:prstGeom prst="rect">
            <a:avLst/>
          </a:prstGeom>
          <a:solidFill>
            <a:srgbClr val="F0F7FC"/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Yes / No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D9F61DF-5D32-21F3-337C-77E8A6A4D8B9}"/>
              </a:ext>
            </a:extLst>
          </p:cNvPr>
          <p:cNvSpPr txBox="1"/>
          <p:nvPr/>
        </p:nvSpPr>
        <p:spPr>
          <a:xfrm>
            <a:off x="2176861" y="3858152"/>
            <a:ext cx="2630205" cy="430887"/>
          </a:xfrm>
          <a:prstGeom prst="rect">
            <a:avLst/>
          </a:prstGeom>
          <a:solidFill>
            <a:srgbClr val="F0F7FC"/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Free/ Pro / Enterprise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F645731-3048-4E95-9FF8-D167128970C6}"/>
              </a:ext>
            </a:extLst>
          </p:cNvPr>
          <p:cNvSpPr txBox="1"/>
          <p:nvPr/>
        </p:nvSpPr>
        <p:spPr>
          <a:xfrm>
            <a:off x="2169783" y="4299065"/>
            <a:ext cx="2630205" cy="430887"/>
          </a:xfrm>
          <a:prstGeom prst="rect">
            <a:avLst/>
          </a:prstGeom>
          <a:solidFill>
            <a:srgbClr val="F0F7FC"/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AED </a:t>
            </a:r>
            <a:r>
              <a:rPr lang="en-US" sz="1100" dirty="0">
                <a:solidFill>
                  <a:srgbClr val="E8E8E8">
                    <a:lumMod val="10000"/>
                  </a:srgbClr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xxx / month or N/A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9A109B9-80CE-D803-FDB7-6BD6541EBE26}"/>
              </a:ext>
            </a:extLst>
          </p:cNvPr>
          <p:cNvSpPr txBox="1"/>
          <p:nvPr/>
        </p:nvSpPr>
        <p:spPr>
          <a:xfrm>
            <a:off x="2176861" y="4740343"/>
            <a:ext cx="2630205" cy="430887"/>
          </a:xfrm>
          <a:prstGeom prst="rect">
            <a:avLst/>
          </a:prstGeom>
          <a:solidFill>
            <a:srgbClr val="F0F7FC"/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Yes / No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37AF5C2-1860-5BA1-32B0-5FA87493973D}"/>
              </a:ext>
            </a:extLst>
          </p:cNvPr>
          <p:cNvSpPr/>
          <p:nvPr/>
        </p:nvSpPr>
        <p:spPr>
          <a:xfrm>
            <a:off x="576697" y="2544038"/>
            <a:ext cx="1594554" cy="430887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rgbClr val="E8E8E8">
                    <a:lumMod val="10000"/>
                  </a:srgbClr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     AI Tool Used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6A293D3-3542-8C00-9187-CCF2ACC1EA65}"/>
              </a:ext>
            </a:extLst>
          </p:cNvPr>
          <p:cNvSpPr/>
          <p:nvPr/>
        </p:nvSpPr>
        <p:spPr>
          <a:xfrm>
            <a:off x="575231" y="3418210"/>
            <a:ext cx="1594554" cy="430887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825500" hangingPunct="0">
              <a:defRPr/>
            </a:pPr>
            <a:r>
              <a:rPr lang="en-US" sz="1100" dirty="0">
                <a:solidFill>
                  <a:srgbClr val="E8E8E8">
                    <a:lumMod val="10000"/>
                  </a:srgbClr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     Subscription Required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4DCE125-78A4-0F52-7BB6-DA8E147AEE5A}"/>
              </a:ext>
            </a:extLst>
          </p:cNvPr>
          <p:cNvSpPr/>
          <p:nvPr/>
        </p:nvSpPr>
        <p:spPr>
          <a:xfrm>
            <a:off x="575232" y="2978852"/>
            <a:ext cx="1594554" cy="430887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rgbClr val="E8E8E8">
                    <a:lumMod val="10000"/>
                  </a:srgbClr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     Purpose of Tool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BF7E89E-7996-B0C9-E776-02C8034C22D1}"/>
              </a:ext>
            </a:extLst>
          </p:cNvPr>
          <p:cNvSpPr/>
          <p:nvPr/>
        </p:nvSpPr>
        <p:spPr>
          <a:xfrm>
            <a:off x="575231" y="3860565"/>
            <a:ext cx="1594554" cy="430887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825500" hangingPunct="0">
              <a:defRPr/>
            </a:pPr>
            <a:r>
              <a:rPr lang="en-US" sz="1100" dirty="0">
                <a:solidFill>
                  <a:srgbClr val="E8E8E8">
                    <a:lumMod val="10000"/>
                  </a:srgbClr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     Subscription Type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6FCCFB3-8302-A4EB-5214-53FBD471A67A}"/>
              </a:ext>
            </a:extLst>
          </p:cNvPr>
          <p:cNvSpPr/>
          <p:nvPr/>
        </p:nvSpPr>
        <p:spPr>
          <a:xfrm>
            <a:off x="575230" y="4304630"/>
            <a:ext cx="1594554" cy="430887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825500" hangingPunct="0">
              <a:defRPr/>
            </a:pPr>
            <a:r>
              <a:rPr lang="en-US" sz="1100" dirty="0">
                <a:solidFill>
                  <a:srgbClr val="E8E8E8">
                    <a:lumMod val="10000"/>
                  </a:srgbClr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     Estimated Cost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05CDB87-D7F2-FD4C-8650-82DB59DA7EFF}"/>
              </a:ext>
            </a:extLst>
          </p:cNvPr>
          <p:cNvSpPr/>
          <p:nvPr/>
        </p:nvSpPr>
        <p:spPr>
          <a:xfrm>
            <a:off x="572548" y="4743061"/>
            <a:ext cx="1594554" cy="430887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825500" hangingPunct="0">
              <a:defRPr/>
            </a:pPr>
            <a:r>
              <a:rPr lang="en-US" sz="1100" dirty="0">
                <a:solidFill>
                  <a:srgbClr val="E8E8E8">
                    <a:lumMod val="10000"/>
                  </a:srgbClr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     Integration Required</a:t>
            </a:r>
          </a:p>
        </p:txBody>
      </p:sp>
      <p:pic>
        <p:nvPicPr>
          <p:cNvPr id="112" name="Picture 111" descr="The image shows a simple, monochrome representation of a robot, a star icon, a circle, and a dollar sign, arranged in a horizontal sequence.&#10;&#10;AI-generated content may be incorrect.">
            <a:extLst>
              <a:ext uri="{FF2B5EF4-FFF2-40B4-BE49-F238E27FC236}">
                <a16:creationId xmlns:a16="http://schemas.microsoft.com/office/drawing/2014/main" id="{2BEF79C9-9069-7BF9-17CE-DD94C863C1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7" b="84274"/>
          <a:stretch>
            <a:fillRect/>
          </a:stretch>
        </p:blipFill>
        <p:spPr>
          <a:xfrm flipH="1">
            <a:off x="571086" y="2645686"/>
            <a:ext cx="255655" cy="219865"/>
          </a:xfrm>
          <a:prstGeom prst="rect">
            <a:avLst/>
          </a:prstGeom>
        </p:spPr>
      </p:pic>
      <p:pic>
        <p:nvPicPr>
          <p:cNvPr id="115" name="Picture 114" descr="The image shows a simple, monochrome representation of a robot, a star icon, a circle, and a dollar sign, arranged in a horizontal sequence.&#10;&#10;AI-generated content may be incorrect.">
            <a:extLst>
              <a:ext uri="{FF2B5EF4-FFF2-40B4-BE49-F238E27FC236}">
                <a16:creationId xmlns:a16="http://schemas.microsoft.com/office/drawing/2014/main" id="{7BE1993D-D408-083A-B2D7-9499267E47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t="20787" r="-3" b="65757"/>
          <a:stretch>
            <a:fillRect/>
          </a:stretch>
        </p:blipFill>
        <p:spPr>
          <a:xfrm flipH="1">
            <a:off x="568156" y="3100283"/>
            <a:ext cx="244982" cy="207559"/>
          </a:xfrm>
          <a:prstGeom prst="rect">
            <a:avLst/>
          </a:prstGeom>
        </p:spPr>
      </p:pic>
      <p:pic>
        <p:nvPicPr>
          <p:cNvPr id="117" name="Picture 116" descr="The image shows a simple, monochrome representation of a robot, a star icon, a circle, and a dollar sign, arranged in a horizontal sequence.&#10;&#10;AI-generated content may be incorrect.">
            <a:extLst>
              <a:ext uri="{FF2B5EF4-FFF2-40B4-BE49-F238E27FC236}">
                <a16:creationId xmlns:a16="http://schemas.microsoft.com/office/drawing/2014/main" id="{EE6B214E-52FB-008B-9BA8-BFC9240288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5" t="38500" r="18327" b="50127"/>
          <a:stretch>
            <a:fillRect/>
          </a:stretch>
        </p:blipFill>
        <p:spPr>
          <a:xfrm flipH="1">
            <a:off x="605746" y="3540483"/>
            <a:ext cx="207392" cy="202759"/>
          </a:xfrm>
          <a:prstGeom prst="rect">
            <a:avLst/>
          </a:prstGeom>
        </p:spPr>
      </p:pic>
      <p:pic>
        <p:nvPicPr>
          <p:cNvPr id="118" name="Picture 117" descr="The image shows a simple, monochrome representation of a robot, a star icon, a circle, and a dollar sign, arranged in a horizontal sequence.&#10;&#10;AI-generated content may be incorrect.">
            <a:extLst>
              <a:ext uri="{FF2B5EF4-FFF2-40B4-BE49-F238E27FC236}">
                <a16:creationId xmlns:a16="http://schemas.microsoft.com/office/drawing/2014/main" id="{B81D2DF2-C98C-4E76-318B-0D8039119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6" t="53646" r="14675" b="32602"/>
          <a:stretch>
            <a:fillRect/>
          </a:stretch>
        </p:blipFill>
        <p:spPr>
          <a:xfrm flipH="1">
            <a:off x="575229" y="3934350"/>
            <a:ext cx="237883" cy="275047"/>
          </a:xfrm>
          <a:prstGeom prst="rect">
            <a:avLst/>
          </a:prstGeom>
        </p:spPr>
      </p:pic>
      <p:pic>
        <p:nvPicPr>
          <p:cNvPr id="120" name="Picture 119" descr="The image shows a simple, monochrome representation of a robot, a star icon, a circle, and a dollar sign, arranged in a horizontal sequence.&#10;&#10;AI-generated content may be incorrect.">
            <a:extLst>
              <a:ext uri="{FF2B5EF4-FFF2-40B4-BE49-F238E27FC236}">
                <a16:creationId xmlns:a16="http://schemas.microsoft.com/office/drawing/2014/main" id="{86871790-F269-2076-E617-CE5560BA7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8" t="71034" r="18814" b="16848"/>
          <a:stretch>
            <a:fillRect/>
          </a:stretch>
        </p:blipFill>
        <p:spPr>
          <a:xfrm flipH="1">
            <a:off x="600319" y="4394824"/>
            <a:ext cx="224727" cy="242382"/>
          </a:xfrm>
          <a:prstGeom prst="rect">
            <a:avLst/>
          </a:prstGeom>
        </p:spPr>
      </p:pic>
      <p:pic>
        <p:nvPicPr>
          <p:cNvPr id="121" name="Picture 120" descr="The image shows a simple, monochrome representation of a robot, a star icon, a circle, and a dollar sign, arranged in a horizontal sequence.&#10;&#10;AI-generated content may be incorrect.">
            <a:extLst>
              <a:ext uri="{FF2B5EF4-FFF2-40B4-BE49-F238E27FC236}">
                <a16:creationId xmlns:a16="http://schemas.microsoft.com/office/drawing/2014/main" id="{5F35632C-B5DC-9F94-FFC9-82206CA6F0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0" t="88534" r="18814"/>
          <a:stretch>
            <a:fillRect/>
          </a:stretch>
        </p:blipFill>
        <p:spPr>
          <a:xfrm flipH="1">
            <a:off x="600319" y="4838889"/>
            <a:ext cx="230184" cy="229347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A3D54FB8-4CD1-4474-B28B-BDE52A38A485}"/>
              </a:ext>
            </a:extLst>
          </p:cNvPr>
          <p:cNvSpPr txBox="1"/>
          <p:nvPr/>
        </p:nvSpPr>
        <p:spPr>
          <a:xfrm>
            <a:off x="6895841" y="2627054"/>
            <a:ext cx="1233459" cy="26161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3D58"/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Process</a:t>
            </a:r>
            <a:r>
              <a:rPr lang="en-US" sz="1100" b="1" dirty="0">
                <a:solidFill>
                  <a:srgbClr val="153D58"/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 Before AI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153D58"/>
              </a:solidFill>
              <a:effectLst/>
              <a:uLnTx/>
              <a:uFillTx/>
              <a:latin typeface="Aptos Display" panose="02110004020202020204"/>
              <a:ea typeface="Lato" panose="020F0502020204030203" pitchFamily="34" charset="0"/>
              <a:cs typeface="DIN Next LT Arabic" panose="020B0503020203050203" pitchFamily="34" charset="-78"/>
              <a:sym typeface="Helvetica Neue Medium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FF886C4-1AA9-1BB9-7E69-4DF419C8C6AF}"/>
              </a:ext>
            </a:extLst>
          </p:cNvPr>
          <p:cNvCxnSpPr>
            <a:cxnSpLocks/>
          </p:cNvCxnSpPr>
          <p:nvPr/>
        </p:nvCxnSpPr>
        <p:spPr>
          <a:xfrm>
            <a:off x="6619065" y="2698784"/>
            <a:ext cx="0" cy="184942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6" name="Picture 125" descr="The diagram depicts a circular flowchart with a clock icon and a percentage increase, illustrating a process or progression over time.&#10;&#10;AI-generated content may be incorrect.">
            <a:extLst>
              <a:ext uri="{FF2B5EF4-FFF2-40B4-BE49-F238E27FC236}">
                <a16:creationId xmlns:a16="http://schemas.microsoft.com/office/drawing/2014/main" id="{10598265-71E3-2F8C-CF9C-3FC25F7497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" t="7033" r="83840" b="4189"/>
          <a:stretch>
            <a:fillRect/>
          </a:stretch>
        </p:blipFill>
        <p:spPr>
          <a:xfrm>
            <a:off x="5484956" y="3213302"/>
            <a:ext cx="642567" cy="63367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1F702B77-3F30-77A2-1934-26629EC17D8C}"/>
              </a:ext>
            </a:extLst>
          </p:cNvPr>
          <p:cNvSpPr/>
          <p:nvPr/>
        </p:nvSpPr>
        <p:spPr>
          <a:xfrm>
            <a:off x="5287115" y="4161481"/>
            <a:ext cx="1087129" cy="287841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53D58"/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</a:rPr>
              <a:t>xxx hours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0681EA9-6D03-B830-50D8-6C198B560384}"/>
              </a:ext>
            </a:extLst>
          </p:cNvPr>
          <p:cNvSpPr/>
          <p:nvPr/>
        </p:nvSpPr>
        <p:spPr>
          <a:xfrm>
            <a:off x="6921808" y="4161480"/>
            <a:ext cx="1087129" cy="287841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53D58"/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</a:rPr>
              <a:t>xxx</a:t>
            </a:r>
            <a:r>
              <a:rPr lang="en-US" b="1" dirty="0">
                <a:solidFill>
                  <a:srgbClr val="153D58"/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</a:rPr>
              <a:t> </a:t>
            </a:r>
            <a:r>
              <a:rPr lang="en-US" sz="1100" b="1" dirty="0">
                <a:solidFill>
                  <a:srgbClr val="153D58"/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</a:rPr>
              <a:t>minutes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F4C571C9-D328-F578-955F-950A1F23062A}"/>
              </a:ext>
            </a:extLst>
          </p:cNvPr>
          <p:cNvSpPr/>
          <p:nvPr/>
        </p:nvSpPr>
        <p:spPr>
          <a:xfrm>
            <a:off x="8678349" y="4161480"/>
            <a:ext cx="1087129" cy="287841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53D58"/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</a:rPr>
              <a:t>xx%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880D60F-3664-1E3D-9426-6F6C8769B5F9}"/>
              </a:ext>
            </a:extLst>
          </p:cNvPr>
          <p:cNvSpPr/>
          <p:nvPr/>
        </p:nvSpPr>
        <p:spPr>
          <a:xfrm>
            <a:off x="10348907" y="4171613"/>
            <a:ext cx="1087129" cy="287841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53D58"/>
                </a:solidFill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</a:rPr>
              <a:t>xx users</a:t>
            </a:r>
          </a:p>
        </p:txBody>
      </p:sp>
      <p:pic>
        <p:nvPicPr>
          <p:cNvPr id="134" name="Picture 133" descr="The diagram depicts a circular flowchart with a clock icon and a percentage increase, illustrating a process or progression over time.&#10;&#10;AI-generated content may be incorrect.">
            <a:extLst>
              <a:ext uri="{FF2B5EF4-FFF2-40B4-BE49-F238E27FC236}">
                <a16:creationId xmlns:a16="http://schemas.microsoft.com/office/drawing/2014/main" id="{F02B4125-E9A3-63B2-24BF-9E7E75F199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6" t="7421" r="57647" b="5373"/>
          <a:stretch>
            <a:fillRect/>
          </a:stretch>
        </p:blipFill>
        <p:spPr>
          <a:xfrm>
            <a:off x="7129715" y="3198684"/>
            <a:ext cx="617903" cy="588256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A7C6C9A5-E268-FA5D-F8C0-9B6F4E9402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52" t="4829" r="30941" b="1"/>
          <a:stretch>
            <a:fillRect/>
          </a:stretch>
        </p:blipFill>
        <p:spPr>
          <a:xfrm>
            <a:off x="8867276" y="3170510"/>
            <a:ext cx="558484" cy="605123"/>
          </a:xfrm>
          <a:prstGeom prst="rect">
            <a:avLst/>
          </a:prstGeom>
        </p:spPr>
      </p:pic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0EF47845-F8FF-048D-6AB0-965EE5EFD02C}"/>
              </a:ext>
            </a:extLst>
          </p:cNvPr>
          <p:cNvCxnSpPr>
            <a:cxnSpLocks/>
          </p:cNvCxnSpPr>
          <p:nvPr/>
        </p:nvCxnSpPr>
        <p:spPr>
          <a:xfrm>
            <a:off x="8358391" y="2698784"/>
            <a:ext cx="0" cy="184942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Picture 136">
            <a:extLst>
              <a:ext uri="{FF2B5EF4-FFF2-40B4-BE49-F238E27FC236}">
                <a16:creationId xmlns:a16="http://schemas.microsoft.com/office/drawing/2014/main" id="{A92FEE27-266E-2337-4AE7-CA553FC087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99" t="5180" r="3748"/>
          <a:stretch>
            <a:fillRect/>
          </a:stretch>
        </p:blipFill>
        <p:spPr>
          <a:xfrm>
            <a:off x="10578385" y="3157135"/>
            <a:ext cx="632158" cy="629805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27DA3FAC-7206-144D-27BE-80CD76958B29}"/>
              </a:ext>
            </a:extLst>
          </p:cNvPr>
          <p:cNvSpPr txBox="1"/>
          <p:nvPr/>
        </p:nvSpPr>
        <p:spPr>
          <a:xfrm>
            <a:off x="8529789" y="2646048"/>
            <a:ext cx="1233459" cy="26161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3D58"/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Time Saved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D62D52C-D9BB-6507-EE96-647FA8107111}"/>
              </a:ext>
            </a:extLst>
          </p:cNvPr>
          <p:cNvCxnSpPr>
            <a:cxnSpLocks/>
          </p:cNvCxnSpPr>
          <p:nvPr/>
        </p:nvCxnSpPr>
        <p:spPr>
          <a:xfrm>
            <a:off x="10026925" y="2698784"/>
            <a:ext cx="0" cy="190861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A2CF9C71-1483-502C-CBE6-C1B2ED2E7D9C}"/>
              </a:ext>
            </a:extLst>
          </p:cNvPr>
          <p:cNvSpPr txBox="1"/>
          <p:nvPr/>
        </p:nvSpPr>
        <p:spPr>
          <a:xfrm>
            <a:off x="10226359" y="2627054"/>
            <a:ext cx="1233459" cy="26161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3D58"/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Expected Users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FDF9A3-BAED-EBEE-306C-75B530D6099E}"/>
              </a:ext>
            </a:extLst>
          </p:cNvPr>
          <p:cNvSpPr txBox="1"/>
          <p:nvPr/>
        </p:nvSpPr>
        <p:spPr>
          <a:xfrm>
            <a:off x="4674698" y="5680314"/>
            <a:ext cx="3366689" cy="26161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1450" marR="0" lvl="0" indent="-17145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Aptos Display" panose="02110004020202020204"/>
                <a:ea typeface="Lato" panose="020F0502020204030203" pitchFamily="34" charset="0"/>
                <a:cs typeface="DIN Next LT Arabic" panose="020B0503020203050203" pitchFamily="34" charset="-78"/>
                <a:sym typeface="Helvetica Neue Medium"/>
              </a:rPr>
              <a:t>--------</a:t>
            </a:r>
          </a:p>
        </p:txBody>
      </p:sp>
    </p:spTree>
    <p:extLst>
      <p:ext uri="{BB962C8B-B14F-4D97-AF65-F5344CB8AC3E}">
        <p14:creationId xmlns:p14="http://schemas.microsoft.com/office/powerpoint/2010/main" val="196554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185</Words>
  <Application>Microsoft Office PowerPoint</Application>
  <PresentationFormat>Widescreen</PresentationFormat>
  <Paragraphs>80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 Majed AlAbbar</dc:creator>
  <cp:lastModifiedBy>Safaa Abdel Hamid Soliman</cp:lastModifiedBy>
  <cp:revision>40</cp:revision>
  <dcterms:created xsi:type="dcterms:W3CDTF">2026-04-07T09:52:47Z</dcterms:created>
  <dcterms:modified xsi:type="dcterms:W3CDTF">2026-07-15T19:13:28Z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427607-ff6b-482e-86cf-85fc569e58cd_Enabled">
    <vt:lpwstr>true</vt:lpwstr>
  </property>
  <property fmtid="{D5CDD505-2E9C-101B-9397-08002B2CF9AE}" pid="3" name="MSIP_Label_bd427607-ff6b-482e-86cf-85fc569e58cd_SetDate">
    <vt:lpwstr>2026-04-07T09:53:14Z</vt:lpwstr>
  </property>
  <property fmtid="{D5CDD505-2E9C-101B-9397-08002B2CF9AE}" pid="4" name="MSIP_Label_bd427607-ff6b-482e-86cf-85fc569e58cd_Method">
    <vt:lpwstr>Standard</vt:lpwstr>
  </property>
  <property fmtid="{D5CDD505-2E9C-101B-9397-08002B2CF9AE}" pid="5" name="MSIP_Label_bd427607-ff6b-482e-86cf-85fc569e58cd_Name">
    <vt:lpwstr>Dubai Health-Confidential</vt:lpwstr>
  </property>
  <property fmtid="{D5CDD505-2E9C-101B-9397-08002B2CF9AE}" pid="6" name="MSIP_Label_bd427607-ff6b-482e-86cf-85fc569e58cd_SiteId">
    <vt:lpwstr>2498e482-d486-4e8f-a0d8-bd97124de46e</vt:lpwstr>
  </property>
  <property fmtid="{D5CDD505-2E9C-101B-9397-08002B2CF9AE}" pid="7" name="MSIP_Label_bd427607-ff6b-482e-86cf-85fc569e58cd_ActionId">
    <vt:lpwstr>85906c42-e3d6-4788-972e-bd5dc4e39a03</vt:lpwstr>
  </property>
  <property fmtid="{D5CDD505-2E9C-101B-9397-08002B2CF9AE}" pid="8" name="MSIP_Label_bd427607-ff6b-482e-86cf-85fc569e58cd_ContentBits">
    <vt:lpwstr>2</vt:lpwstr>
  </property>
  <property fmtid="{D5CDD505-2E9C-101B-9397-08002B2CF9AE}" pid="9" name="MSIP_Label_bd427607-ff6b-482e-86cf-85fc569e58cd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Dubai Health  - Internal Use </vt:lpwstr>
  </property>
</Properties>
</file>