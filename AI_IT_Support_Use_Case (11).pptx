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Lst>
  <p:notesMasterIdLst>
    <p:notesMasterId r:id="rId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notesMaster" Target="notesMasters/notesMaster1.xml"/><Relationship Id="rId5" Type="http://schemas.openxmlformats.org/officeDocument/2006/relationships/presProps" Target="presProps.xml"/><Relationship Id="rId6" Type="http://schemas.openxmlformats.org/officeDocument/2006/relationships/viewProps" Target="viewProps.xml"/><Relationship Id="rId7" Type="http://schemas.openxmlformats.org/officeDocument/2006/relationships/theme" Target="theme/theme1.xml"/><Relationship Id="rId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1234440"/>
          </a:xfrm>
          <a:prstGeom prst="rect">
            <a:avLst/>
          </a:prstGeom>
          <a:solidFill>
            <a:srgbClr val="1E2761"/>
          </a:solidFill>
          <a:ln/>
        </p:spPr>
      </p:sp>
      <p:sp>
        <p:nvSpPr>
          <p:cNvPr id="3" name="Shape 1"/>
          <p:cNvSpPr/>
          <p:nvPr/>
        </p:nvSpPr>
        <p:spPr>
          <a:xfrm>
            <a:off x="10607040" y="-365760"/>
            <a:ext cx="2011680" cy="2011680"/>
          </a:xfrm>
          <a:prstGeom prst="ellipse">
            <a:avLst/>
          </a:prstGeom>
          <a:solidFill>
            <a:srgbClr val="3B6EA5">
              <a:alpha val="18000"/>
            </a:srgbClr>
          </a:solidFill>
          <a:ln/>
        </p:spPr>
      </p:sp>
      <p:sp>
        <p:nvSpPr>
          <p:cNvPr id="4" name="Shape 2"/>
          <p:cNvSpPr/>
          <p:nvPr/>
        </p:nvSpPr>
        <p:spPr>
          <a:xfrm>
            <a:off x="11521440" y="640080"/>
            <a:ext cx="1005840" cy="1005840"/>
          </a:xfrm>
          <a:prstGeom prst="ellipse">
            <a:avLst/>
          </a:prstGeom>
          <a:solidFill>
            <a:srgbClr val="3B6EA5">
              <a:alpha val="18000"/>
            </a:srgbClr>
          </a:solidFill>
          <a:ln/>
        </p:spPr>
      </p:sp>
      <p:sp>
        <p:nvSpPr>
          <p:cNvPr id="5" name="Shape 3"/>
          <p:cNvSpPr/>
          <p:nvPr/>
        </p:nvSpPr>
        <p:spPr>
          <a:xfrm>
            <a:off x="9784080" y="822960"/>
            <a:ext cx="457200" cy="457200"/>
          </a:xfrm>
          <a:prstGeom prst="ellipse">
            <a:avLst/>
          </a:prstGeom>
          <a:solidFill>
            <a:srgbClr val="3B6EA5">
              <a:alpha val="18000"/>
            </a:srgbClr>
          </a:solidFill>
          <a:ln/>
        </p:spPr>
      </p:sp>
      <p:sp>
        <p:nvSpPr>
          <p:cNvPr id="6" name="Shape 4"/>
          <p:cNvSpPr/>
          <p:nvPr/>
        </p:nvSpPr>
        <p:spPr>
          <a:xfrm>
            <a:off x="274320" y="594360"/>
            <a:ext cx="822960" cy="822960"/>
          </a:xfrm>
          <a:prstGeom prst="ellipse">
            <a:avLst/>
          </a:prstGeom>
          <a:solidFill>
            <a:srgbClr val="3B6EA5">
              <a:alpha val="18000"/>
            </a:srgbClr>
          </a:solidFill>
          <a:ln/>
        </p:spPr>
      </p:sp>
      <p:sp>
        <p:nvSpPr>
          <p:cNvPr id="7" name="Shape 5"/>
          <p:cNvSpPr/>
          <p:nvPr/>
        </p:nvSpPr>
        <p:spPr>
          <a:xfrm>
            <a:off x="8503920" y="182880"/>
            <a:ext cx="320040" cy="320040"/>
          </a:xfrm>
          <a:prstGeom prst="ellipse">
            <a:avLst/>
          </a:prstGeom>
          <a:solidFill>
            <a:srgbClr val="3B6EA5">
              <a:alpha val="18000"/>
            </a:srgbClr>
          </a:solidFill>
          <a:ln/>
        </p:spPr>
      </p:sp>
      <p:sp>
        <p:nvSpPr>
          <p:cNvPr id="8" name="Shape 6"/>
          <p:cNvSpPr/>
          <p:nvPr/>
        </p:nvSpPr>
        <p:spPr>
          <a:xfrm>
            <a:off x="10881360" y="1005840"/>
            <a:ext cx="274320" cy="274320"/>
          </a:xfrm>
          <a:prstGeom prst="ellipse">
            <a:avLst/>
          </a:prstGeom>
          <a:solidFill>
            <a:srgbClr val="3B6EA5">
              <a:alpha val="18000"/>
            </a:srgbClr>
          </a:solidFill>
          <a:ln/>
        </p:spPr>
      </p:sp>
      <p:sp>
        <p:nvSpPr>
          <p:cNvPr id="9" name="Text 7"/>
          <p:cNvSpPr/>
          <p:nvPr/>
        </p:nvSpPr>
        <p:spPr>
          <a:xfrm>
            <a:off x="457200" y="146304"/>
            <a:ext cx="10789920" cy="566928"/>
          </a:xfrm>
          <a:prstGeom prst="rect">
            <a:avLst/>
          </a:prstGeom>
          <a:noFill/>
          <a:ln/>
        </p:spPr>
        <p:txBody>
          <a:bodyPr wrap="square" lIns="0" tIns="0" rIns="0" bIns="0" rtlCol="0" anchor="ctr"/>
          <a:lstStyle/>
          <a:p>
            <a:pPr algn="l" indent="0" marL="0">
              <a:buNone/>
            </a:pPr>
            <a:r>
              <a:rPr lang="en-US" sz="2600" b="1" dirty="0">
                <a:solidFill>
                  <a:srgbClr val="FFFFFF"/>
                </a:solidFill>
                <a:latin typeface="Cambria" pitchFamily="34" charset="0"/>
                <a:ea typeface="Cambria" pitchFamily="34" charset="-122"/>
                <a:cs typeface="Cambria" pitchFamily="34" charset="-120"/>
              </a:rPr>
              <a:t>AI-Powered IT Support Request Automation</a:t>
            </a:r>
            <a:endParaRPr lang="en-US" sz="2600" dirty="0"/>
          </a:p>
        </p:txBody>
      </p:sp>
      <p:sp>
        <p:nvSpPr>
          <p:cNvPr id="10" name="Text 8"/>
          <p:cNvSpPr/>
          <p:nvPr/>
        </p:nvSpPr>
        <p:spPr>
          <a:xfrm>
            <a:off x="457200" y="621792"/>
            <a:ext cx="7315200" cy="274320"/>
          </a:xfrm>
          <a:prstGeom prst="rect">
            <a:avLst/>
          </a:prstGeom>
          <a:noFill/>
          <a:ln/>
        </p:spPr>
        <p:txBody>
          <a:bodyPr wrap="square" lIns="0" tIns="0" rIns="0" bIns="0" rtlCol="0" anchor="ctr"/>
          <a:lstStyle/>
          <a:p>
            <a:pPr indent="0" marL="0">
              <a:buNone/>
            </a:pPr>
            <a:r>
              <a:rPr lang="en-US" sz="1300" b="1" dirty="0">
                <a:solidFill>
                  <a:srgbClr val="CADCFC"/>
                </a:solidFill>
                <a:latin typeface="Calibri" pitchFamily="34" charset="0"/>
                <a:ea typeface="Calibri" pitchFamily="34" charset="-122"/>
                <a:cs typeface="Calibri" pitchFamily="34" charset="-120"/>
              </a:rPr>
              <a:t>Use Case Overview</a:t>
            </a:r>
            <a:endParaRPr lang="en-US" sz="1300" dirty="0"/>
          </a:p>
        </p:txBody>
      </p:sp>
      <p:sp>
        <p:nvSpPr>
          <p:cNvPr id="11" name="Text 9"/>
          <p:cNvSpPr/>
          <p:nvPr/>
        </p:nvSpPr>
        <p:spPr>
          <a:xfrm>
            <a:off x="457200" y="868680"/>
            <a:ext cx="10607040" cy="320040"/>
          </a:xfrm>
          <a:prstGeom prst="rect">
            <a:avLst/>
          </a:prstGeom>
          <a:noFill/>
          <a:ln/>
        </p:spPr>
        <p:txBody>
          <a:bodyPr wrap="square" lIns="0" tIns="0" rIns="0" bIns="0" rtlCol="0" anchor="ctr"/>
          <a:lstStyle/>
          <a:p>
            <a:pPr indent="0" marL="0">
              <a:buNone/>
            </a:pPr>
            <a:r>
              <a:rPr lang="en-US" sz="1050" i="1" dirty="0">
                <a:solidFill>
                  <a:srgbClr val="CADCFC"/>
                </a:solidFill>
                <a:latin typeface="Calibri" pitchFamily="34" charset="0"/>
                <a:ea typeface="Calibri" pitchFamily="34" charset="-122"/>
                <a:cs typeface="Calibri" pitchFamily="34" charset="-120"/>
              </a:rPr>
              <a:t>Intelligent analysis, validation, routing, and automation of IT support requests using AI and workflow orchestration.</a:t>
            </a:r>
            <a:endParaRPr lang="en-US" sz="1050" dirty="0"/>
          </a:p>
        </p:txBody>
      </p:sp>
      <p:sp>
        <p:nvSpPr>
          <p:cNvPr id="12" name="Shape 10"/>
          <p:cNvSpPr/>
          <p:nvPr/>
        </p:nvSpPr>
        <p:spPr>
          <a:xfrm>
            <a:off x="365760" y="1344168"/>
            <a:ext cx="8001000" cy="292608"/>
          </a:xfrm>
          <a:prstGeom prst="rect">
            <a:avLst/>
          </a:prstGeom>
          <a:solidFill>
            <a:srgbClr val="26325E"/>
          </a:solidFill>
          <a:ln/>
        </p:spPr>
      </p:sp>
      <p:sp>
        <p:nvSpPr>
          <p:cNvPr id="13" name="Text 11"/>
          <p:cNvSpPr/>
          <p:nvPr/>
        </p:nvSpPr>
        <p:spPr>
          <a:xfrm>
            <a:off x="457200" y="1344168"/>
            <a:ext cx="7818120" cy="292608"/>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Problem Statement</a:t>
            </a:r>
            <a:endParaRPr lang="en-US" sz="1250" dirty="0"/>
          </a:p>
        </p:txBody>
      </p:sp>
      <p:sp>
        <p:nvSpPr>
          <p:cNvPr id="14" name="Shape 12"/>
          <p:cNvSpPr/>
          <p:nvPr/>
        </p:nvSpPr>
        <p:spPr>
          <a:xfrm>
            <a:off x="365760" y="1636776"/>
            <a:ext cx="8001000" cy="1124712"/>
          </a:xfrm>
          <a:prstGeom prst="rect">
            <a:avLst/>
          </a:prstGeom>
          <a:solidFill>
            <a:srgbClr val="F7F9FC"/>
          </a:solidFill>
          <a:ln w="9525">
            <a:solidFill>
              <a:srgbClr val="D7DEE9"/>
            </a:solidFill>
            <a:prstDash val="solid"/>
          </a:ln>
        </p:spPr>
      </p:sp>
      <p:sp>
        <p:nvSpPr>
          <p:cNvPr id="15" name="Text 13"/>
          <p:cNvSpPr/>
          <p:nvPr/>
        </p:nvSpPr>
        <p:spPr>
          <a:xfrm>
            <a:off x="530352" y="1691640"/>
            <a:ext cx="7671816" cy="996696"/>
          </a:xfrm>
          <a:prstGeom prst="rect">
            <a:avLst/>
          </a:prstGeom>
          <a:noFill/>
          <a:ln/>
        </p:spPr>
        <p:txBody>
          <a:bodyPr wrap="square" lIns="0" tIns="0" rIns="0" bIns="0" rtlCol="0" anchor="t"/>
          <a:lstStyle/>
          <a:p>
            <a:pPr indent="0" marL="0">
              <a:lnSpc>
                <a:spcPct val="100000"/>
              </a:lnSpc>
              <a:buNone/>
            </a:pPr>
            <a:r>
              <a:rPr lang="en-US" sz="860" dirty="0">
                <a:solidFill>
                  <a:srgbClr val="3A3F55"/>
                </a:solidFill>
                <a:latin typeface="Calibri" pitchFamily="34" charset="0"/>
                <a:ea typeface="Calibri" pitchFamily="34" charset="-122"/>
                <a:cs typeface="Calibri" pitchFamily="34" charset="-120"/>
              </a:rPr>
              <a:t>IT support teams spend significant time manually reading unstructured emails, understanding intent, extracting details, checking existing configurations, and preparing technical instructions before creating tickets and coordinating with other teams.
</a:t>
            </a:r>
            <a:endParaRPr lang="en-US" sz="860" dirty="0"/>
          </a:p>
          <a:p>
            <a:pPr indent="0" marL="0">
              <a:lnSpc>
                <a:spcPct val="100000"/>
              </a:lnSpc>
              <a:buNone/>
            </a:pPr>
            <a:r>
              <a:rPr lang="en-US" sz="860" dirty="0">
                <a:solidFill>
                  <a:srgbClr val="3A3F55"/>
                </a:solidFill>
                <a:latin typeface="Calibri" pitchFamily="34" charset="0"/>
                <a:ea typeface="Calibri" pitchFamily="34" charset="-122"/>
                <a:cs typeface="Calibri" pitchFamily="34" charset="-120"/>
              </a:rPr>
              <a:t>This manual process increases resolution time, creates repetitive workloads, and can lead to inconsistent handling and data entry errors.
</a:t>
            </a:r>
            <a:endParaRPr lang="en-US" sz="860" dirty="0"/>
          </a:p>
          <a:p>
            <a:pPr indent="0" marL="0">
              <a:lnSpc>
                <a:spcPct val="100000"/>
              </a:lnSpc>
              <a:buNone/>
            </a:pPr>
            <a:r>
              <a:rPr lang="en-US" sz="860" dirty="0">
                <a:solidFill>
                  <a:srgbClr val="3A3F55"/>
                </a:solidFill>
                <a:latin typeface="Calibri" pitchFamily="34" charset="0"/>
                <a:ea typeface="Calibri" pitchFamily="34" charset="-122"/>
                <a:cs typeface="Calibri" pitchFamily="34" charset="-120"/>
              </a:rPr>
              <a:t>Generative AI acts as an intelligent first layer of support by understanding unstructured requests, extracting relevant information, and converting it into structured data. Deterministic workflow logic then validates the AI-generated output against trusted enterprise data and controls subsequent actions, while human experts remain in control of sensitive decisions.</a:t>
            </a:r>
            <a:endParaRPr lang="en-US" sz="860" dirty="0"/>
          </a:p>
        </p:txBody>
      </p:sp>
      <p:sp>
        <p:nvSpPr>
          <p:cNvPr id="16" name="Shape 14"/>
          <p:cNvSpPr/>
          <p:nvPr/>
        </p:nvSpPr>
        <p:spPr>
          <a:xfrm>
            <a:off x="365760" y="2852928"/>
            <a:ext cx="3909060" cy="292608"/>
          </a:xfrm>
          <a:prstGeom prst="rect">
            <a:avLst/>
          </a:prstGeom>
          <a:solidFill>
            <a:srgbClr val="26325E"/>
          </a:solidFill>
          <a:ln/>
        </p:spPr>
      </p:sp>
      <p:sp>
        <p:nvSpPr>
          <p:cNvPr id="17" name="Text 15"/>
          <p:cNvSpPr/>
          <p:nvPr/>
        </p:nvSpPr>
        <p:spPr>
          <a:xfrm>
            <a:off x="457200" y="2852928"/>
            <a:ext cx="3726180" cy="292608"/>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Expected Benefit</a:t>
            </a:r>
            <a:endParaRPr lang="en-US" sz="1250" dirty="0"/>
          </a:p>
        </p:txBody>
      </p:sp>
      <p:sp>
        <p:nvSpPr>
          <p:cNvPr id="18" name="Shape 16"/>
          <p:cNvSpPr/>
          <p:nvPr/>
        </p:nvSpPr>
        <p:spPr>
          <a:xfrm>
            <a:off x="365760" y="3145536"/>
            <a:ext cx="3909060" cy="1810512"/>
          </a:xfrm>
          <a:prstGeom prst="rect">
            <a:avLst/>
          </a:prstGeom>
          <a:solidFill>
            <a:srgbClr val="F7F9FC"/>
          </a:solidFill>
          <a:ln w="9525">
            <a:solidFill>
              <a:srgbClr val="D7DEE9"/>
            </a:solidFill>
            <a:prstDash val="solid"/>
          </a:ln>
        </p:spPr>
      </p:sp>
      <p:sp>
        <p:nvSpPr>
          <p:cNvPr id="19" name="Text 17"/>
          <p:cNvSpPr/>
          <p:nvPr/>
        </p:nvSpPr>
        <p:spPr>
          <a:xfrm>
            <a:off x="530352" y="3218688"/>
            <a:ext cx="3598164" cy="1627632"/>
          </a:xfrm>
          <a:prstGeom prst="rect">
            <a:avLst/>
          </a:prstGeom>
          <a:noFill/>
          <a:ln/>
        </p:spPr>
        <p:txBody>
          <a:bodyPr wrap="square" lIns="0" tIns="0" rIns="0" bIns="0" rtlCol="0" anchor="t"/>
          <a:lstStyle/>
          <a:p>
            <a:pPr marL="127000" indent="-127000">
              <a:spcAft>
                <a:spcPts val="320"/>
              </a:spcAft>
              <a:buSzPct val="100000"/>
              <a:buChar char="●"/>
            </a:pPr>
            <a:r>
              <a:rPr lang="en-US" sz="800" dirty="0">
                <a:solidFill>
                  <a:srgbClr val="3A3F55"/>
                </a:solidFill>
                <a:latin typeface="Calibri" pitchFamily="34" charset="0"/>
                <a:ea typeface="Calibri" pitchFamily="34" charset="-122"/>
                <a:cs typeface="Calibri" pitchFamily="34" charset="-120"/>
              </a:rPr>
              <a:t>Reduces time spent reading and interpreting repetitive support requests</a:t>
            </a:r>
            <a:endParaRPr lang="en-US" sz="800" dirty="0"/>
          </a:p>
          <a:p>
            <a:pPr marL="127000" indent="-127000">
              <a:spcAft>
                <a:spcPts val="320"/>
              </a:spcAft>
              <a:buSzPct val="100000"/>
              <a:buChar char="●"/>
            </a:pPr>
            <a:r>
              <a:rPr lang="en-US" sz="800" dirty="0">
                <a:solidFill>
                  <a:srgbClr val="3A3F55"/>
                </a:solidFill>
                <a:latin typeface="Calibri" pitchFamily="34" charset="0"/>
                <a:ea typeface="Calibri" pitchFamily="34" charset="-122"/>
                <a:cs typeface="Calibri" pitchFamily="34" charset="-120"/>
              </a:rPr>
              <a:t>Automatically extracts and structures information from unstructured emails</a:t>
            </a:r>
            <a:endParaRPr lang="en-US" sz="800" dirty="0"/>
          </a:p>
          <a:p>
            <a:pPr marL="127000" indent="-127000">
              <a:spcAft>
                <a:spcPts val="320"/>
              </a:spcAft>
              <a:buSzPct val="100000"/>
              <a:buChar char="●"/>
            </a:pPr>
            <a:r>
              <a:rPr lang="en-US" sz="800" dirty="0">
                <a:solidFill>
                  <a:srgbClr val="3A3F55"/>
                </a:solidFill>
                <a:latin typeface="Calibri" pitchFamily="34" charset="0"/>
                <a:ea typeface="Calibri" pitchFamily="34" charset="-122"/>
                <a:cs typeface="Calibri" pitchFamily="34" charset="-120"/>
              </a:rPr>
              <a:t>Classifies request types and identifies required actions consistently</a:t>
            </a:r>
            <a:endParaRPr lang="en-US" sz="800" dirty="0"/>
          </a:p>
          <a:p>
            <a:pPr marL="127000" indent="-127000">
              <a:spcAft>
                <a:spcPts val="320"/>
              </a:spcAft>
              <a:buSzPct val="100000"/>
              <a:buChar char="●"/>
            </a:pPr>
            <a:r>
              <a:rPr lang="en-US" sz="800" dirty="0">
                <a:solidFill>
                  <a:srgbClr val="3A3F55"/>
                </a:solidFill>
                <a:latin typeface="Calibri" pitchFamily="34" charset="0"/>
                <a:ea typeface="Calibri" pitchFamily="34" charset="-122"/>
                <a:cs typeface="Calibri" pitchFamily="34" charset="-120"/>
              </a:rPr>
              <a:t>Supports validation against trusted enterprise data</a:t>
            </a:r>
            <a:endParaRPr lang="en-US" sz="800" dirty="0"/>
          </a:p>
          <a:p>
            <a:pPr marL="127000" indent="-127000">
              <a:spcAft>
                <a:spcPts val="320"/>
              </a:spcAft>
              <a:buSzPct val="100000"/>
              <a:buChar char="●"/>
            </a:pPr>
            <a:r>
              <a:rPr lang="en-US" sz="800" dirty="0">
                <a:solidFill>
                  <a:srgbClr val="3A3F55"/>
                </a:solidFill>
                <a:latin typeface="Calibri" pitchFamily="34" charset="0"/>
                <a:ea typeface="Calibri" pitchFamily="34" charset="-122"/>
                <a:cs typeface="Calibri" pitchFamily="34" charset="-120"/>
              </a:rPr>
              <a:t>Reduces manual data entry and operational errors</a:t>
            </a:r>
            <a:endParaRPr lang="en-US" sz="800" dirty="0"/>
          </a:p>
          <a:p>
            <a:pPr marL="127000" indent="-127000">
              <a:spcAft>
                <a:spcPts val="320"/>
              </a:spcAft>
              <a:buSzPct val="100000"/>
              <a:buChar char="●"/>
            </a:pPr>
            <a:r>
              <a:rPr lang="en-US" sz="800" dirty="0">
                <a:solidFill>
                  <a:srgbClr val="3A3F55"/>
                </a:solidFill>
                <a:latin typeface="Calibri" pitchFamily="34" charset="0"/>
                <a:ea typeface="Calibri" pitchFamily="34" charset="-122"/>
                <a:cs typeface="Calibri" pitchFamily="34" charset="-120"/>
              </a:rPr>
              <a:t>Accelerates request routing, ticket creation, and team coordination</a:t>
            </a:r>
            <a:endParaRPr lang="en-US" sz="800" dirty="0"/>
          </a:p>
          <a:p>
            <a:pPr marL="127000" indent="-127000">
              <a:spcAft>
                <a:spcPts val="320"/>
              </a:spcAft>
              <a:buSzPct val="100000"/>
              <a:buChar char="●"/>
            </a:pPr>
            <a:r>
              <a:rPr lang="en-US" sz="800" dirty="0">
                <a:solidFill>
                  <a:srgbClr val="3A3F55"/>
                </a:solidFill>
                <a:latin typeface="Calibri" pitchFamily="34" charset="0"/>
                <a:ea typeface="Calibri" pitchFamily="34" charset="-122"/>
                <a:cs typeface="Calibri" pitchFamily="34" charset="-120"/>
              </a:rPr>
              <a:t>Keeps human experts in control through approval before sensitive actions</a:t>
            </a:r>
            <a:endParaRPr lang="en-US" sz="800" dirty="0"/>
          </a:p>
          <a:p>
            <a:pPr marL="127000" indent="-127000">
              <a:spcAft>
                <a:spcPts val="320"/>
              </a:spcAft>
              <a:buSzPct val="100000"/>
              <a:buChar char="●"/>
            </a:pPr>
            <a:r>
              <a:rPr lang="en-US" sz="800" dirty="0">
                <a:solidFill>
                  <a:srgbClr val="3A3F55"/>
                </a:solidFill>
                <a:latin typeface="Calibri" pitchFamily="34" charset="0"/>
                <a:ea typeface="Calibri" pitchFamily="34" charset="-122"/>
                <a:cs typeface="Calibri" pitchFamily="34" charset="-120"/>
              </a:rPr>
              <a:t>Allows support teams to focus on complex incidents and higher-value technical decisions</a:t>
            </a:r>
            <a:endParaRPr lang="en-US" sz="800" dirty="0"/>
          </a:p>
          <a:p>
            <a:pPr marL="127000" indent="-127000">
              <a:spcAft>
                <a:spcPts val="320"/>
              </a:spcAft>
              <a:buSzPct val="100000"/>
              <a:buChar char="●"/>
            </a:pPr>
            <a:r>
              <a:rPr lang="en-US" sz="800" dirty="0">
                <a:solidFill>
                  <a:srgbClr val="3A3F55"/>
                </a:solidFill>
                <a:latin typeface="Calibri" pitchFamily="34" charset="0"/>
                <a:ea typeface="Calibri" pitchFamily="34" charset="-122"/>
                <a:cs typeface="Calibri" pitchFamily="34" charset="-120"/>
              </a:rPr>
              <a:t>Creates a reusable AI-assisted automation framework for multiple IT Support use cases</a:t>
            </a:r>
            <a:endParaRPr lang="en-US" sz="800" dirty="0"/>
          </a:p>
        </p:txBody>
      </p:sp>
      <p:sp>
        <p:nvSpPr>
          <p:cNvPr id="20" name="Shape 18"/>
          <p:cNvSpPr/>
          <p:nvPr/>
        </p:nvSpPr>
        <p:spPr>
          <a:xfrm>
            <a:off x="4457700" y="2852928"/>
            <a:ext cx="3909060" cy="292608"/>
          </a:xfrm>
          <a:prstGeom prst="rect">
            <a:avLst/>
          </a:prstGeom>
          <a:solidFill>
            <a:srgbClr val="26325E"/>
          </a:solidFill>
          <a:ln/>
        </p:spPr>
      </p:sp>
      <p:sp>
        <p:nvSpPr>
          <p:cNvPr id="21" name="Text 19"/>
          <p:cNvSpPr/>
          <p:nvPr/>
        </p:nvSpPr>
        <p:spPr>
          <a:xfrm>
            <a:off x="4549140" y="2852928"/>
            <a:ext cx="3726180" cy="292608"/>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Key Audience</a:t>
            </a:r>
            <a:endParaRPr lang="en-US" sz="1250" dirty="0"/>
          </a:p>
        </p:txBody>
      </p:sp>
      <p:sp>
        <p:nvSpPr>
          <p:cNvPr id="22" name="Shape 20"/>
          <p:cNvSpPr/>
          <p:nvPr/>
        </p:nvSpPr>
        <p:spPr>
          <a:xfrm>
            <a:off x="4457700" y="3145536"/>
            <a:ext cx="3909060" cy="1810512"/>
          </a:xfrm>
          <a:prstGeom prst="rect">
            <a:avLst/>
          </a:prstGeom>
          <a:solidFill>
            <a:srgbClr val="F7F9FC"/>
          </a:solidFill>
          <a:ln w="9525">
            <a:solidFill>
              <a:srgbClr val="D7DEE9"/>
            </a:solidFill>
            <a:prstDash val="solid"/>
          </a:ln>
        </p:spPr>
      </p:sp>
      <p:sp>
        <p:nvSpPr>
          <p:cNvPr id="23" name="Text 21"/>
          <p:cNvSpPr/>
          <p:nvPr/>
        </p:nvSpPr>
        <p:spPr>
          <a:xfrm>
            <a:off x="4622292" y="3236976"/>
            <a:ext cx="1789938" cy="1600200"/>
          </a:xfrm>
          <a:prstGeom prst="rect">
            <a:avLst/>
          </a:prstGeom>
          <a:noFill/>
          <a:ln/>
        </p:spPr>
        <p:txBody>
          <a:bodyPr wrap="square" lIns="0" tIns="0" rIns="0" bIns="0" rtlCol="0" anchor="t"/>
          <a:lstStyle/>
          <a:p>
            <a:pPr marL="127000" indent="-127000">
              <a:spcAft>
                <a:spcPts val="800"/>
              </a:spcAft>
              <a:buSzPct val="100000"/>
              <a:buChar char="●"/>
            </a:pPr>
            <a:r>
              <a:rPr lang="en-US" sz="960" dirty="0">
                <a:solidFill>
                  <a:srgbClr val="3A3F55"/>
                </a:solidFill>
                <a:latin typeface="Calibri" pitchFamily="34" charset="0"/>
                <a:ea typeface="Calibri" pitchFamily="34" charset="-122"/>
                <a:cs typeface="Calibri" pitchFamily="34" charset="-120"/>
              </a:rPr>
              <a:t>IT Support Teams</a:t>
            </a:r>
            <a:endParaRPr lang="en-US" sz="960" dirty="0"/>
          </a:p>
          <a:p>
            <a:pPr marL="127000" indent="-127000">
              <a:spcAft>
                <a:spcPts val="800"/>
              </a:spcAft>
              <a:buSzPct val="100000"/>
              <a:buChar char="●"/>
            </a:pPr>
            <a:r>
              <a:rPr lang="en-US" sz="960" dirty="0">
                <a:solidFill>
                  <a:srgbClr val="3A3F55"/>
                </a:solidFill>
                <a:latin typeface="Calibri" pitchFamily="34" charset="0"/>
                <a:ea typeface="Calibri" pitchFamily="34" charset="-122"/>
                <a:cs typeface="Calibri" pitchFamily="34" charset="-120"/>
              </a:rPr>
              <a:t>Application Support Teams</a:t>
            </a:r>
            <a:endParaRPr lang="en-US" sz="960" dirty="0"/>
          </a:p>
          <a:p>
            <a:pPr marL="127000" indent="-127000">
              <a:spcAft>
                <a:spcPts val="800"/>
              </a:spcAft>
              <a:buSzPct val="100000"/>
              <a:buChar char="●"/>
            </a:pPr>
            <a:r>
              <a:rPr lang="en-US" sz="960" dirty="0">
                <a:solidFill>
                  <a:srgbClr val="3A3F55"/>
                </a:solidFill>
                <a:latin typeface="Calibri" pitchFamily="34" charset="0"/>
                <a:ea typeface="Calibri" pitchFamily="34" charset="-122"/>
                <a:cs typeface="Calibri" pitchFamily="34" charset="-120"/>
              </a:rPr>
              <a:t>Service Desk Teams</a:t>
            </a:r>
            <a:endParaRPr lang="en-US" sz="960" dirty="0"/>
          </a:p>
          <a:p>
            <a:pPr marL="127000" indent="-127000">
              <a:spcAft>
                <a:spcPts val="800"/>
              </a:spcAft>
              <a:buSzPct val="100000"/>
              <a:buChar char="●"/>
            </a:pPr>
            <a:r>
              <a:rPr lang="en-US" sz="960" dirty="0">
                <a:solidFill>
                  <a:srgbClr val="3A3F55"/>
                </a:solidFill>
                <a:latin typeface="Calibri" pitchFamily="34" charset="0"/>
                <a:ea typeface="Calibri" pitchFamily="34" charset="-122"/>
                <a:cs typeface="Calibri" pitchFamily="34" charset="-120"/>
              </a:rPr>
              <a:t>System Administrators</a:t>
            </a:r>
            <a:endParaRPr lang="en-US" sz="960" dirty="0"/>
          </a:p>
        </p:txBody>
      </p:sp>
      <p:sp>
        <p:nvSpPr>
          <p:cNvPr id="24" name="Text 22"/>
          <p:cNvSpPr/>
          <p:nvPr/>
        </p:nvSpPr>
        <p:spPr>
          <a:xfrm>
            <a:off x="6503670" y="3236976"/>
            <a:ext cx="1789938" cy="1600200"/>
          </a:xfrm>
          <a:prstGeom prst="rect">
            <a:avLst/>
          </a:prstGeom>
          <a:noFill/>
          <a:ln/>
        </p:spPr>
        <p:txBody>
          <a:bodyPr wrap="square" lIns="0" tIns="0" rIns="0" bIns="0" rtlCol="0" anchor="t"/>
          <a:lstStyle/>
          <a:p>
            <a:pPr marL="127000" indent="-127000">
              <a:spcAft>
                <a:spcPts val="800"/>
              </a:spcAft>
              <a:buSzPct val="100000"/>
              <a:buChar char="●"/>
            </a:pPr>
            <a:r>
              <a:rPr lang="en-US" sz="960" dirty="0">
                <a:solidFill>
                  <a:srgbClr val="3A3F55"/>
                </a:solidFill>
                <a:latin typeface="Calibri" pitchFamily="34" charset="0"/>
                <a:ea typeface="Calibri" pitchFamily="34" charset="-122"/>
                <a:cs typeface="Calibri" pitchFamily="34" charset="-120"/>
              </a:rPr>
              <a:t>IT Operations Teams</a:t>
            </a:r>
            <a:endParaRPr lang="en-US" sz="960" dirty="0"/>
          </a:p>
          <a:p>
            <a:pPr marL="127000" indent="-127000">
              <a:spcAft>
                <a:spcPts val="800"/>
              </a:spcAft>
              <a:buSzPct val="100000"/>
              <a:buChar char="●"/>
            </a:pPr>
            <a:r>
              <a:rPr lang="en-US" sz="960" dirty="0">
                <a:solidFill>
                  <a:srgbClr val="3A3F55"/>
                </a:solidFill>
                <a:latin typeface="Calibri" pitchFamily="34" charset="0"/>
                <a:ea typeface="Calibri" pitchFamily="34" charset="-122"/>
                <a:cs typeface="Calibri" pitchFamily="34" charset="-120"/>
              </a:rPr>
              <a:t>IT Management</a:t>
            </a:r>
            <a:endParaRPr lang="en-US" sz="960" dirty="0"/>
          </a:p>
          <a:p>
            <a:pPr marL="127000" indent="-127000">
              <a:spcAft>
                <a:spcPts val="800"/>
              </a:spcAft>
              <a:buSzPct val="100000"/>
              <a:buChar char="●"/>
            </a:pPr>
            <a:r>
              <a:rPr lang="en-US" sz="960" dirty="0">
                <a:solidFill>
                  <a:srgbClr val="3A3F55"/>
                </a:solidFill>
                <a:latin typeface="Calibri" pitchFamily="34" charset="0"/>
                <a:ea typeface="Calibri" pitchFamily="34" charset="-122"/>
                <a:cs typeface="Calibri" pitchFamily="34" charset="-120"/>
              </a:rPr>
              <a:t>Digital Transformation Teams</a:t>
            </a:r>
            <a:endParaRPr lang="en-US" sz="960" dirty="0"/>
          </a:p>
          <a:p>
            <a:pPr marL="127000" indent="-127000">
              <a:spcAft>
                <a:spcPts val="800"/>
              </a:spcAft>
              <a:buSzPct val="100000"/>
              <a:buChar char="●"/>
            </a:pPr>
            <a:r>
              <a:rPr lang="en-US" sz="960" dirty="0">
                <a:solidFill>
                  <a:srgbClr val="3A3F55"/>
                </a:solidFill>
                <a:latin typeface="Calibri" pitchFamily="34" charset="0"/>
                <a:ea typeface="Calibri" pitchFamily="34" charset="-122"/>
                <a:cs typeface="Calibri" pitchFamily="34" charset="-120"/>
              </a:rPr>
              <a:t>Information Security &amp; Governance</a:t>
            </a:r>
            <a:endParaRPr lang="en-US" sz="960" dirty="0"/>
          </a:p>
        </p:txBody>
      </p:sp>
      <p:sp>
        <p:nvSpPr>
          <p:cNvPr id="25" name="Shape 23"/>
          <p:cNvSpPr/>
          <p:nvPr/>
        </p:nvSpPr>
        <p:spPr>
          <a:xfrm>
            <a:off x="365760" y="5065776"/>
            <a:ext cx="3909060" cy="292608"/>
          </a:xfrm>
          <a:prstGeom prst="rect">
            <a:avLst/>
          </a:prstGeom>
          <a:solidFill>
            <a:srgbClr val="26325E"/>
          </a:solidFill>
          <a:ln/>
        </p:spPr>
      </p:sp>
      <p:sp>
        <p:nvSpPr>
          <p:cNvPr id="26" name="Text 24"/>
          <p:cNvSpPr/>
          <p:nvPr/>
        </p:nvSpPr>
        <p:spPr>
          <a:xfrm>
            <a:off x="457200" y="5065776"/>
            <a:ext cx="3726180" cy="292608"/>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Data Requirement (Data Type)</a:t>
            </a:r>
            <a:endParaRPr lang="en-US" sz="1250" dirty="0"/>
          </a:p>
        </p:txBody>
      </p:sp>
      <p:sp>
        <p:nvSpPr>
          <p:cNvPr id="27" name="Shape 25"/>
          <p:cNvSpPr/>
          <p:nvPr/>
        </p:nvSpPr>
        <p:spPr>
          <a:xfrm>
            <a:off x="365760" y="5358384"/>
            <a:ext cx="3909060" cy="1225296"/>
          </a:xfrm>
          <a:prstGeom prst="rect">
            <a:avLst/>
          </a:prstGeom>
          <a:solidFill>
            <a:srgbClr val="F7F9FC"/>
          </a:solidFill>
          <a:ln w="9525">
            <a:solidFill>
              <a:srgbClr val="D7DEE9"/>
            </a:solidFill>
            <a:prstDash val="solid"/>
          </a:ln>
        </p:spPr>
      </p:sp>
      <p:sp>
        <p:nvSpPr>
          <p:cNvPr id="28" name="Text 26"/>
          <p:cNvSpPr/>
          <p:nvPr/>
        </p:nvSpPr>
        <p:spPr>
          <a:xfrm>
            <a:off x="530352" y="5413248"/>
            <a:ext cx="3598164" cy="1060704"/>
          </a:xfrm>
          <a:prstGeom prst="rect">
            <a:avLst/>
          </a:prstGeom>
          <a:noFill/>
          <a:ln/>
        </p:spPr>
        <p:txBody>
          <a:bodyPr wrap="square" lIns="0" tIns="0" rIns="0" bIns="0" rtlCol="0" anchor="t"/>
          <a:lstStyle/>
          <a:p>
            <a:pPr marL="127000" indent="-127000">
              <a:spcAft>
                <a:spcPts val="200"/>
              </a:spcAft>
              <a:buSzPct val="100000"/>
              <a:buChar char="●"/>
            </a:pPr>
            <a:r>
              <a:rPr lang="en-US" sz="780" dirty="0">
                <a:solidFill>
                  <a:srgbClr val="3A3F55"/>
                </a:solidFill>
                <a:latin typeface="Calibri" pitchFamily="34" charset="0"/>
                <a:ea typeface="Calibri" pitchFamily="34" charset="-122"/>
                <a:cs typeface="Calibri" pitchFamily="34" charset="-120"/>
              </a:rPr>
              <a:t>Support request emails and descriptions</a:t>
            </a:r>
            <a:endParaRPr lang="en-US" sz="780" dirty="0"/>
          </a:p>
          <a:p>
            <a:pPr marL="127000" indent="-127000">
              <a:spcAft>
                <a:spcPts val="200"/>
              </a:spcAft>
              <a:buSzPct val="100000"/>
              <a:buChar char="●"/>
            </a:pPr>
            <a:r>
              <a:rPr lang="en-US" sz="780" dirty="0">
                <a:solidFill>
                  <a:srgbClr val="3A3F55"/>
                </a:solidFill>
                <a:latin typeface="Calibri" pitchFamily="34" charset="0"/>
                <a:ea typeface="Calibri" pitchFamily="34" charset="-122"/>
                <a:cs typeface="Calibri" pitchFamily="34" charset="-120"/>
              </a:rPr>
              <a:t>Structured and unstructured request data</a:t>
            </a:r>
            <a:endParaRPr lang="en-US" sz="780" dirty="0"/>
          </a:p>
          <a:p>
            <a:pPr marL="127000" indent="-127000">
              <a:spcAft>
                <a:spcPts val="200"/>
              </a:spcAft>
              <a:buSzPct val="100000"/>
              <a:buChar char="●"/>
            </a:pPr>
            <a:r>
              <a:rPr lang="en-US" sz="780" dirty="0">
                <a:solidFill>
                  <a:srgbClr val="3A3F55"/>
                </a:solidFill>
                <a:latin typeface="Calibri" pitchFamily="34" charset="0"/>
                <a:ea typeface="Calibri" pitchFamily="34" charset="-122"/>
                <a:cs typeface="Calibri" pitchFamily="34" charset="-120"/>
              </a:rPr>
              <a:t>User, identity, application, service, and configuration data</a:t>
            </a:r>
            <a:endParaRPr lang="en-US" sz="780" dirty="0"/>
          </a:p>
          <a:p>
            <a:pPr marL="127000" indent="-127000">
              <a:spcAft>
                <a:spcPts val="200"/>
              </a:spcAft>
              <a:buSzPct val="100000"/>
              <a:buChar char="●"/>
            </a:pPr>
            <a:r>
              <a:rPr lang="en-US" sz="780" dirty="0">
                <a:solidFill>
                  <a:srgbClr val="3A3F55"/>
                </a:solidFill>
                <a:latin typeface="Calibri" pitchFamily="34" charset="0"/>
                <a:ea typeface="Calibri" pitchFamily="34" charset="-122"/>
                <a:cs typeface="Calibri" pitchFamily="34" charset="-120"/>
              </a:rPr>
              <a:t>Enterprise reference and master data</a:t>
            </a:r>
            <a:endParaRPr lang="en-US" sz="780" dirty="0"/>
          </a:p>
          <a:p>
            <a:pPr marL="127000" indent="-127000">
              <a:spcAft>
                <a:spcPts val="200"/>
              </a:spcAft>
              <a:buSzPct val="100000"/>
              <a:buChar char="●"/>
            </a:pPr>
            <a:r>
              <a:rPr lang="en-US" sz="780" dirty="0">
                <a:solidFill>
                  <a:srgbClr val="3A3F55"/>
                </a:solidFill>
                <a:latin typeface="Calibri" pitchFamily="34" charset="0"/>
                <a:ea typeface="Calibri" pitchFamily="34" charset="-122"/>
                <a:cs typeface="Calibri" pitchFamily="34" charset="-120"/>
              </a:rPr>
              <a:t>Knowledge base and support documentation, where applicable</a:t>
            </a:r>
            <a:endParaRPr lang="en-US" sz="780" dirty="0"/>
          </a:p>
          <a:p>
            <a:pPr marL="127000" indent="-127000">
              <a:spcAft>
                <a:spcPts val="200"/>
              </a:spcAft>
              <a:buSzPct val="100000"/>
              <a:buChar char="●"/>
            </a:pPr>
            <a:r>
              <a:rPr lang="en-US" sz="780" dirty="0">
                <a:solidFill>
                  <a:srgbClr val="3A3F55"/>
                </a:solidFill>
                <a:latin typeface="Calibri" pitchFamily="34" charset="0"/>
                <a:ea typeface="Calibri" pitchFamily="34" charset="-122"/>
                <a:cs typeface="Calibri" pitchFamily="34" charset="-120"/>
              </a:rPr>
              <a:t>Workflow, approval, ticket, and historical request data</a:t>
            </a:r>
            <a:endParaRPr lang="en-US" sz="780" dirty="0"/>
          </a:p>
          <a:p>
            <a:pPr marL="127000" indent="-127000">
              <a:spcAft>
                <a:spcPts val="200"/>
              </a:spcAft>
              <a:buSzPct val="100000"/>
              <a:buChar char="●"/>
            </a:pPr>
            <a:r>
              <a:rPr lang="en-US" sz="780" dirty="0">
                <a:solidFill>
                  <a:srgbClr val="3A3F55"/>
                </a:solidFill>
                <a:latin typeface="Calibri" pitchFamily="34" charset="0"/>
                <a:ea typeface="Calibri" pitchFamily="34" charset="-122"/>
                <a:cs typeface="Calibri" pitchFamily="34" charset="-120"/>
              </a:rPr>
              <a:t>Audit and execution records</a:t>
            </a:r>
            <a:endParaRPr lang="en-US" sz="780" dirty="0"/>
          </a:p>
        </p:txBody>
      </p:sp>
      <p:sp>
        <p:nvSpPr>
          <p:cNvPr id="29" name="Shape 27"/>
          <p:cNvSpPr/>
          <p:nvPr/>
        </p:nvSpPr>
        <p:spPr>
          <a:xfrm>
            <a:off x="4457700" y="5065776"/>
            <a:ext cx="3909060" cy="292608"/>
          </a:xfrm>
          <a:prstGeom prst="rect">
            <a:avLst/>
          </a:prstGeom>
          <a:solidFill>
            <a:srgbClr val="26325E"/>
          </a:solidFill>
          <a:ln/>
        </p:spPr>
      </p:sp>
      <p:sp>
        <p:nvSpPr>
          <p:cNvPr id="30" name="Text 28"/>
          <p:cNvSpPr/>
          <p:nvPr/>
        </p:nvSpPr>
        <p:spPr>
          <a:xfrm>
            <a:off x="4549140" y="5065776"/>
            <a:ext cx="3726180" cy="292608"/>
          </a:xfrm>
          <a:prstGeom prst="rect">
            <a:avLst/>
          </a:prstGeom>
          <a:noFill/>
          <a:ln/>
        </p:spPr>
        <p:txBody>
          <a:bodyPr wrap="square" lIns="0" tIns="0" rIns="0" bIns="0"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Production Technical Dependencies</a:t>
            </a:r>
            <a:endParaRPr lang="en-US" sz="1050" dirty="0"/>
          </a:p>
        </p:txBody>
      </p:sp>
      <p:sp>
        <p:nvSpPr>
          <p:cNvPr id="31" name="Shape 29"/>
          <p:cNvSpPr/>
          <p:nvPr/>
        </p:nvSpPr>
        <p:spPr>
          <a:xfrm>
            <a:off x="4457700" y="5358384"/>
            <a:ext cx="3909060" cy="1225296"/>
          </a:xfrm>
          <a:prstGeom prst="rect">
            <a:avLst/>
          </a:prstGeom>
          <a:solidFill>
            <a:srgbClr val="F7F9FC"/>
          </a:solidFill>
          <a:ln w="9525">
            <a:solidFill>
              <a:srgbClr val="D7DEE9"/>
            </a:solidFill>
            <a:prstDash val="solid"/>
          </a:ln>
        </p:spPr>
      </p:sp>
      <p:sp>
        <p:nvSpPr>
          <p:cNvPr id="32" name="Text 30"/>
          <p:cNvSpPr/>
          <p:nvPr/>
        </p:nvSpPr>
        <p:spPr>
          <a:xfrm>
            <a:off x="4622292" y="5431536"/>
            <a:ext cx="3598164" cy="1042416"/>
          </a:xfrm>
          <a:prstGeom prst="rect">
            <a:avLst/>
          </a:prstGeom>
          <a:noFill/>
          <a:ln/>
        </p:spPr>
        <p:txBody>
          <a:bodyPr wrap="square" lIns="0" tIns="0" rIns="0" bIns="0" rtlCol="0" anchor="t"/>
          <a:lstStyle/>
          <a:p>
            <a:pPr marL="127000" indent="-127000">
              <a:spcAft>
                <a:spcPts val="400"/>
              </a:spcAft>
              <a:buSzPct val="100000"/>
              <a:buChar char="●"/>
            </a:pPr>
            <a:r>
              <a:rPr lang="en-US" sz="840" dirty="0">
                <a:solidFill>
                  <a:srgbClr val="3A3F55"/>
                </a:solidFill>
                <a:latin typeface="Calibri" pitchFamily="34" charset="0"/>
                <a:ea typeface="Calibri" pitchFamily="34" charset="-122"/>
                <a:cs typeface="Calibri" pitchFamily="34" charset="-120"/>
              </a:rPr>
              <a:t>Power Platform and enterprise approval workflow</a:t>
            </a:r>
            <a:endParaRPr lang="en-US" sz="840" dirty="0"/>
          </a:p>
          <a:p>
            <a:pPr marL="127000" indent="-127000">
              <a:spcAft>
                <a:spcPts val="400"/>
              </a:spcAft>
              <a:buSzPct val="100000"/>
              <a:buChar char="●"/>
            </a:pPr>
            <a:r>
              <a:rPr lang="en-US" sz="840" dirty="0">
                <a:solidFill>
                  <a:srgbClr val="3A3F55"/>
                </a:solidFill>
                <a:latin typeface="Calibri" pitchFamily="34" charset="0"/>
                <a:ea typeface="Calibri" pitchFamily="34" charset="-122"/>
                <a:cs typeface="Calibri" pitchFamily="34" charset="-120"/>
              </a:rPr>
              <a:t>Organization-approved Generative AI Platform and an Enterprise AI Gateway (recommended), or another governed AI integration layer</a:t>
            </a:r>
            <a:endParaRPr lang="en-US" sz="840" dirty="0"/>
          </a:p>
          <a:p>
            <a:pPr marL="127000" indent="-127000">
              <a:spcAft>
                <a:spcPts val="400"/>
              </a:spcAft>
              <a:buSzPct val="100000"/>
              <a:buChar char="●"/>
            </a:pPr>
            <a:r>
              <a:rPr lang="en-US" sz="840" dirty="0">
                <a:solidFill>
                  <a:srgbClr val="3A3F55"/>
                </a:solidFill>
                <a:latin typeface="Calibri" pitchFamily="34" charset="0"/>
                <a:ea typeface="Calibri" pitchFamily="34" charset="-122"/>
                <a:cs typeface="Calibri" pitchFamily="34" charset="-120"/>
              </a:rPr>
              <a:t>Enterprise databases, trusted data sources, APIs, and integration services</a:t>
            </a:r>
            <a:endParaRPr lang="en-US" sz="840" dirty="0"/>
          </a:p>
          <a:p>
            <a:pPr marL="127000" indent="-127000">
              <a:spcAft>
                <a:spcPts val="400"/>
              </a:spcAft>
              <a:buSzPct val="100000"/>
              <a:buChar char="●"/>
            </a:pPr>
            <a:r>
              <a:rPr lang="en-US" sz="840" dirty="0">
                <a:solidFill>
                  <a:srgbClr val="3A3F55"/>
                </a:solidFill>
                <a:latin typeface="Calibri" pitchFamily="34" charset="0"/>
                <a:ea typeface="Calibri" pitchFamily="34" charset="-122"/>
                <a:cs typeface="Calibri" pitchFamily="34" charset="-120"/>
              </a:rPr>
              <a:t>ITSM / Helpdesk platform and Microsoft 365 collaboration services</a:t>
            </a:r>
            <a:endParaRPr lang="en-US" sz="840" dirty="0"/>
          </a:p>
          <a:p>
            <a:pPr marL="127000" indent="-127000">
              <a:spcAft>
                <a:spcPts val="400"/>
              </a:spcAft>
              <a:buSzPct val="100000"/>
              <a:buChar char="●"/>
            </a:pPr>
            <a:r>
              <a:rPr lang="en-US" sz="840" dirty="0">
                <a:solidFill>
                  <a:srgbClr val="3A3F55"/>
                </a:solidFill>
                <a:latin typeface="Calibri" pitchFamily="34" charset="0"/>
                <a:ea typeface="Calibri" pitchFamily="34" charset="-122"/>
                <a:cs typeface="Calibri" pitchFamily="34" charset="-120"/>
              </a:rPr>
              <a:t>Identity, security, governance, monitoring, logging, and audit controls</a:t>
            </a:r>
            <a:endParaRPr lang="en-US" sz="840" dirty="0"/>
          </a:p>
          <a:p>
            <a:pPr marL="127000" indent="-127000">
              <a:spcAft>
                <a:spcPts val="400"/>
              </a:spcAft>
              <a:buSzPct val="100000"/>
              <a:buChar char="●"/>
            </a:pPr>
            <a:r>
              <a:rPr lang="en-US" sz="840" dirty="0">
                <a:solidFill>
                  <a:srgbClr val="3A3F55"/>
                </a:solidFill>
                <a:latin typeface="Calibri" pitchFamily="34" charset="0"/>
                <a:ea typeface="Calibri" pitchFamily="34" charset="-122"/>
                <a:cs typeface="Calibri" pitchFamily="34" charset="-120"/>
              </a:rPr>
              <a:t>Premium connectors where required by the final production design</a:t>
            </a:r>
            <a:endParaRPr lang="en-US" sz="840" dirty="0"/>
          </a:p>
        </p:txBody>
      </p:sp>
      <p:sp>
        <p:nvSpPr>
          <p:cNvPr id="33" name="Shape 31"/>
          <p:cNvSpPr/>
          <p:nvPr/>
        </p:nvSpPr>
        <p:spPr>
          <a:xfrm>
            <a:off x="8595360" y="1344168"/>
            <a:ext cx="3227832" cy="5239512"/>
          </a:xfrm>
          <a:prstGeom prst="rect">
            <a:avLst/>
          </a:prstGeom>
          <a:solidFill>
            <a:srgbClr val="E9EFF8"/>
          </a:solidFill>
          <a:ln w="9525">
            <a:solidFill>
              <a:srgbClr val="D7DEE9"/>
            </a:solidFill>
            <a:prstDash val="solid"/>
          </a:ln>
        </p:spPr>
      </p:sp>
      <p:sp>
        <p:nvSpPr>
          <p:cNvPr id="34" name="Text 32"/>
          <p:cNvSpPr/>
          <p:nvPr/>
        </p:nvSpPr>
        <p:spPr>
          <a:xfrm>
            <a:off x="8595360" y="1435608"/>
            <a:ext cx="3227832" cy="310896"/>
          </a:xfrm>
          <a:prstGeom prst="rect">
            <a:avLst/>
          </a:prstGeom>
          <a:noFill/>
          <a:ln/>
        </p:spPr>
        <p:txBody>
          <a:bodyPr wrap="square" lIns="0" tIns="0" rIns="0" bIns="0" rtlCol="0" anchor="ctr"/>
          <a:lstStyle/>
          <a:p>
            <a:pPr algn="ctr" indent="0" marL="0">
              <a:buNone/>
            </a:pPr>
            <a:r>
              <a:rPr lang="en-US" sz="1500" b="1" dirty="0">
                <a:solidFill>
                  <a:srgbClr val="141B45"/>
                </a:solidFill>
                <a:latin typeface="Cambria" pitchFamily="34" charset="0"/>
                <a:ea typeface="Cambria" pitchFamily="34" charset="-122"/>
                <a:cs typeface="Cambria" pitchFamily="34" charset="-120"/>
              </a:rPr>
              <a:t>Prioritization Outcomes</a:t>
            </a:r>
            <a:endParaRPr lang="en-US" sz="1500" dirty="0"/>
          </a:p>
        </p:txBody>
      </p:sp>
      <p:sp>
        <p:nvSpPr>
          <p:cNvPr id="35" name="Text 33"/>
          <p:cNvSpPr/>
          <p:nvPr/>
        </p:nvSpPr>
        <p:spPr>
          <a:xfrm>
            <a:off x="8796528" y="1847088"/>
            <a:ext cx="2862072" cy="219456"/>
          </a:xfrm>
          <a:prstGeom prst="rect">
            <a:avLst/>
          </a:prstGeom>
          <a:noFill/>
          <a:ln/>
        </p:spPr>
        <p:txBody>
          <a:bodyPr wrap="square" lIns="0" tIns="0" rIns="0" bIns="0" rtlCol="0" anchor="ctr"/>
          <a:lstStyle/>
          <a:p>
            <a:pPr indent="0" marL="0">
              <a:buNone/>
            </a:pPr>
            <a:r>
              <a:rPr lang="en-US" sz="1000" b="1" dirty="0">
                <a:solidFill>
                  <a:srgbClr val="3B6EA5"/>
                </a:solidFill>
                <a:latin typeface="Calibri" pitchFamily="34" charset="0"/>
                <a:ea typeface="Calibri" pitchFamily="34" charset="-122"/>
                <a:cs typeface="Calibri" pitchFamily="34" charset="-120"/>
              </a:rPr>
              <a:t>VALUE</a:t>
            </a:r>
            <a:endParaRPr lang="en-US" sz="1000" dirty="0"/>
          </a:p>
        </p:txBody>
      </p:sp>
      <p:sp>
        <p:nvSpPr>
          <p:cNvPr id="36" name="Text 34"/>
          <p:cNvSpPr/>
          <p:nvPr/>
        </p:nvSpPr>
        <p:spPr>
          <a:xfrm>
            <a:off x="8796528" y="2121408"/>
            <a:ext cx="1856232" cy="310896"/>
          </a:xfrm>
          <a:prstGeom prst="rect">
            <a:avLst/>
          </a:prstGeom>
          <a:noFill/>
          <a:ln/>
        </p:spPr>
        <p:txBody>
          <a:bodyPr wrap="square" lIns="0" tIns="0" rIns="0" bIns="0" rtlCol="0" anchor="ctr"/>
          <a:lstStyle/>
          <a:p>
            <a:pPr indent="0" marL="0">
              <a:buNone/>
            </a:pPr>
            <a:r>
              <a:rPr lang="en-US" sz="950" dirty="0">
                <a:solidFill>
                  <a:srgbClr val="2A2E45"/>
                </a:solidFill>
                <a:latin typeface="Calibri" pitchFamily="34" charset="0"/>
                <a:ea typeface="Calibri" pitchFamily="34" charset="-122"/>
                <a:cs typeface="Calibri" pitchFamily="34" charset="-120"/>
              </a:rPr>
              <a:t>Clinical Impact</a:t>
            </a:r>
            <a:endParaRPr lang="en-US" sz="950" dirty="0"/>
          </a:p>
        </p:txBody>
      </p:sp>
      <p:sp>
        <p:nvSpPr>
          <p:cNvPr id="37" name="Shape 35"/>
          <p:cNvSpPr/>
          <p:nvPr/>
        </p:nvSpPr>
        <p:spPr>
          <a:xfrm>
            <a:off x="10588752" y="2157984"/>
            <a:ext cx="301752" cy="237744"/>
          </a:xfrm>
          <a:prstGeom prst="roundRect">
            <a:avLst>
              <a:gd name="adj" fmla="val 15385"/>
            </a:avLst>
          </a:prstGeom>
          <a:solidFill>
            <a:srgbClr val="3B6EA5"/>
          </a:solidFill>
          <a:ln w="12700">
            <a:solidFill>
              <a:srgbClr val="3B6EA5"/>
            </a:solidFill>
            <a:prstDash val="solid"/>
          </a:ln>
        </p:spPr>
      </p:sp>
      <p:sp>
        <p:nvSpPr>
          <p:cNvPr id="38" name="Text 36"/>
          <p:cNvSpPr/>
          <p:nvPr/>
        </p:nvSpPr>
        <p:spPr>
          <a:xfrm>
            <a:off x="10588752" y="2157984"/>
            <a:ext cx="301752" cy="237744"/>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L</a:t>
            </a:r>
            <a:endParaRPr lang="en-US" sz="850" dirty="0"/>
          </a:p>
        </p:txBody>
      </p:sp>
      <p:sp>
        <p:nvSpPr>
          <p:cNvPr id="39" name="Shape 37"/>
          <p:cNvSpPr/>
          <p:nvPr/>
        </p:nvSpPr>
        <p:spPr>
          <a:xfrm>
            <a:off x="10963656" y="2157984"/>
            <a:ext cx="301752" cy="237744"/>
          </a:xfrm>
          <a:prstGeom prst="roundRect">
            <a:avLst>
              <a:gd name="adj" fmla="val 15385"/>
            </a:avLst>
          </a:prstGeom>
          <a:solidFill>
            <a:srgbClr val="FFFFFF"/>
          </a:solidFill>
          <a:ln w="12700">
            <a:solidFill>
              <a:srgbClr val="D7DEE9"/>
            </a:solidFill>
            <a:prstDash val="solid"/>
          </a:ln>
        </p:spPr>
      </p:sp>
      <p:sp>
        <p:nvSpPr>
          <p:cNvPr id="40" name="Text 38"/>
          <p:cNvSpPr/>
          <p:nvPr/>
        </p:nvSpPr>
        <p:spPr>
          <a:xfrm>
            <a:off x="10963656" y="2157984"/>
            <a:ext cx="301752" cy="237744"/>
          </a:xfrm>
          <a:prstGeom prst="rect">
            <a:avLst/>
          </a:prstGeom>
          <a:noFill/>
          <a:ln/>
        </p:spPr>
        <p:txBody>
          <a:bodyPr wrap="square" lIns="0" tIns="0" rIns="0" bIns="0" rtlCol="0" anchor="ctr"/>
          <a:lstStyle/>
          <a:p>
            <a:pPr algn="ctr" indent="0" marL="0">
              <a:buNone/>
            </a:pPr>
            <a:r>
              <a:rPr lang="en-US" sz="850" dirty="0">
                <a:solidFill>
                  <a:srgbClr val="2A2E45"/>
                </a:solidFill>
                <a:latin typeface="Calibri" pitchFamily="34" charset="0"/>
                <a:ea typeface="Calibri" pitchFamily="34" charset="-122"/>
                <a:cs typeface="Calibri" pitchFamily="34" charset="-120"/>
              </a:rPr>
              <a:t>M</a:t>
            </a:r>
            <a:endParaRPr lang="en-US" sz="850" dirty="0"/>
          </a:p>
        </p:txBody>
      </p:sp>
      <p:sp>
        <p:nvSpPr>
          <p:cNvPr id="41" name="Shape 39"/>
          <p:cNvSpPr/>
          <p:nvPr/>
        </p:nvSpPr>
        <p:spPr>
          <a:xfrm>
            <a:off x="11338560" y="2157984"/>
            <a:ext cx="301752" cy="237744"/>
          </a:xfrm>
          <a:prstGeom prst="roundRect">
            <a:avLst>
              <a:gd name="adj" fmla="val 15385"/>
            </a:avLst>
          </a:prstGeom>
          <a:solidFill>
            <a:srgbClr val="FFFFFF"/>
          </a:solidFill>
          <a:ln w="12700">
            <a:solidFill>
              <a:srgbClr val="D7DEE9"/>
            </a:solidFill>
            <a:prstDash val="solid"/>
          </a:ln>
        </p:spPr>
      </p:sp>
      <p:sp>
        <p:nvSpPr>
          <p:cNvPr id="42" name="Text 40"/>
          <p:cNvSpPr/>
          <p:nvPr/>
        </p:nvSpPr>
        <p:spPr>
          <a:xfrm>
            <a:off x="11338560" y="2157984"/>
            <a:ext cx="301752" cy="237744"/>
          </a:xfrm>
          <a:prstGeom prst="rect">
            <a:avLst/>
          </a:prstGeom>
          <a:noFill/>
          <a:ln/>
        </p:spPr>
        <p:txBody>
          <a:bodyPr wrap="square" lIns="0" tIns="0" rIns="0" bIns="0" rtlCol="0" anchor="ctr"/>
          <a:lstStyle/>
          <a:p>
            <a:pPr algn="ctr" indent="0" marL="0">
              <a:buNone/>
            </a:pPr>
            <a:r>
              <a:rPr lang="en-US" sz="850" dirty="0">
                <a:solidFill>
                  <a:srgbClr val="2A2E45"/>
                </a:solidFill>
                <a:latin typeface="Calibri" pitchFamily="34" charset="0"/>
                <a:ea typeface="Calibri" pitchFamily="34" charset="-122"/>
                <a:cs typeface="Calibri" pitchFamily="34" charset="-120"/>
              </a:rPr>
              <a:t>H</a:t>
            </a:r>
            <a:endParaRPr lang="en-US" sz="850" dirty="0"/>
          </a:p>
        </p:txBody>
      </p:sp>
      <p:sp>
        <p:nvSpPr>
          <p:cNvPr id="43" name="Text 41"/>
          <p:cNvSpPr/>
          <p:nvPr/>
        </p:nvSpPr>
        <p:spPr>
          <a:xfrm>
            <a:off x="8796528" y="2487168"/>
            <a:ext cx="1856232" cy="310896"/>
          </a:xfrm>
          <a:prstGeom prst="rect">
            <a:avLst/>
          </a:prstGeom>
          <a:noFill/>
          <a:ln/>
        </p:spPr>
        <p:txBody>
          <a:bodyPr wrap="square" lIns="0" tIns="0" rIns="0" bIns="0" rtlCol="0" anchor="ctr"/>
          <a:lstStyle/>
          <a:p>
            <a:pPr indent="0" marL="0">
              <a:buNone/>
            </a:pPr>
            <a:r>
              <a:rPr lang="en-US" sz="950" dirty="0">
                <a:solidFill>
                  <a:srgbClr val="2A2E45"/>
                </a:solidFill>
                <a:latin typeface="Calibri" pitchFamily="34" charset="0"/>
                <a:ea typeface="Calibri" pitchFamily="34" charset="-122"/>
                <a:cs typeface="Calibri" pitchFamily="34" charset="-120"/>
              </a:rPr>
              <a:t>Business Impact</a:t>
            </a:r>
            <a:endParaRPr lang="en-US" sz="950" dirty="0"/>
          </a:p>
        </p:txBody>
      </p:sp>
      <p:sp>
        <p:nvSpPr>
          <p:cNvPr id="44" name="Shape 42"/>
          <p:cNvSpPr/>
          <p:nvPr/>
        </p:nvSpPr>
        <p:spPr>
          <a:xfrm>
            <a:off x="10588752" y="2523744"/>
            <a:ext cx="301752" cy="237744"/>
          </a:xfrm>
          <a:prstGeom prst="roundRect">
            <a:avLst>
              <a:gd name="adj" fmla="val 15385"/>
            </a:avLst>
          </a:prstGeom>
          <a:solidFill>
            <a:srgbClr val="FFFFFF"/>
          </a:solidFill>
          <a:ln w="12700">
            <a:solidFill>
              <a:srgbClr val="D7DEE9"/>
            </a:solidFill>
            <a:prstDash val="solid"/>
          </a:ln>
        </p:spPr>
      </p:sp>
      <p:sp>
        <p:nvSpPr>
          <p:cNvPr id="45" name="Text 43"/>
          <p:cNvSpPr/>
          <p:nvPr/>
        </p:nvSpPr>
        <p:spPr>
          <a:xfrm>
            <a:off x="10588752" y="2523744"/>
            <a:ext cx="301752" cy="237744"/>
          </a:xfrm>
          <a:prstGeom prst="rect">
            <a:avLst/>
          </a:prstGeom>
          <a:noFill/>
          <a:ln/>
        </p:spPr>
        <p:txBody>
          <a:bodyPr wrap="square" lIns="0" tIns="0" rIns="0" bIns="0" rtlCol="0" anchor="ctr"/>
          <a:lstStyle/>
          <a:p>
            <a:pPr algn="ctr" indent="0" marL="0">
              <a:buNone/>
            </a:pPr>
            <a:r>
              <a:rPr lang="en-US" sz="850" dirty="0">
                <a:solidFill>
                  <a:srgbClr val="2A2E45"/>
                </a:solidFill>
                <a:latin typeface="Calibri" pitchFamily="34" charset="0"/>
                <a:ea typeface="Calibri" pitchFamily="34" charset="-122"/>
                <a:cs typeface="Calibri" pitchFamily="34" charset="-120"/>
              </a:rPr>
              <a:t>L</a:t>
            </a:r>
            <a:endParaRPr lang="en-US" sz="850" dirty="0"/>
          </a:p>
        </p:txBody>
      </p:sp>
      <p:sp>
        <p:nvSpPr>
          <p:cNvPr id="46" name="Shape 44"/>
          <p:cNvSpPr/>
          <p:nvPr/>
        </p:nvSpPr>
        <p:spPr>
          <a:xfrm>
            <a:off x="10963656" y="2523744"/>
            <a:ext cx="301752" cy="237744"/>
          </a:xfrm>
          <a:prstGeom prst="roundRect">
            <a:avLst>
              <a:gd name="adj" fmla="val 15385"/>
            </a:avLst>
          </a:prstGeom>
          <a:solidFill>
            <a:srgbClr val="FFFFFF"/>
          </a:solidFill>
          <a:ln w="12700">
            <a:solidFill>
              <a:srgbClr val="D7DEE9"/>
            </a:solidFill>
            <a:prstDash val="solid"/>
          </a:ln>
        </p:spPr>
      </p:sp>
      <p:sp>
        <p:nvSpPr>
          <p:cNvPr id="47" name="Text 45"/>
          <p:cNvSpPr/>
          <p:nvPr/>
        </p:nvSpPr>
        <p:spPr>
          <a:xfrm>
            <a:off x="10963656" y="2523744"/>
            <a:ext cx="301752" cy="237744"/>
          </a:xfrm>
          <a:prstGeom prst="rect">
            <a:avLst/>
          </a:prstGeom>
          <a:noFill/>
          <a:ln/>
        </p:spPr>
        <p:txBody>
          <a:bodyPr wrap="square" lIns="0" tIns="0" rIns="0" bIns="0" rtlCol="0" anchor="ctr"/>
          <a:lstStyle/>
          <a:p>
            <a:pPr algn="ctr" indent="0" marL="0">
              <a:buNone/>
            </a:pPr>
            <a:r>
              <a:rPr lang="en-US" sz="850" dirty="0">
                <a:solidFill>
                  <a:srgbClr val="2A2E45"/>
                </a:solidFill>
                <a:latin typeface="Calibri" pitchFamily="34" charset="0"/>
                <a:ea typeface="Calibri" pitchFamily="34" charset="-122"/>
                <a:cs typeface="Calibri" pitchFamily="34" charset="-120"/>
              </a:rPr>
              <a:t>M</a:t>
            </a:r>
            <a:endParaRPr lang="en-US" sz="850" dirty="0"/>
          </a:p>
        </p:txBody>
      </p:sp>
      <p:sp>
        <p:nvSpPr>
          <p:cNvPr id="48" name="Shape 46"/>
          <p:cNvSpPr/>
          <p:nvPr/>
        </p:nvSpPr>
        <p:spPr>
          <a:xfrm>
            <a:off x="11338560" y="2523744"/>
            <a:ext cx="301752" cy="237744"/>
          </a:xfrm>
          <a:prstGeom prst="roundRect">
            <a:avLst>
              <a:gd name="adj" fmla="val 15385"/>
            </a:avLst>
          </a:prstGeom>
          <a:solidFill>
            <a:srgbClr val="3B6EA5"/>
          </a:solidFill>
          <a:ln w="12700">
            <a:solidFill>
              <a:srgbClr val="3B6EA5"/>
            </a:solidFill>
            <a:prstDash val="solid"/>
          </a:ln>
        </p:spPr>
      </p:sp>
      <p:sp>
        <p:nvSpPr>
          <p:cNvPr id="49" name="Text 47"/>
          <p:cNvSpPr/>
          <p:nvPr/>
        </p:nvSpPr>
        <p:spPr>
          <a:xfrm>
            <a:off x="11338560" y="2523744"/>
            <a:ext cx="301752" cy="237744"/>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H</a:t>
            </a:r>
            <a:endParaRPr lang="en-US" sz="850" dirty="0"/>
          </a:p>
        </p:txBody>
      </p:sp>
      <p:sp>
        <p:nvSpPr>
          <p:cNvPr id="50" name="Text 48"/>
          <p:cNvSpPr/>
          <p:nvPr/>
        </p:nvSpPr>
        <p:spPr>
          <a:xfrm>
            <a:off x="8796528" y="2852928"/>
            <a:ext cx="1856232" cy="310896"/>
          </a:xfrm>
          <a:prstGeom prst="rect">
            <a:avLst/>
          </a:prstGeom>
          <a:noFill/>
          <a:ln/>
        </p:spPr>
        <p:txBody>
          <a:bodyPr wrap="square" lIns="0" tIns="0" rIns="0" bIns="0" rtlCol="0" anchor="ctr"/>
          <a:lstStyle/>
          <a:p>
            <a:pPr indent="0" marL="0">
              <a:buNone/>
            </a:pPr>
            <a:r>
              <a:rPr lang="en-US" sz="950" dirty="0">
                <a:solidFill>
                  <a:srgbClr val="2A2E45"/>
                </a:solidFill>
                <a:latin typeface="Calibri" pitchFamily="34" charset="0"/>
                <a:ea typeface="Calibri" pitchFamily="34" charset="-122"/>
                <a:cs typeface="Calibri" pitchFamily="34" charset="-120"/>
              </a:rPr>
              <a:t>Strategic Alignment</a:t>
            </a:r>
            <a:endParaRPr lang="en-US" sz="950" dirty="0"/>
          </a:p>
        </p:txBody>
      </p:sp>
      <p:sp>
        <p:nvSpPr>
          <p:cNvPr id="51" name="Shape 49"/>
          <p:cNvSpPr/>
          <p:nvPr/>
        </p:nvSpPr>
        <p:spPr>
          <a:xfrm>
            <a:off x="10588752" y="2889504"/>
            <a:ext cx="301752" cy="237744"/>
          </a:xfrm>
          <a:prstGeom prst="roundRect">
            <a:avLst>
              <a:gd name="adj" fmla="val 15385"/>
            </a:avLst>
          </a:prstGeom>
          <a:solidFill>
            <a:srgbClr val="FFFFFF"/>
          </a:solidFill>
          <a:ln w="12700">
            <a:solidFill>
              <a:srgbClr val="D7DEE9"/>
            </a:solidFill>
            <a:prstDash val="solid"/>
          </a:ln>
        </p:spPr>
      </p:sp>
      <p:sp>
        <p:nvSpPr>
          <p:cNvPr id="52" name="Text 50"/>
          <p:cNvSpPr/>
          <p:nvPr/>
        </p:nvSpPr>
        <p:spPr>
          <a:xfrm>
            <a:off x="10588752" y="2889504"/>
            <a:ext cx="301752" cy="237744"/>
          </a:xfrm>
          <a:prstGeom prst="rect">
            <a:avLst/>
          </a:prstGeom>
          <a:noFill/>
          <a:ln/>
        </p:spPr>
        <p:txBody>
          <a:bodyPr wrap="square" lIns="0" tIns="0" rIns="0" bIns="0" rtlCol="0" anchor="ctr"/>
          <a:lstStyle/>
          <a:p>
            <a:pPr algn="ctr" indent="0" marL="0">
              <a:buNone/>
            </a:pPr>
            <a:r>
              <a:rPr lang="en-US" sz="850" dirty="0">
                <a:solidFill>
                  <a:srgbClr val="2A2E45"/>
                </a:solidFill>
                <a:latin typeface="Calibri" pitchFamily="34" charset="0"/>
                <a:ea typeface="Calibri" pitchFamily="34" charset="-122"/>
                <a:cs typeface="Calibri" pitchFamily="34" charset="-120"/>
              </a:rPr>
              <a:t>L</a:t>
            </a:r>
            <a:endParaRPr lang="en-US" sz="850" dirty="0"/>
          </a:p>
        </p:txBody>
      </p:sp>
      <p:sp>
        <p:nvSpPr>
          <p:cNvPr id="53" name="Shape 51"/>
          <p:cNvSpPr/>
          <p:nvPr/>
        </p:nvSpPr>
        <p:spPr>
          <a:xfrm>
            <a:off x="10963656" y="2889504"/>
            <a:ext cx="301752" cy="237744"/>
          </a:xfrm>
          <a:prstGeom prst="roundRect">
            <a:avLst>
              <a:gd name="adj" fmla="val 15385"/>
            </a:avLst>
          </a:prstGeom>
          <a:solidFill>
            <a:srgbClr val="FFFFFF"/>
          </a:solidFill>
          <a:ln w="12700">
            <a:solidFill>
              <a:srgbClr val="D7DEE9"/>
            </a:solidFill>
            <a:prstDash val="solid"/>
          </a:ln>
        </p:spPr>
      </p:sp>
      <p:sp>
        <p:nvSpPr>
          <p:cNvPr id="54" name="Text 52"/>
          <p:cNvSpPr/>
          <p:nvPr/>
        </p:nvSpPr>
        <p:spPr>
          <a:xfrm>
            <a:off x="10963656" y="2889504"/>
            <a:ext cx="301752" cy="237744"/>
          </a:xfrm>
          <a:prstGeom prst="rect">
            <a:avLst/>
          </a:prstGeom>
          <a:noFill/>
          <a:ln/>
        </p:spPr>
        <p:txBody>
          <a:bodyPr wrap="square" lIns="0" tIns="0" rIns="0" bIns="0" rtlCol="0" anchor="ctr"/>
          <a:lstStyle/>
          <a:p>
            <a:pPr algn="ctr" indent="0" marL="0">
              <a:buNone/>
            </a:pPr>
            <a:r>
              <a:rPr lang="en-US" sz="850" dirty="0">
                <a:solidFill>
                  <a:srgbClr val="2A2E45"/>
                </a:solidFill>
                <a:latin typeface="Calibri" pitchFamily="34" charset="0"/>
                <a:ea typeface="Calibri" pitchFamily="34" charset="-122"/>
                <a:cs typeface="Calibri" pitchFamily="34" charset="-120"/>
              </a:rPr>
              <a:t>M</a:t>
            </a:r>
            <a:endParaRPr lang="en-US" sz="850" dirty="0"/>
          </a:p>
        </p:txBody>
      </p:sp>
      <p:sp>
        <p:nvSpPr>
          <p:cNvPr id="55" name="Shape 53"/>
          <p:cNvSpPr/>
          <p:nvPr/>
        </p:nvSpPr>
        <p:spPr>
          <a:xfrm>
            <a:off x="11338560" y="2889504"/>
            <a:ext cx="301752" cy="237744"/>
          </a:xfrm>
          <a:prstGeom prst="roundRect">
            <a:avLst>
              <a:gd name="adj" fmla="val 15385"/>
            </a:avLst>
          </a:prstGeom>
          <a:solidFill>
            <a:srgbClr val="3B6EA5"/>
          </a:solidFill>
          <a:ln w="12700">
            <a:solidFill>
              <a:srgbClr val="3B6EA5"/>
            </a:solidFill>
            <a:prstDash val="solid"/>
          </a:ln>
        </p:spPr>
      </p:sp>
      <p:sp>
        <p:nvSpPr>
          <p:cNvPr id="56" name="Text 54"/>
          <p:cNvSpPr/>
          <p:nvPr/>
        </p:nvSpPr>
        <p:spPr>
          <a:xfrm>
            <a:off x="11338560" y="2889504"/>
            <a:ext cx="301752" cy="237744"/>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H</a:t>
            </a:r>
            <a:endParaRPr lang="en-US" sz="850" dirty="0"/>
          </a:p>
        </p:txBody>
      </p:sp>
      <p:sp>
        <p:nvSpPr>
          <p:cNvPr id="57" name="Shape 55"/>
          <p:cNvSpPr/>
          <p:nvPr/>
        </p:nvSpPr>
        <p:spPr>
          <a:xfrm>
            <a:off x="8796528" y="3310128"/>
            <a:ext cx="2825496" cy="0"/>
          </a:xfrm>
          <a:prstGeom prst="line">
            <a:avLst/>
          </a:prstGeom>
          <a:noFill/>
          <a:ln w="12700">
            <a:solidFill>
              <a:srgbClr val="D7DEE9"/>
            </a:solidFill>
            <a:prstDash val="solid"/>
          </a:ln>
        </p:spPr>
      </p:sp>
      <p:sp>
        <p:nvSpPr>
          <p:cNvPr id="58" name="Text 56"/>
          <p:cNvSpPr/>
          <p:nvPr/>
        </p:nvSpPr>
        <p:spPr>
          <a:xfrm>
            <a:off x="8796528" y="3456432"/>
            <a:ext cx="2862072" cy="219456"/>
          </a:xfrm>
          <a:prstGeom prst="rect">
            <a:avLst/>
          </a:prstGeom>
          <a:noFill/>
          <a:ln/>
        </p:spPr>
        <p:txBody>
          <a:bodyPr wrap="square" lIns="0" tIns="0" rIns="0" bIns="0" rtlCol="0" anchor="ctr"/>
          <a:lstStyle/>
          <a:p>
            <a:pPr indent="0" marL="0">
              <a:buNone/>
            </a:pPr>
            <a:r>
              <a:rPr lang="en-US" sz="1000" b="1" dirty="0">
                <a:solidFill>
                  <a:srgbClr val="3B6EA5"/>
                </a:solidFill>
                <a:latin typeface="Calibri" pitchFamily="34" charset="0"/>
                <a:ea typeface="Calibri" pitchFamily="34" charset="-122"/>
                <a:cs typeface="Calibri" pitchFamily="34" charset="-120"/>
              </a:rPr>
              <a:t>FEASIBILITY</a:t>
            </a:r>
            <a:endParaRPr lang="en-US" sz="1000" dirty="0"/>
          </a:p>
        </p:txBody>
      </p:sp>
      <p:sp>
        <p:nvSpPr>
          <p:cNvPr id="59" name="Text 57"/>
          <p:cNvSpPr/>
          <p:nvPr/>
        </p:nvSpPr>
        <p:spPr>
          <a:xfrm>
            <a:off x="8796528" y="3730752"/>
            <a:ext cx="1856232" cy="310896"/>
          </a:xfrm>
          <a:prstGeom prst="rect">
            <a:avLst/>
          </a:prstGeom>
          <a:noFill/>
          <a:ln/>
        </p:spPr>
        <p:txBody>
          <a:bodyPr wrap="square" lIns="0" tIns="0" rIns="0" bIns="0" rtlCol="0" anchor="ctr"/>
          <a:lstStyle/>
          <a:p>
            <a:pPr indent="0" marL="0">
              <a:buNone/>
            </a:pPr>
            <a:r>
              <a:rPr lang="en-US" sz="950" dirty="0">
                <a:solidFill>
                  <a:srgbClr val="2A2E45"/>
                </a:solidFill>
                <a:latin typeface="Calibri" pitchFamily="34" charset="0"/>
                <a:ea typeface="Calibri" pitchFamily="34" charset="-122"/>
                <a:cs typeface="Calibri" pitchFamily="34" charset="-120"/>
              </a:rPr>
              <a:t>Technical Feasibility</a:t>
            </a:r>
            <a:endParaRPr lang="en-US" sz="950" dirty="0"/>
          </a:p>
        </p:txBody>
      </p:sp>
      <p:sp>
        <p:nvSpPr>
          <p:cNvPr id="60" name="Shape 58"/>
          <p:cNvSpPr/>
          <p:nvPr/>
        </p:nvSpPr>
        <p:spPr>
          <a:xfrm>
            <a:off x="10588752" y="3767328"/>
            <a:ext cx="301752" cy="237744"/>
          </a:xfrm>
          <a:prstGeom prst="roundRect">
            <a:avLst>
              <a:gd name="adj" fmla="val 15385"/>
            </a:avLst>
          </a:prstGeom>
          <a:solidFill>
            <a:srgbClr val="FFFFFF"/>
          </a:solidFill>
          <a:ln w="12700">
            <a:solidFill>
              <a:srgbClr val="D7DEE9"/>
            </a:solidFill>
            <a:prstDash val="solid"/>
          </a:ln>
        </p:spPr>
      </p:sp>
      <p:sp>
        <p:nvSpPr>
          <p:cNvPr id="61" name="Text 59"/>
          <p:cNvSpPr/>
          <p:nvPr/>
        </p:nvSpPr>
        <p:spPr>
          <a:xfrm>
            <a:off x="10588752" y="3767328"/>
            <a:ext cx="301752" cy="237744"/>
          </a:xfrm>
          <a:prstGeom prst="rect">
            <a:avLst/>
          </a:prstGeom>
          <a:noFill/>
          <a:ln/>
        </p:spPr>
        <p:txBody>
          <a:bodyPr wrap="square" lIns="0" tIns="0" rIns="0" bIns="0" rtlCol="0" anchor="ctr"/>
          <a:lstStyle/>
          <a:p>
            <a:pPr algn="ctr" indent="0" marL="0">
              <a:buNone/>
            </a:pPr>
            <a:r>
              <a:rPr lang="en-US" sz="850" dirty="0">
                <a:solidFill>
                  <a:srgbClr val="2A2E45"/>
                </a:solidFill>
                <a:latin typeface="Calibri" pitchFamily="34" charset="0"/>
                <a:ea typeface="Calibri" pitchFamily="34" charset="-122"/>
                <a:cs typeface="Calibri" pitchFamily="34" charset="-120"/>
              </a:rPr>
              <a:t>L</a:t>
            </a:r>
            <a:endParaRPr lang="en-US" sz="850" dirty="0"/>
          </a:p>
        </p:txBody>
      </p:sp>
      <p:sp>
        <p:nvSpPr>
          <p:cNvPr id="62" name="Shape 60"/>
          <p:cNvSpPr/>
          <p:nvPr/>
        </p:nvSpPr>
        <p:spPr>
          <a:xfrm>
            <a:off x="10963656" y="3767328"/>
            <a:ext cx="301752" cy="237744"/>
          </a:xfrm>
          <a:prstGeom prst="roundRect">
            <a:avLst>
              <a:gd name="adj" fmla="val 15385"/>
            </a:avLst>
          </a:prstGeom>
          <a:solidFill>
            <a:srgbClr val="3B6EA5"/>
          </a:solidFill>
          <a:ln w="12700">
            <a:solidFill>
              <a:srgbClr val="3B6EA5"/>
            </a:solidFill>
            <a:prstDash val="solid"/>
          </a:ln>
        </p:spPr>
      </p:sp>
      <p:sp>
        <p:nvSpPr>
          <p:cNvPr id="63" name="Text 61"/>
          <p:cNvSpPr/>
          <p:nvPr/>
        </p:nvSpPr>
        <p:spPr>
          <a:xfrm>
            <a:off x="10963656" y="3767328"/>
            <a:ext cx="301752" cy="237744"/>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M</a:t>
            </a:r>
            <a:endParaRPr lang="en-US" sz="850" dirty="0"/>
          </a:p>
        </p:txBody>
      </p:sp>
      <p:sp>
        <p:nvSpPr>
          <p:cNvPr id="64" name="Shape 62"/>
          <p:cNvSpPr/>
          <p:nvPr/>
        </p:nvSpPr>
        <p:spPr>
          <a:xfrm>
            <a:off x="11338560" y="3767328"/>
            <a:ext cx="301752" cy="237744"/>
          </a:xfrm>
          <a:prstGeom prst="roundRect">
            <a:avLst>
              <a:gd name="adj" fmla="val 15385"/>
            </a:avLst>
          </a:prstGeom>
          <a:solidFill>
            <a:srgbClr val="FFFFFF"/>
          </a:solidFill>
          <a:ln w="12700">
            <a:solidFill>
              <a:srgbClr val="D7DEE9"/>
            </a:solidFill>
            <a:prstDash val="solid"/>
          </a:ln>
        </p:spPr>
      </p:sp>
      <p:sp>
        <p:nvSpPr>
          <p:cNvPr id="65" name="Text 63"/>
          <p:cNvSpPr/>
          <p:nvPr/>
        </p:nvSpPr>
        <p:spPr>
          <a:xfrm>
            <a:off x="11338560" y="3767328"/>
            <a:ext cx="301752" cy="237744"/>
          </a:xfrm>
          <a:prstGeom prst="rect">
            <a:avLst/>
          </a:prstGeom>
          <a:noFill/>
          <a:ln/>
        </p:spPr>
        <p:txBody>
          <a:bodyPr wrap="square" lIns="0" tIns="0" rIns="0" bIns="0" rtlCol="0" anchor="ctr"/>
          <a:lstStyle/>
          <a:p>
            <a:pPr algn="ctr" indent="0" marL="0">
              <a:buNone/>
            </a:pPr>
            <a:r>
              <a:rPr lang="en-US" sz="850" dirty="0">
                <a:solidFill>
                  <a:srgbClr val="2A2E45"/>
                </a:solidFill>
                <a:latin typeface="Calibri" pitchFamily="34" charset="0"/>
                <a:ea typeface="Calibri" pitchFamily="34" charset="-122"/>
                <a:cs typeface="Calibri" pitchFamily="34" charset="-120"/>
              </a:rPr>
              <a:t>H</a:t>
            </a:r>
            <a:endParaRPr lang="en-US" sz="850" dirty="0"/>
          </a:p>
        </p:txBody>
      </p:sp>
      <p:sp>
        <p:nvSpPr>
          <p:cNvPr id="66" name="Text 64"/>
          <p:cNvSpPr/>
          <p:nvPr/>
        </p:nvSpPr>
        <p:spPr>
          <a:xfrm>
            <a:off x="8796528" y="4096512"/>
            <a:ext cx="1856232" cy="310896"/>
          </a:xfrm>
          <a:prstGeom prst="rect">
            <a:avLst/>
          </a:prstGeom>
          <a:noFill/>
          <a:ln/>
        </p:spPr>
        <p:txBody>
          <a:bodyPr wrap="square" lIns="0" tIns="0" rIns="0" bIns="0" rtlCol="0" anchor="ctr"/>
          <a:lstStyle/>
          <a:p>
            <a:pPr indent="0" marL="0">
              <a:buNone/>
            </a:pPr>
            <a:r>
              <a:rPr lang="en-US" sz="950" dirty="0">
                <a:solidFill>
                  <a:srgbClr val="2A2E45"/>
                </a:solidFill>
                <a:latin typeface="Calibri" pitchFamily="34" charset="0"/>
                <a:ea typeface="Calibri" pitchFamily="34" charset="-122"/>
                <a:cs typeface="Calibri" pitchFamily="34" charset="-120"/>
              </a:rPr>
              <a:t>Organizational Feasibility</a:t>
            </a:r>
            <a:endParaRPr lang="en-US" sz="950" dirty="0"/>
          </a:p>
        </p:txBody>
      </p:sp>
      <p:sp>
        <p:nvSpPr>
          <p:cNvPr id="67" name="Shape 65"/>
          <p:cNvSpPr/>
          <p:nvPr/>
        </p:nvSpPr>
        <p:spPr>
          <a:xfrm>
            <a:off x="10588752" y="4133088"/>
            <a:ext cx="301752" cy="237744"/>
          </a:xfrm>
          <a:prstGeom prst="roundRect">
            <a:avLst>
              <a:gd name="adj" fmla="val 15385"/>
            </a:avLst>
          </a:prstGeom>
          <a:solidFill>
            <a:srgbClr val="FFFFFF"/>
          </a:solidFill>
          <a:ln w="12700">
            <a:solidFill>
              <a:srgbClr val="D7DEE9"/>
            </a:solidFill>
            <a:prstDash val="solid"/>
          </a:ln>
        </p:spPr>
      </p:sp>
      <p:sp>
        <p:nvSpPr>
          <p:cNvPr id="68" name="Text 66"/>
          <p:cNvSpPr/>
          <p:nvPr/>
        </p:nvSpPr>
        <p:spPr>
          <a:xfrm>
            <a:off x="10588752" y="4133088"/>
            <a:ext cx="301752" cy="237744"/>
          </a:xfrm>
          <a:prstGeom prst="rect">
            <a:avLst/>
          </a:prstGeom>
          <a:noFill/>
          <a:ln/>
        </p:spPr>
        <p:txBody>
          <a:bodyPr wrap="square" lIns="0" tIns="0" rIns="0" bIns="0" rtlCol="0" anchor="ctr"/>
          <a:lstStyle/>
          <a:p>
            <a:pPr algn="ctr" indent="0" marL="0">
              <a:buNone/>
            </a:pPr>
            <a:r>
              <a:rPr lang="en-US" sz="850" dirty="0">
                <a:solidFill>
                  <a:srgbClr val="2A2E45"/>
                </a:solidFill>
                <a:latin typeface="Calibri" pitchFamily="34" charset="0"/>
                <a:ea typeface="Calibri" pitchFamily="34" charset="-122"/>
                <a:cs typeface="Calibri" pitchFamily="34" charset="-120"/>
              </a:rPr>
              <a:t>L</a:t>
            </a:r>
            <a:endParaRPr lang="en-US" sz="850" dirty="0"/>
          </a:p>
        </p:txBody>
      </p:sp>
      <p:sp>
        <p:nvSpPr>
          <p:cNvPr id="69" name="Shape 67"/>
          <p:cNvSpPr/>
          <p:nvPr/>
        </p:nvSpPr>
        <p:spPr>
          <a:xfrm>
            <a:off x="10963656" y="4133088"/>
            <a:ext cx="301752" cy="237744"/>
          </a:xfrm>
          <a:prstGeom prst="roundRect">
            <a:avLst>
              <a:gd name="adj" fmla="val 15385"/>
            </a:avLst>
          </a:prstGeom>
          <a:solidFill>
            <a:srgbClr val="3B6EA5"/>
          </a:solidFill>
          <a:ln w="12700">
            <a:solidFill>
              <a:srgbClr val="3B6EA5"/>
            </a:solidFill>
            <a:prstDash val="solid"/>
          </a:ln>
        </p:spPr>
      </p:sp>
      <p:sp>
        <p:nvSpPr>
          <p:cNvPr id="70" name="Text 68"/>
          <p:cNvSpPr/>
          <p:nvPr/>
        </p:nvSpPr>
        <p:spPr>
          <a:xfrm>
            <a:off x="10963656" y="4133088"/>
            <a:ext cx="301752" cy="237744"/>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M</a:t>
            </a:r>
            <a:endParaRPr lang="en-US" sz="850" dirty="0"/>
          </a:p>
        </p:txBody>
      </p:sp>
      <p:sp>
        <p:nvSpPr>
          <p:cNvPr id="71" name="Shape 69"/>
          <p:cNvSpPr/>
          <p:nvPr/>
        </p:nvSpPr>
        <p:spPr>
          <a:xfrm>
            <a:off x="11338560" y="4133088"/>
            <a:ext cx="301752" cy="237744"/>
          </a:xfrm>
          <a:prstGeom prst="roundRect">
            <a:avLst>
              <a:gd name="adj" fmla="val 15385"/>
            </a:avLst>
          </a:prstGeom>
          <a:solidFill>
            <a:srgbClr val="FFFFFF"/>
          </a:solidFill>
          <a:ln w="12700">
            <a:solidFill>
              <a:srgbClr val="D7DEE9"/>
            </a:solidFill>
            <a:prstDash val="solid"/>
          </a:ln>
        </p:spPr>
      </p:sp>
      <p:sp>
        <p:nvSpPr>
          <p:cNvPr id="72" name="Text 70"/>
          <p:cNvSpPr/>
          <p:nvPr/>
        </p:nvSpPr>
        <p:spPr>
          <a:xfrm>
            <a:off x="11338560" y="4133088"/>
            <a:ext cx="301752" cy="237744"/>
          </a:xfrm>
          <a:prstGeom prst="rect">
            <a:avLst/>
          </a:prstGeom>
          <a:noFill/>
          <a:ln/>
        </p:spPr>
        <p:txBody>
          <a:bodyPr wrap="square" lIns="0" tIns="0" rIns="0" bIns="0" rtlCol="0" anchor="ctr"/>
          <a:lstStyle/>
          <a:p>
            <a:pPr algn="ctr" indent="0" marL="0">
              <a:buNone/>
            </a:pPr>
            <a:r>
              <a:rPr lang="en-US" sz="850" dirty="0">
                <a:solidFill>
                  <a:srgbClr val="2A2E45"/>
                </a:solidFill>
                <a:latin typeface="Calibri" pitchFamily="34" charset="0"/>
                <a:ea typeface="Calibri" pitchFamily="34" charset="-122"/>
                <a:cs typeface="Calibri" pitchFamily="34" charset="-120"/>
              </a:rPr>
              <a:t>H</a:t>
            </a:r>
            <a:endParaRPr lang="en-US" sz="850" dirty="0"/>
          </a:p>
        </p:txBody>
      </p:sp>
      <p:sp>
        <p:nvSpPr>
          <p:cNvPr id="73" name="Text 71"/>
          <p:cNvSpPr/>
          <p:nvPr/>
        </p:nvSpPr>
        <p:spPr>
          <a:xfrm>
            <a:off x="8796528" y="4462272"/>
            <a:ext cx="1856232" cy="310896"/>
          </a:xfrm>
          <a:prstGeom prst="rect">
            <a:avLst/>
          </a:prstGeom>
          <a:noFill/>
          <a:ln/>
        </p:spPr>
        <p:txBody>
          <a:bodyPr wrap="square" lIns="0" tIns="0" rIns="0" bIns="0" rtlCol="0" anchor="ctr"/>
          <a:lstStyle/>
          <a:p>
            <a:pPr indent="0" marL="0">
              <a:buNone/>
            </a:pPr>
            <a:r>
              <a:rPr lang="en-US" sz="950" dirty="0">
                <a:solidFill>
                  <a:srgbClr val="2A2E45"/>
                </a:solidFill>
                <a:latin typeface="Calibri" pitchFamily="34" charset="0"/>
                <a:ea typeface="Calibri" pitchFamily="34" charset="-122"/>
                <a:cs typeface="Calibri" pitchFamily="34" charset="-120"/>
              </a:rPr>
              <a:t>Cost Feasibility</a:t>
            </a:r>
            <a:endParaRPr lang="en-US" sz="950" dirty="0"/>
          </a:p>
        </p:txBody>
      </p:sp>
      <p:sp>
        <p:nvSpPr>
          <p:cNvPr id="74" name="Shape 72"/>
          <p:cNvSpPr/>
          <p:nvPr/>
        </p:nvSpPr>
        <p:spPr>
          <a:xfrm>
            <a:off x="10588752" y="4498848"/>
            <a:ext cx="301752" cy="237744"/>
          </a:xfrm>
          <a:prstGeom prst="roundRect">
            <a:avLst>
              <a:gd name="adj" fmla="val 15385"/>
            </a:avLst>
          </a:prstGeom>
          <a:solidFill>
            <a:srgbClr val="FFFFFF"/>
          </a:solidFill>
          <a:ln w="12700">
            <a:solidFill>
              <a:srgbClr val="D7DEE9"/>
            </a:solidFill>
            <a:prstDash val="solid"/>
          </a:ln>
        </p:spPr>
      </p:sp>
      <p:sp>
        <p:nvSpPr>
          <p:cNvPr id="75" name="Text 73"/>
          <p:cNvSpPr/>
          <p:nvPr/>
        </p:nvSpPr>
        <p:spPr>
          <a:xfrm>
            <a:off x="10588752" y="4498848"/>
            <a:ext cx="301752" cy="237744"/>
          </a:xfrm>
          <a:prstGeom prst="rect">
            <a:avLst/>
          </a:prstGeom>
          <a:noFill/>
          <a:ln/>
        </p:spPr>
        <p:txBody>
          <a:bodyPr wrap="square" lIns="0" tIns="0" rIns="0" bIns="0" rtlCol="0" anchor="ctr"/>
          <a:lstStyle/>
          <a:p>
            <a:pPr algn="ctr" indent="0" marL="0">
              <a:buNone/>
            </a:pPr>
            <a:r>
              <a:rPr lang="en-US" sz="850" dirty="0">
                <a:solidFill>
                  <a:srgbClr val="2A2E45"/>
                </a:solidFill>
                <a:latin typeface="Calibri" pitchFamily="34" charset="0"/>
                <a:ea typeface="Calibri" pitchFamily="34" charset="-122"/>
                <a:cs typeface="Calibri" pitchFamily="34" charset="-120"/>
              </a:rPr>
              <a:t>L</a:t>
            </a:r>
            <a:endParaRPr lang="en-US" sz="850" dirty="0"/>
          </a:p>
        </p:txBody>
      </p:sp>
      <p:sp>
        <p:nvSpPr>
          <p:cNvPr id="76" name="Shape 74"/>
          <p:cNvSpPr/>
          <p:nvPr/>
        </p:nvSpPr>
        <p:spPr>
          <a:xfrm>
            <a:off x="10963656" y="4498848"/>
            <a:ext cx="301752" cy="237744"/>
          </a:xfrm>
          <a:prstGeom prst="roundRect">
            <a:avLst>
              <a:gd name="adj" fmla="val 15385"/>
            </a:avLst>
          </a:prstGeom>
          <a:solidFill>
            <a:srgbClr val="3B6EA5"/>
          </a:solidFill>
          <a:ln w="12700">
            <a:solidFill>
              <a:srgbClr val="3B6EA5"/>
            </a:solidFill>
            <a:prstDash val="solid"/>
          </a:ln>
        </p:spPr>
      </p:sp>
      <p:sp>
        <p:nvSpPr>
          <p:cNvPr id="77" name="Text 75"/>
          <p:cNvSpPr/>
          <p:nvPr/>
        </p:nvSpPr>
        <p:spPr>
          <a:xfrm>
            <a:off x="10963656" y="4498848"/>
            <a:ext cx="301752" cy="237744"/>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M</a:t>
            </a:r>
            <a:endParaRPr lang="en-US" sz="850" dirty="0"/>
          </a:p>
        </p:txBody>
      </p:sp>
      <p:sp>
        <p:nvSpPr>
          <p:cNvPr id="78" name="Shape 76"/>
          <p:cNvSpPr/>
          <p:nvPr/>
        </p:nvSpPr>
        <p:spPr>
          <a:xfrm>
            <a:off x="11338560" y="4498848"/>
            <a:ext cx="301752" cy="237744"/>
          </a:xfrm>
          <a:prstGeom prst="roundRect">
            <a:avLst>
              <a:gd name="adj" fmla="val 15385"/>
            </a:avLst>
          </a:prstGeom>
          <a:solidFill>
            <a:srgbClr val="FFFFFF"/>
          </a:solidFill>
          <a:ln w="12700">
            <a:solidFill>
              <a:srgbClr val="D7DEE9"/>
            </a:solidFill>
            <a:prstDash val="solid"/>
          </a:ln>
        </p:spPr>
      </p:sp>
      <p:sp>
        <p:nvSpPr>
          <p:cNvPr id="79" name="Text 77"/>
          <p:cNvSpPr/>
          <p:nvPr/>
        </p:nvSpPr>
        <p:spPr>
          <a:xfrm>
            <a:off x="11338560" y="4498848"/>
            <a:ext cx="301752" cy="237744"/>
          </a:xfrm>
          <a:prstGeom prst="rect">
            <a:avLst/>
          </a:prstGeom>
          <a:noFill/>
          <a:ln/>
        </p:spPr>
        <p:txBody>
          <a:bodyPr wrap="square" lIns="0" tIns="0" rIns="0" bIns="0" rtlCol="0" anchor="ctr"/>
          <a:lstStyle/>
          <a:p>
            <a:pPr algn="ctr" indent="0" marL="0">
              <a:buNone/>
            </a:pPr>
            <a:r>
              <a:rPr lang="en-US" sz="850" dirty="0">
                <a:solidFill>
                  <a:srgbClr val="2A2E45"/>
                </a:solidFill>
                <a:latin typeface="Calibri" pitchFamily="34" charset="0"/>
                <a:ea typeface="Calibri" pitchFamily="34" charset="-122"/>
                <a:cs typeface="Calibri" pitchFamily="34" charset="-120"/>
              </a:rPr>
              <a:t>H</a:t>
            </a:r>
            <a:endParaRPr lang="en-US" sz="850" dirty="0"/>
          </a:p>
        </p:txBody>
      </p:sp>
      <p:sp>
        <p:nvSpPr>
          <p:cNvPr id="80" name="Shape 78"/>
          <p:cNvSpPr/>
          <p:nvPr/>
        </p:nvSpPr>
        <p:spPr>
          <a:xfrm>
            <a:off x="8796528" y="4965192"/>
            <a:ext cx="2825496" cy="0"/>
          </a:xfrm>
          <a:prstGeom prst="line">
            <a:avLst/>
          </a:prstGeom>
          <a:noFill/>
          <a:ln w="12700">
            <a:solidFill>
              <a:srgbClr val="D7DEE9"/>
            </a:solidFill>
            <a:prstDash val="solid"/>
          </a:ln>
        </p:spPr>
      </p:sp>
      <p:sp>
        <p:nvSpPr>
          <p:cNvPr id="81" name="Text 79"/>
          <p:cNvSpPr/>
          <p:nvPr/>
        </p:nvSpPr>
        <p:spPr>
          <a:xfrm>
            <a:off x="8796528" y="5129784"/>
            <a:ext cx="2862072" cy="219456"/>
          </a:xfrm>
          <a:prstGeom prst="rect">
            <a:avLst/>
          </a:prstGeom>
          <a:noFill/>
          <a:ln/>
        </p:spPr>
        <p:txBody>
          <a:bodyPr wrap="square" lIns="0" tIns="0" rIns="0" bIns="0" rtlCol="0" anchor="ctr"/>
          <a:lstStyle/>
          <a:p>
            <a:pPr indent="0" marL="0">
              <a:buNone/>
            </a:pPr>
            <a:r>
              <a:rPr lang="en-US" sz="1000" b="1" dirty="0">
                <a:solidFill>
                  <a:srgbClr val="3B6EA5"/>
                </a:solidFill>
                <a:latin typeface="Calibri" pitchFamily="34" charset="0"/>
                <a:ea typeface="Calibri" pitchFamily="34" charset="-122"/>
                <a:cs typeface="Calibri" pitchFamily="34" charset="-120"/>
              </a:rPr>
              <a:t>TIME TO DEPLOY</a:t>
            </a:r>
            <a:endParaRPr lang="en-US" sz="1000" dirty="0"/>
          </a:p>
        </p:txBody>
      </p:sp>
      <p:sp>
        <p:nvSpPr>
          <p:cNvPr id="82" name="Text 80"/>
          <p:cNvSpPr/>
          <p:nvPr/>
        </p:nvSpPr>
        <p:spPr>
          <a:xfrm>
            <a:off x="8796528" y="5404104"/>
            <a:ext cx="2825496" cy="1133856"/>
          </a:xfrm>
          <a:prstGeom prst="rect">
            <a:avLst/>
          </a:prstGeom>
          <a:noFill/>
          <a:ln/>
        </p:spPr>
        <p:txBody>
          <a:bodyPr wrap="square" lIns="0" tIns="0" rIns="0" bIns="0" rtlCol="0" anchor="t"/>
          <a:lstStyle/>
          <a:p>
            <a:pPr indent="0" marL="0">
              <a:lnSpc>
                <a:spcPct val="104000"/>
              </a:lnSpc>
              <a:buNone/>
            </a:pPr>
            <a:r>
              <a:rPr lang="en-US" sz="900" b="1" dirty="0">
                <a:solidFill>
                  <a:srgbClr val="3A3F55"/>
                </a:solidFill>
                <a:latin typeface="Calibri" pitchFamily="34" charset="0"/>
                <a:ea typeface="Calibri" pitchFamily="34" charset="-122"/>
                <a:cs typeface="Calibri" pitchFamily="34" charset="-120"/>
              </a:rPr>
              <a:t>POC: </a:t>
            </a:r>
            <a:pPr indent="0" marL="0">
              <a:lnSpc>
                <a:spcPct val="104000"/>
              </a:lnSpc>
              <a:buNone/>
            </a:pPr>
            <a:r>
              <a:rPr lang="en-US" sz="900" dirty="0">
                <a:solidFill>
                  <a:srgbClr val="3A3F55"/>
                </a:solidFill>
                <a:latin typeface="Calibri" pitchFamily="34" charset="0"/>
                <a:ea typeface="Calibri" pitchFamily="34" charset="-122"/>
                <a:cs typeface="Calibri" pitchFamily="34" charset="-120"/>
              </a:rPr>
              <a:t>demonstrates feasibility with an end-to-end AI-assisted workflow.
</a:t>
            </a:r>
            <a:endParaRPr lang="en-US" sz="900" dirty="0"/>
          </a:p>
          <a:p>
            <a:pPr indent="0" marL="0">
              <a:lnSpc>
                <a:spcPct val="104000"/>
              </a:lnSpc>
              <a:buNone/>
            </a:pPr>
            <a:r>
              <a:rPr lang="en-US" sz="900" b="1" dirty="0">
                <a:solidFill>
                  <a:srgbClr val="3A3F55"/>
                </a:solidFill>
                <a:latin typeface="Calibri" pitchFamily="34" charset="0"/>
                <a:ea typeface="Calibri" pitchFamily="34" charset="-122"/>
                <a:cs typeface="Calibri" pitchFamily="34" charset="-120"/>
              </a:rPr>
              <a:t>Production: </a:t>
            </a:r>
            <a:pPr indent="0" marL="0">
              <a:lnSpc>
                <a:spcPct val="104000"/>
              </a:lnSpc>
              <a:buNone/>
            </a:pPr>
            <a:r>
              <a:rPr lang="en-US" sz="900" dirty="0">
                <a:solidFill>
                  <a:srgbClr val="3A3F55"/>
                </a:solidFill>
                <a:latin typeface="Calibri" pitchFamily="34" charset="0"/>
                <a:ea typeface="Calibri" pitchFamily="34" charset="-122"/>
                <a:cs typeface="Calibri" pitchFamily="34" charset="-120"/>
              </a:rPr>
              <a:t>approx. 3–6 months, depending on architecture, security assessment, governance, licensing, integration and testing.</a:t>
            </a:r>
            <a:endParaRPr lang="en-US" sz="900" dirty="0"/>
          </a:p>
        </p:txBody>
      </p:sp>
      <p:sp>
        <p:nvSpPr>
          <p:cNvPr id="83" name="Text 81"/>
          <p:cNvSpPr/>
          <p:nvPr/>
        </p:nvSpPr>
        <p:spPr>
          <a:xfrm>
            <a:off x="365760" y="6611112"/>
            <a:ext cx="11457432" cy="292608"/>
          </a:xfrm>
          <a:prstGeom prst="rect">
            <a:avLst/>
          </a:prstGeom>
          <a:noFill/>
          <a:ln/>
        </p:spPr>
        <p:txBody>
          <a:bodyPr wrap="square" lIns="0" tIns="0" rIns="0" bIns="0" rtlCol="0" anchor="t"/>
          <a:lstStyle/>
          <a:p>
            <a:pPr indent="0" marL="0">
              <a:lnSpc>
                <a:spcPct val="105000"/>
              </a:lnSpc>
              <a:buNone/>
            </a:pPr>
            <a:r>
              <a:rPr lang="en-US" sz="750" i="1" dirty="0">
                <a:solidFill>
                  <a:srgbClr val="6B7280"/>
                </a:solidFill>
                <a:latin typeface="Calibri" pitchFamily="34" charset="0"/>
                <a:ea typeface="Calibri" pitchFamily="34" charset="-122"/>
                <a:cs typeface="Calibri" pitchFamily="34" charset="-120"/>
              </a:rPr>
              <a:t>The current Proof of Concept demonstrates the feasibility of the broader production vision through an illustrative access and permission request scenario. The production implementation will require organization-approved AI services, trusted enterprise data sources, ITSM integration, secure enterprise APIs or integration services, and architecture, Information Security, governance, data-residency, and licensing approval. See the following slide for the implemented POC workflow and governance model.</a:t>
            </a:r>
            <a:endParaRPr lang="en-US" sz="7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1234440"/>
          </a:xfrm>
          <a:prstGeom prst="rect">
            <a:avLst/>
          </a:prstGeom>
          <a:solidFill>
            <a:srgbClr val="1E2761"/>
          </a:solidFill>
          <a:ln/>
        </p:spPr>
      </p:sp>
      <p:sp>
        <p:nvSpPr>
          <p:cNvPr id="3" name="Shape 1"/>
          <p:cNvSpPr/>
          <p:nvPr/>
        </p:nvSpPr>
        <p:spPr>
          <a:xfrm>
            <a:off x="10607040" y="-365760"/>
            <a:ext cx="2011680" cy="2011680"/>
          </a:xfrm>
          <a:prstGeom prst="ellipse">
            <a:avLst/>
          </a:prstGeom>
          <a:solidFill>
            <a:srgbClr val="3B6EA5">
              <a:alpha val="18000"/>
            </a:srgbClr>
          </a:solidFill>
          <a:ln/>
        </p:spPr>
      </p:sp>
      <p:sp>
        <p:nvSpPr>
          <p:cNvPr id="4" name="Shape 2"/>
          <p:cNvSpPr/>
          <p:nvPr/>
        </p:nvSpPr>
        <p:spPr>
          <a:xfrm>
            <a:off x="11521440" y="640080"/>
            <a:ext cx="1005840" cy="1005840"/>
          </a:xfrm>
          <a:prstGeom prst="ellipse">
            <a:avLst/>
          </a:prstGeom>
          <a:solidFill>
            <a:srgbClr val="3B6EA5">
              <a:alpha val="18000"/>
            </a:srgbClr>
          </a:solidFill>
          <a:ln/>
        </p:spPr>
      </p:sp>
      <p:sp>
        <p:nvSpPr>
          <p:cNvPr id="5" name="Shape 3"/>
          <p:cNvSpPr/>
          <p:nvPr/>
        </p:nvSpPr>
        <p:spPr>
          <a:xfrm>
            <a:off x="9784080" y="822960"/>
            <a:ext cx="457200" cy="457200"/>
          </a:xfrm>
          <a:prstGeom prst="ellipse">
            <a:avLst/>
          </a:prstGeom>
          <a:solidFill>
            <a:srgbClr val="3B6EA5">
              <a:alpha val="18000"/>
            </a:srgbClr>
          </a:solidFill>
          <a:ln/>
        </p:spPr>
      </p:sp>
      <p:sp>
        <p:nvSpPr>
          <p:cNvPr id="6" name="Shape 4"/>
          <p:cNvSpPr/>
          <p:nvPr/>
        </p:nvSpPr>
        <p:spPr>
          <a:xfrm>
            <a:off x="274320" y="594360"/>
            <a:ext cx="822960" cy="822960"/>
          </a:xfrm>
          <a:prstGeom prst="ellipse">
            <a:avLst/>
          </a:prstGeom>
          <a:solidFill>
            <a:srgbClr val="3B6EA5">
              <a:alpha val="18000"/>
            </a:srgbClr>
          </a:solidFill>
          <a:ln/>
        </p:spPr>
      </p:sp>
      <p:sp>
        <p:nvSpPr>
          <p:cNvPr id="7" name="Shape 5"/>
          <p:cNvSpPr/>
          <p:nvPr/>
        </p:nvSpPr>
        <p:spPr>
          <a:xfrm>
            <a:off x="8503920" y="182880"/>
            <a:ext cx="320040" cy="320040"/>
          </a:xfrm>
          <a:prstGeom prst="ellipse">
            <a:avLst/>
          </a:prstGeom>
          <a:solidFill>
            <a:srgbClr val="3B6EA5">
              <a:alpha val="18000"/>
            </a:srgbClr>
          </a:solidFill>
          <a:ln/>
        </p:spPr>
      </p:sp>
      <p:sp>
        <p:nvSpPr>
          <p:cNvPr id="8" name="Shape 6"/>
          <p:cNvSpPr/>
          <p:nvPr/>
        </p:nvSpPr>
        <p:spPr>
          <a:xfrm>
            <a:off x="10881360" y="1005840"/>
            <a:ext cx="274320" cy="274320"/>
          </a:xfrm>
          <a:prstGeom prst="ellipse">
            <a:avLst/>
          </a:prstGeom>
          <a:solidFill>
            <a:srgbClr val="3B6EA5">
              <a:alpha val="18000"/>
            </a:srgbClr>
          </a:solidFill>
          <a:ln/>
        </p:spPr>
      </p:sp>
      <p:sp>
        <p:nvSpPr>
          <p:cNvPr id="9" name="Text 7"/>
          <p:cNvSpPr/>
          <p:nvPr/>
        </p:nvSpPr>
        <p:spPr>
          <a:xfrm>
            <a:off x="457200" y="146304"/>
            <a:ext cx="10789920" cy="566928"/>
          </a:xfrm>
          <a:prstGeom prst="rect">
            <a:avLst/>
          </a:prstGeom>
          <a:noFill/>
          <a:ln/>
        </p:spPr>
        <p:txBody>
          <a:bodyPr wrap="square" lIns="0" tIns="0" rIns="0" bIns="0" rtlCol="0" anchor="ctr"/>
          <a:lstStyle/>
          <a:p>
            <a:pPr algn="l" indent="0" marL="0">
              <a:buNone/>
            </a:pPr>
            <a:r>
              <a:rPr lang="en-US" sz="2600" b="1" dirty="0">
                <a:solidFill>
                  <a:srgbClr val="FFFFFF"/>
                </a:solidFill>
                <a:latin typeface="Cambria" pitchFamily="34" charset="0"/>
                <a:ea typeface="Cambria" pitchFamily="34" charset="-122"/>
                <a:cs typeface="Cambria" pitchFamily="34" charset="-120"/>
              </a:rPr>
              <a:t>POC Workflow &amp; AI Governance</a:t>
            </a:r>
            <a:endParaRPr lang="en-US" sz="2600" dirty="0"/>
          </a:p>
        </p:txBody>
      </p:sp>
      <p:sp>
        <p:nvSpPr>
          <p:cNvPr id="10" name="Text 8"/>
          <p:cNvSpPr/>
          <p:nvPr/>
        </p:nvSpPr>
        <p:spPr>
          <a:xfrm>
            <a:off x="457200" y="621792"/>
            <a:ext cx="7315200" cy="274320"/>
          </a:xfrm>
          <a:prstGeom prst="rect">
            <a:avLst/>
          </a:prstGeom>
          <a:noFill/>
          <a:ln/>
        </p:spPr>
        <p:txBody>
          <a:bodyPr wrap="square" lIns="0" tIns="0" rIns="0" bIns="0" rtlCol="0" anchor="ctr"/>
          <a:lstStyle/>
          <a:p>
            <a:pPr indent="0" marL="0">
              <a:buNone/>
            </a:pPr>
            <a:r>
              <a:rPr lang="en-US" sz="1300" b="1" dirty="0">
                <a:solidFill>
                  <a:srgbClr val="CADCFC"/>
                </a:solidFill>
                <a:latin typeface="Calibri" pitchFamily="34" charset="0"/>
                <a:ea typeface="Calibri" pitchFamily="34" charset="-122"/>
                <a:cs typeface="Calibri" pitchFamily="34" charset="-120"/>
              </a:rPr>
              <a:t>Illustrative POC Scenario: Access and Permission Requests</a:t>
            </a:r>
            <a:endParaRPr lang="en-US" sz="1300" dirty="0"/>
          </a:p>
        </p:txBody>
      </p:sp>
      <p:sp>
        <p:nvSpPr>
          <p:cNvPr id="11" name="Text 9"/>
          <p:cNvSpPr/>
          <p:nvPr/>
        </p:nvSpPr>
        <p:spPr>
          <a:xfrm>
            <a:off x="457200" y="868680"/>
            <a:ext cx="10607040" cy="320040"/>
          </a:xfrm>
          <a:prstGeom prst="rect">
            <a:avLst/>
          </a:prstGeom>
          <a:noFill/>
          <a:ln/>
        </p:spPr>
        <p:txBody>
          <a:bodyPr wrap="square" lIns="0" tIns="0" rIns="0" bIns="0" rtlCol="0" anchor="ctr"/>
          <a:lstStyle/>
          <a:p>
            <a:pPr indent="0" marL="0">
              <a:buNone/>
            </a:pPr>
            <a:r>
              <a:rPr lang="en-US" sz="1050" i="1" dirty="0">
                <a:solidFill>
                  <a:srgbClr val="CADCFC"/>
                </a:solidFill>
                <a:latin typeface="Calibri" pitchFamily="34" charset="0"/>
                <a:ea typeface="Calibri" pitchFamily="34" charset="-122"/>
                <a:cs typeface="Calibri" pitchFamily="34" charset="-120"/>
              </a:rPr>
              <a:t>AI acts as an intelligent support layer, not an autonomous execution mechanism. Sensitive actions remain under human control.</a:t>
            </a:r>
            <a:endParaRPr lang="en-US" sz="1050" dirty="0"/>
          </a:p>
        </p:txBody>
      </p:sp>
      <p:sp>
        <p:nvSpPr>
          <p:cNvPr id="12" name="Shape 10"/>
          <p:cNvSpPr/>
          <p:nvPr/>
        </p:nvSpPr>
        <p:spPr>
          <a:xfrm>
            <a:off x="365760" y="1344168"/>
            <a:ext cx="11457432" cy="292608"/>
          </a:xfrm>
          <a:prstGeom prst="rect">
            <a:avLst/>
          </a:prstGeom>
          <a:solidFill>
            <a:srgbClr val="26325E"/>
          </a:solidFill>
          <a:ln/>
        </p:spPr>
      </p:sp>
      <p:sp>
        <p:nvSpPr>
          <p:cNvPr id="13" name="Text 11"/>
          <p:cNvSpPr/>
          <p:nvPr/>
        </p:nvSpPr>
        <p:spPr>
          <a:xfrm>
            <a:off x="457200" y="1344168"/>
            <a:ext cx="11274552" cy="292608"/>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Implemented POC Workflow</a:t>
            </a:r>
            <a:endParaRPr lang="en-US" sz="1250" dirty="0"/>
          </a:p>
        </p:txBody>
      </p:sp>
      <p:sp>
        <p:nvSpPr>
          <p:cNvPr id="14" name="Shape 12"/>
          <p:cNvSpPr/>
          <p:nvPr/>
        </p:nvSpPr>
        <p:spPr>
          <a:xfrm>
            <a:off x="365760" y="1636776"/>
            <a:ext cx="11457432" cy="2313432"/>
          </a:xfrm>
          <a:prstGeom prst="rect">
            <a:avLst/>
          </a:prstGeom>
          <a:solidFill>
            <a:srgbClr val="F7F9FC"/>
          </a:solidFill>
          <a:ln w="9525">
            <a:solidFill>
              <a:srgbClr val="D7DEE9"/>
            </a:solidFill>
            <a:prstDash val="solid"/>
          </a:ln>
        </p:spPr>
      </p:sp>
      <p:sp>
        <p:nvSpPr>
          <p:cNvPr id="15" name="Shape 13"/>
          <p:cNvSpPr/>
          <p:nvPr/>
        </p:nvSpPr>
        <p:spPr>
          <a:xfrm>
            <a:off x="530352" y="1847088"/>
            <a:ext cx="1014070" cy="777240"/>
          </a:xfrm>
          <a:prstGeom prst="roundRect">
            <a:avLst>
              <a:gd name="adj" fmla="val 7059"/>
            </a:avLst>
          </a:prstGeom>
          <a:solidFill>
            <a:srgbClr val="1E2761"/>
          </a:solidFill>
          <a:ln/>
        </p:spPr>
      </p:sp>
      <p:sp>
        <p:nvSpPr>
          <p:cNvPr id="16" name="Text 14"/>
          <p:cNvSpPr/>
          <p:nvPr/>
        </p:nvSpPr>
        <p:spPr>
          <a:xfrm>
            <a:off x="530352" y="1847088"/>
            <a:ext cx="1014070" cy="777240"/>
          </a:xfrm>
          <a:prstGeom prst="rect">
            <a:avLst/>
          </a:prstGeom>
          <a:noFill/>
          <a:ln/>
        </p:spPr>
        <p:txBody>
          <a:bodyPr wrap="square" lIns="25400" tIns="25400" rIns="25400" bIns="2540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Incoming</a:t>
            </a:r>
            <a:endParaRPr lang="en-US" sz="800" dirty="0"/>
          </a:p>
          <a:p>
            <a:pPr algn="ctr" indent="0" marL="0">
              <a:buNone/>
            </a:pPr>
            <a:r>
              <a:rPr lang="en-US" sz="800" b="1" dirty="0">
                <a:solidFill>
                  <a:srgbClr val="FFFFFF"/>
                </a:solidFill>
                <a:latin typeface="Calibri" pitchFamily="34" charset="0"/>
                <a:ea typeface="Calibri" pitchFamily="34" charset="-122"/>
                <a:cs typeface="Calibri" pitchFamily="34" charset="-120"/>
              </a:rPr>
              <a:t>Email</a:t>
            </a:r>
            <a:endParaRPr lang="en-US" sz="800" dirty="0"/>
          </a:p>
        </p:txBody>
      </p:sp>
      <p:sp>
        <p:nvSpPr>
          <p:cNvPr id="17" name="Text 15"/>
          <p:cNvSpPr/>
          <p:nvPr/>
        </p:nvSpPr>
        <p:spPr>
          <a:xfrm>
            <a:off x="1544422" y="1847088"/>
            <a:ext cx="109728" cy="777240"/>
          </a:xfrm>
          <a:prstGeom prst="rect">
            <a:avLst/>
          </a:prstGeom>
          <a:noFill/>
          <a:ln/>
        </p:spPr>
        <p:txBody>
          <a:bodyPr wrap="square" lIns="0" tIns="0" rIns="0" bIns="0" rtlCol="0" anchor="ctr"/>
          <a:lstStyle/>
          <a:p>
            <a:pPr algn="ctr" indent="0" marL="0">
              <a:buNone/>
            </a:pPr>
            <a:r>
              <a:rPr lang="en-US" sz="1100" b="1" dirty="0">
                <a:solidFill>
                  <a:srgbClr val="2A2E45"/>
                </a:solidFill>
                <a:latin typeface="Calibri" pitchFamily="34" charset="0"/>
                <a:ea typeface="Calibri" pitchFamily="34" charset="-122"/>
                <a:cs typeface="Calibri" pitchFamily="34" charset="-120"/>
              </a:rPr>
              <a:t>→</a:t>
            </a:r>
            <a:endParaRPr lang="en-US" sz="1100" dirty="0"/>
          </a:p>
        </p:txBody>
      </p:sp>
      <p:sp>
        <p:nvSpPr>
          <p:cNvPr id="18" name="Shape 16"/>
          <p:cNvSpPr/>
          <p:nvPr/>
        </p:nvSpPr>
        <p:spPr>
          <a:xfrm>
            <a:off x="1654150" y="1847088"/>
            <a:ext cx="1014070" cy="777240"/>
          </a:xfrm>
          <a:prstGeom prst="roundRect">
            <a:avLst>
              <a:gd name="adj" fmla="val 7059"/>
            </a:avLst>
          </a:prstGeom>
          <a:solidFill>
            <a:srgbClr val="1E2761"/>
          </a:solidFill>
          <a:ln/>
        </p:spPr>
      </p:sp>
      <p:sp>
        <p:nvSpPr>
          <p:cNvPr id="19" name="Text 17"/>
          <p:cNvSpPr/>
          <p:nvPr/>
        </p:nvSpPr>
        <p:spPr>
          <a:xfrm>
            <a:off x="1654150" y="1847088"/>
            <a:ext cx="1014070" cy="777240"/>
          </a:xfrm>
          <a:prstGeom prst="rect">
            <a:avLst/>
          </a:prstGeom>
          <a:noFill/>
          <a:ln/>
        </p:spPr>
        <p:txBody>
          <a:bodyPr wrap="square" lIns="25400" tIns="25400" rIns="25400" bIns="2540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AI</a:t>
            </a:r>
            <a:endParaRPr lang="en-US" sz="800" dirty="0"/>
          </a:p>
          <a:p>
            <a:pPr algn="ctr" indent="0" marL="0">
              <a:buNone/>
            </a:pPr>
            <a:r>
              <a:rPr lang="en-US" sz="800" b="1" dirty="0">
                <a:solidFill>
                  <a:srgbClr val="FFFFFF"/>
                </a:solidFill>
                <a:latin typeface="Calibri" pitchFamily="34" charset="0"/>
                <a:ea typeface="Calibri" pitchFamily="34" charset="-122"/>
                <a:cs typeface="Calibri" pitchFamily="34" charset="-120"/>
              </a:rPr>
              <a:t>Analysis</a:t>
            </a:r>
            <a:endParaRPr lang="en-US" sz="800" dirty="0"/>
          </a:p>
        </p:txBody>
      </p:sp>
      <p:sp>
        <p:nvSpPr>
          <p:cNvPr id="20" name="Text 18"/>
          <p:cNvSpPr/>
          <p:nvPr/>
        </p:nvSpPr>
        <p:spPr>
          <a:xfrm>
            <a:off x="2668219" y="1847088"/>
            <a:ext cx="109728" cy="777240"/>
          </a:xfrm>
          <a:prstGeom prst="rect">
            <a:avLst/>
          </a:prstGeom>
          <a:noFill/>
          <a:ln/>
        </p:spPr>
        <p:txBody>
          <a:bodyPr wrap="square" lIns="0" tIns="0" rIns="0" bIns="0" rtlCol="0" anchor="ctr"/>
          <a:lstStyle/>
          <a:p>
            <a:pPr algn="ctr" indent="0" marL="0">
              <a:buNone/>
            </a:pPr>
            <a:r>
              <a:rPr lang="en-US" sz="1100" b="1" dirty="0">
                <a:solidFill>
                  <a:srgbClr val="2A2E45"/>
                </a:solidFill>
                <a:latin typeface="Calibri" pitchFamily="34" charset="0"/>
                <a:ea typeface="Calibri" pitchFamily="34" charset="-122"/>
                <a:cs typeface="Calibri" pitchFamily="34" charset="-120"/>
              </a:rPr>
              <a:t>→</a:t>
            </a:r>
            <a:endParaRPr lang="en-US" sz="1100" dirty="0"/>
          </a:p>
        </p:txBody>
      </p:sp>
      <p:sp>
        <p:nvSpPr>
          <p:cNvPr id="21" name="Shape 19"/>
          <p:cNvSpPr/>
          <p:nvPr/>
        </p:nvSpPr>
        <p:spPr>
          <a:xfrm>
            <a:off x="2777947" y="1847088"/>
            <a:ext cx="1014070" cy="777240"/>
          </a:xfrm>
          <a:prstGeom prst="roundRect">
            <a:avLst>
              <a:gd name="adj" fmla="val 7059"/>
            </a:avLst>
          </a:prstGeom>
          <a:solidFill>
            <a:srgbClr val="1E2761"/>
          </a:solidFill>
          <a:ln/>
        </p:spPr>
      </p:sp>
      <p:sp>
        <p:nvSpPr>
          <p:cNvPr id="22" name="Text 20"/>
          <p:cNvSpPr/>
          <p:nvPr/>
        </p:nvSpPr>
        <p:spPr>
          <a:xfrm>
            <a:off x="2777947" y="1847088"/>
            <a:ext cx="1014070" cy="777240"/>
          </a:xfrm>
          <a:prstGeom prst="rect">
            <a:avLst/>
          </a:prstGeom>
          <a:noFill/>
          <a:ln/>
        </p:spPr>
        <p:txBody>
          <a:bodyPr wrap="square" lIns="25400" tIns="25400" rIns="25400" bIns="2540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Data</a:t>
            </a:r>
            <a:endParaRPr lang="en-US" sz="800" dirty="0"/>
          </a:p>
          <a:p>
            <a:pPr algn="ctr" indent="0" marL="0">
              <a:buNone/>
            </a:pPr>
            <a:r>
              <a:rPr lang="en-US" sz="800" b="1" dirty="0">
                <a:solidFill>
                  <a:srgbClr val="FFFFFF"/>
                </a:solidFill>
                <a:latin typeface="Calibri" pitchFamily="34" charset="0"/>
                <a:ea typeface="Calibri" pitchFamily="34" charset="-122"/>
                <a:cs typeface="Calibri" pitchFamily="34" charset="-120"/>
              </a:rPr>
              <a:t>Extraction</a:t>
            </a:r>
            <a:endParaRPr lang="en-US" sz="800" dirty="0"/>
          </a:p>
        </p:txBody>
      </p:sp>
      <p:sp>
        <p:nvSpPr>
          <p:cNvPr id="23" name="Text 21"/>
          <p:cNvSpPr/>
          <p:nvPr/>
        </p:nvSpPr>
        <p:spPr>
          <a:xfrm>
            <a:off x="3792017" y="1847088"/>
            <a:ext cx="109728" cy="777240"/>
          </a:xfrm>
          <a:prstGeom prst="rect">
            <a:avLst/>
          </a:prstGeom>
          <a:noFill/>
          <a:ln/>
        </p:spPr>
        <p:txBody>
          <a:bodyPr wrap="square" lIns="0" tIns="0" rIns="0" bIns="0" rtlCol="0" anchor="ctr"/>
          <a:lstStyle/>
          <a:p>
            <a:pPr algn="ctr" indent="0" marL="0">
              <a:buNone/>
            </a:pPr>
            <a:r>
              <a:rPr lang="en-US" sz="1100" b="1" dirty="0">
                <a:solidFill>
                  <a:srgbClr val="2A2E45"/>
                </a:solidFill>
                <a:latin typeface="Calibri" pitchFamily="34" charset="0"/>
                <a:ea typeface="Calibri" pitchFamily="34" charset="-122"/>
                <a:cs typeface="Calibri" pitchFamily="34" charset="-120"/>
              </a:rPr>
              <a:t>→</a:t>
            </a:r>
            <a:endParaRPr lang="en-US" sz="1100" dirty="0"/>
          </a:p>
        </p:txBody>
      </p:sp>
      <p:sp>
        <p:nvSpPr>
          <p:cNvPr id="24" name="Shape 22"/>
          <p:cNvSpPr/>
          <p:nvPr/>
        </p:nvSpPr>
        <p:spPr>
          <a:xfrm>
            <a:off x="3901745" y="1847088"/>
            <a:ext cx="1014070" cy="777240"/>
          </a:xfrm>
          <a:prstGeom prst="roundRect">
            <a:avLst>
              <a:gd name="adj" fmla="val 7059"/>
            </a:avLst>
          </a:prstGeom>
          <a:solidFill>
            <a:srgbClr val="1E2761"/>
          </a:solidFill>
          <a:ln/>
        </p:spPr>
      </p:sp>
      <p:sp>
        <p:nvSpPr>
          <p:cNvPr id="25" name="Text 23"/>
          <p:cNvSpPr/>
          <p:nvPr/>
        </p:nvSpPr>
        <p:spPr>
          <a:xfrm>
            <a:off x="3901745" y="1847088"/>
            <a:ext cx="1014070" cy="777240"/>
          </a:xfrm>
          <a:prstGeom prst="rect">
            <a:avLst/>
          </a:prstGeom>
          <a:noFill/>
          <a:ln/>
        </p:spPr>
        <p:txBody>
          <a:bodyPr wrap="square" lIns="25400" tIns="25400" rIns="25400" bIns="2540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Validation</a:t>
            </a:r>
            <a:endParaRPr lang="en-US" sz="800" dirty="0"/>
          </a:p>
        </p:txBody>
      </p:sp>
      <p:sp>
        <p:nvSpPr>
          <p:cNvPr id="26" name="Text 24"/>
          <p:cNvSpPr/>
          <p:nvPr/>
        </p:nvSpPr>
        <p:spPr>
          <a:xfrm>
            <a:off x="4915814" y="1847088"/>
            <a:ext cx="109728" cy="777240"/>
          </a:xfrm>
          <a:prstGeom prst="rect">
            <a:avLst/>
          </a:prstGeom>
          <a:noFill/>
          <a:ln/>
        </p:spPr>
        <p:txBody>
          <a:bodyPr wrap="square" lIns="0" tIns="0" rIns="0" bIns="0" rtlCol="0" anchor="ctr"/>
          <a:lstStyle/>
          <a:p>
            <a:pPr algn="ctr" indent="0" marL="0">
              <a:buNone/>
            </a:pPr>
            <a:r>
              <a:rPr lang="en-US" sz="1100" b="1" dirty="0">
                <a:solidFill>
                  <a:srgbClr val="2A2E45"/>
                </a:solidFill>
                <a:latin typeface="Calibri" pitchFamily="34" charset="0"/>
                <a:ea typeface="Calibri" pitchFamily="34" charset="-122"/>
                <a:cs typeface="Calibri" pitchFamily="34" charset="-120"/>
              </a:rPr>
              <a:t>→</a:t>
            </a:r>
            <a:endParaRPr lang="en-US" sz="1100" dirty="0"/>
          </a:p>
        </p:txBody>
      </p:sp>
      <p:sp>
        <p:nvSpPr>
          <p:cNvPr id="27" name="Shape 25"/>
          <p:cNvSpPr/>
          <p:nvPr/>
        </p:nvSpPr>
        <p:spPr>
          <a:xfrm>
            <a:off x="5025542" y="1847088"/>
            <a:ext cx="1014070" cy="777240"/>
          </a:xfrm>
          <a:prstGeom prst="roundRect">
            <a:avLst>
              <a:gd name="adj" fmla="val 7059"/>
            </a:avLst>
          </a:prstGeom>
          <a:solidFill>
            <a:srgbClr val="1E2761"/>
          </a:solidFill>
          <a:ln/>
        </p:spPr>
      </p:sp>
      <p:sp>
        <p:nvSpPr>
          <p:cNvPr id="28" name="Text 26"/>
          <p:cNvSpPr/>
          <p:nvPr/>
        </p:nvSpPr>
        <p:spPr>
          <a:xfrm>
            <a:off x="5025542" y="1847088"/>
            <a:ext cx="1014070" cy="777240"/>
          </a:xfrm>
          <a:prstGeom prst="rect">
            <a:avLst/>
          </a:prstGeom>
          <a:noFill/>
          <a:ln/>
        </p:spPr>
        <p:txBody>
          <a:bodyPr wrap="square" lIns="25400" tIns="25400" rIns="25400" bIns="2540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Enterprise</a:t>
            </a:r>
            <a:endParaRPr lang="en-US" sz="800" dirty="0"/>
          </a:p>
          <a:p>
            <a:pPr algn="ctr" indent="0" marL="0">
              <a:buNone/>
            </a:pPr>
            <a:r>
              <a:rPr lang="en-US" sz="800" b="1" dirty="0">
                <a:solidFill>
                  <a:srgbClr val="FFFFFF"/>
                </a:solidFill>
                <a:latin typeface="Calibri" pitchFamily="34" charset="0"/>
                <a:ea typeface="Calibri" pitchFamily="34" charset="-122"/>
                <a:cs typeface="Calibri" pitchFamily="34" charset="-120"/>
              </a:rPr>
              <a:t>Data Check</a:t>
            </a:r>
            <a:endParaRPr lang="en-US" sz="800" dirty="0"/>
          </a:p>
        </p:txBody>
      </p:sp>
      <p:sp>
        <p:nvSpPr>
          <p:cNvPr id="29" name="Text 27"/>
          <p:cNvSpPr/>
          <p:nvPr/>
        </p:nvSpPr>
        <p:spPr>
          <a:xfrm>
            <a:off x="6039612" y="1847088"/>
            <a:ext cx="109728" cy="777240"/>
          </a:xfrm>
          <a:prstGeom prst="rect">
            <a:avLst/>
          </a:prstGeom>
          <a:noFill/>
          <a:ln/>
        </p:spPr>
        <p:txBody>
          <a:bodyPr wrap="square" lIns="0" tIns="0" rIns="0" bIns="0" rtlCol="0" anchor="ctr"/>
          <a:lstStyle/>
          <a:p>
            <a:pPr algn="ctr" indent="0" marL="0">
              <a:buNone/>
            </a:pPr>
            <a:r>
              <a:rPr lang="en-US" sz="1100" b="1" dirty="0">
                <a:solidFill>
                  <a:srgbClr val="2A2E45"/>
                </a:solidFill>
                <a:latin typeface="Calibri" pitchFamily="34" charset="0"/>
                <a:ea typeface="Calibri" pitchFamily="34" charset="-122"/>
                <a:cs typeface="Calibri" pitchFamily="34" charset="-120"/>
              </a:rPr>
              <a:t>→</a:t>
            </a:r>
            <a:endParaRPr lang="en-US" sz="1100" dirty="0"/>
          </a:p>
        </p:txBody>
      </p:sp>
      <p:sp>
        <p:nvSpPr>
          <p:cNvPr id="30" name="Shape 28"/>
          <p:cNvSpPr/>
          <p:nvPr/>
        </p:nvSpPr>
        <p:spPr>
          <a:xfrm>
            <a:off x="6149340" y="1847088"/>
            <a:ext cx="1014070" cy="777240"/>
          </a:xfrm>
          <a:prstGeom prst="roundRect">
            <a:avLst>
              <a:gd name="adj" fmla="val 7059"/>
            </a:avLst>
          </a:prstGeom>
          <a:solidFill>
            <a:srgbClr val="1E2761"/>
          </a:solidFill>
          <a:ln/>
        </p:spPr>
      </p:sp>
      <p:sp>
        <p:nvSpPr>
          <p:cNvPr id="31" name="Text 29"/>
          <p:cNvSpPr/>
          <p:nvPr/>
        </p:nvSpPr>
        <p:spPr>
          <a:xfrm>
            <a:off x="6149340" y="1847088"/>
            <a:ext cx="1014070" cy="777240"/>
          </a:xfrm>
          <a:prstGeom prst="rect">
            <a:avLst/>
          </a:prstGeom>
          <a:noFill/>
          <a:ln/>
        </p:spPr>
        <p:txBody>
          <a:bodyPr wrap="square" lIns="25400" tIns="25400" rIns="25400" bIns="2540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Action</a:t>
            </a:r>
            <a:endParaRPr lang="en-US" sz="800" dirty="0"/>
          </a:p>
          <a:p>
            <a:pPr algn="ctr" indent="0" marL="0">
              <a:buNone/>
            </a:pPr>
            <a:r>
              <a:rPr lang="en-US" sz="800" b="1" dirty="0">
                <a:solidFill>
                  <a:srgbClr val="FFFFFF"/>
                </a:solidFill>
                <a:latin typeface="Calibri" pitchFamily="34" charset="0"/>
                <a:ea typeface="Calibri" pitchFamily="34" charset="-122"/>
                <a:cs typeface="Calibri" pitchFamily="34" charset="-120"/>
              </a:rPr>
              <a:t>Identification</a:t>
            </a:r>
            <a:endParaRPr lang="en-US" sz="800" dirty="0"/>
          </a:p>
        </p:txBody>
      </p:sp>
      <p:sp>
        <p:nvSpPr>
          <p:cNvPr id="32" name="Text 30"/>
          <p:cNvSpPr/>
          <p:nvPr/>
        </p:nvSpPr>
        <p:spPr>
          <a:xfrm>
            <a:off x="7163410" y="1847088"/>
            <a:ext cx="109728" cy="777240"/>
          </a:xfrm>
          <a:prstGeom prst="rect">
            <a:avLst/>
          </a:prstGeom>
          <a:noFill/>
          <a:ln/>
        </p:spPr>
        <p:txBody>
          <a:bodyPr wrap="square" lIns="0" tIns="0" rIns="0" bIns="0" rtlCol="0" anchor="ctr"/>
          <a:lstStyle/>
          <a:p>
            <a:pPr algn="ctr" indent="0" marL="0">
              <a:buNone/>
            </a:pPr>
            <a:r>
              <a:rPr lang="en-US" sz="1100" b="1" dirty="0">
                <a:solidFill>
                  <a:srgbClr val="2A2E45"/>
                </a:solidFill>
                <a:latin typeface="Calibri" pitchFamily="34" charset="0"/>
                <a:ea typeface="Calibri" pitchFamily="34" charset="-122"/>
                <a:cs typeface="Calibri" pitchFamily="34" charset="-120"/>
              </a:rPr>
              <a:t>→</a:t>
            </a:r>
            <a:endParaRPr lang="en-US" sz="1100" dirty="0"/>
          </a:p>
        </p:txBody>
      </p:sp>
      <p:sp>
        <p:nvSpPr>
          <p:cNvPr id="33" name="Shape 31"/>
          <p:cNvSpPr/>
          <p:nvPr/>
        </p:nvSpPr>
        <p:spPr>
          <a:xfrm>
            <a:off x="7273138" y="1847088"/>
            <a:ext cx="1014070" cy="777240"/>
          </a:xfrm>
          <a:prstGeom prst="roundRect">
            <a:avLst>
              <a:gd name="adj" fmla="val 7059"/>
            </a:avLst>
          </a:prstGeom>
          <a:solidFill>
            <a:srgbClr val="1E2761"/>
          </a:solidFill>
          <a:ln/>
        </p:spPr>
      </p:sp>
      <p:sp>
        <p:nvSpPr>
          <p:cNvPr id="34" name="Text 32"/>
          <p:cNvSpPr/>
          <p:nvPr/>
        </p:nvSpPr>
        <p:spPr>
          <a:xfrm>
            <a:off x="7273138" y="1847088"/>
            <a:ext cx="1014070" cy="777240"/>
          </a:xfrm>
          <a:prstGeom prst="rect">
            <a:avLst/>
          </a:prstGeom>
          <a:noFill/>
          <a:ln/>
        </p:spPr>
        <p:txBody>
          <a:bodyPr wrap="square" lIns="25400" tIns="25400" rIns="25400" bIns="2540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Script</a:t>
            </a:r>
            <a:endParaRPr lang="en-US" sz="800" dirty="0"/>
          </a:p>
          <a:p>
            <a:pPr algn="ctr" indent="0" marL="0">
              <a:buNone/>
            </a:pPr>
            <a:r>
              <a:rPr lang="en-US" sz="800" b="1" dirty="0">
                <a:solidFill>
                  <a:srgbClr val="FFFFFF"/>
                </a:solidFill>
                <a:latin typeface="Calibri" pitchFamily="34" charset="0"/>
                <a:ea typeface="Calibri" pitchFamily="34" charset="-122"/>
                <a:cs typeface="Calibri" pitchFamily="34" charset="-120"/>
              </a:rPr>
              <a:t>Generation</a:t>
            </a:r>
            <a:endParaRPr lang="en-US" sz="800" dirty="0"/>
          </a:p>
        </p:txBody>
      </p:sp>
      <p:sp>
        <p:nvSpPr>
          <p:cNvPr id="35" name="Text 33"/>
          <p:cNvSpPr/>
          <p:nvPr/>
        </p:nvSpPr>
        <p:spPr>
          <a:xfrm>
            <a:off x="8287207" y="1847088"/>
            <a:ext cx="109728" cy="777240"/>
          </a:xfrm>
          <a:prstGeom prst="rect">
            <a:avLst/>
          </a:prstGeom>
          <a:noFill/>
          <a:ln/>
        </p:spPr>
        <p:txBody>
          <a:bodyPr wrap="square" lIns="0" tIns="0" rIns="0" bIns="0" rtlCol="0" anchor="ctr"/>
          <a:lstStyle/>
          <a:p>
            <a:pPr algn="ctr" indent="0" marL="0">
              <a:buNone/>
            </a:pPr>
            <a:r>
              <a:rPr lang="en-US" sz="1100" b="1" dirty="0">
                <a:solidFill>
                  <a:srgbClr val="2A2E45"/>
                </a:solidFill>
                <a:latin typeface="Calibri" pitchFamily="34" charset="0"/>
                <a:ea typeface="Calibri" pitchFamily="34" charset="-122"/>
                <a:cs typeface="Calibri" pitchFamily="34" charset="-120"/>
              </a:rPr>
              <a:t>→</a:t>
            </a:r>
            <a:endParaRPr lang="en-US" sz="1100" dirty="0"/>
          </a:p>
        </p:txBody>
      </p:sp>
      <p:sp>
        <p:nvSpPr>
          <p:cNvPr id="36" name="Shape 34"/>
          <p:cNvSpPr/>
          <p:nvPr/>
        </p:nvSpPr>
        <p:spPr>
          <a:xfrm>
            <a:off x="8396935" y="1847088"/>
            <a:ext cx="1014070" cy="777240"/>
          </a:xfrm>
          <a:prstGeom prst="roundRect">
            <a:avLst>
              <a:gd name="adj" fmla="val 7059"/>
            </a:avLst>
          </a:prstGeom>
          <a:solidFill>
            <a:srgbClr val="3B6EA5"/>
          </a:solidFill>
          <a:ln/>
        </p:spPr>
      </p:sp>
      <p:sp>
        <p:nvSpPr>
          <p:cNvPr id="37" name="Text 35"/>
          <p:cNvSpPr/>
          <p:nvPr/>
        </p:nvSpPr>
        <p:spPr>
          <a:xfrm>
            <a:off x="8396935" y="1847088"/>
            <a:ext cx="1014070" cy="777240"/>
          </a:xfrm>
          <a:prstGeom prst="rect">
            <a:avLst/>
          </a:prstGeom>
          <a:noFill/>
          <a:ln/>
        </p:spPr>
        <p:txBody>
          <a:bodyPr wrap="square" lIns="25400" tIns="25400" rIns="25400" bIns="2540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Human</a:t>
            </a:r>
            <a:endParaRPr lang="en-US" sz="800" dirty="0"/>
          </a:p>
          <a:p>
            <a:pPr algn="ctr" indent="0" marL="0">
              <a:buNone/>
            </a:pPr>
            <a:r>
              <a:rPr lang="en-US" sz="800" b="1" dirty="0">
                <a:solidFill>
                  <a:srgbClr val="FFFFFF"/>
                </a:solidFill>
                <a:latin typeface="Calibri" pitchFamily="34" charset="0"/>
                <a:ea typeface="Calibri" pitchFamily="34" charset="-122"/>
                <a:cs typeface="Calibri" pitchFamily="34" charset="-120"/>
              </a:rPr>
              <a:t>Approval</a:t>
            </a:r>
            <a:endParaRPr lang="en-US" sz="800" dirty="0"/>
          </a:p>
        </p:txBody>
      </p:sp>
      <p:sp>
        <p:nvSpPr>
          <p:cNvPr id="38" name="Text 36"/>
          <p:cNvSpPr/>
          <p:nvPr/>
        </p:nvSpPr>
        <p:spPr>
          <a:xfrm>
            <a:off x="9411005" y="1847088"/>
            <a:ext cx="109728" cy="777240"/>
          </a:xfrm>
          <a:prstGeom prst="rect">
            <a:avLst/>
          </a:prstGeom>
          <a:noFill/>
          <a:ln/>
        </p:spPr>
        <p:txBody>
          <a:bodyPr wrap="square" lIns="0" tIns="0" rIns="0" bIns="0" rtlCol="0" anchor="ctr"/>
          <a:lstStyle/>
          <a:p>
            <a:pPr algn="ctr" indent="0" marL="0">
              <a:buNone/>
            </a:pPr>
            <a:r>
              <a:rPr lang="en-US" sz="1100" b="1" dirty="0">
                <a:solidFill>
                  <a:srgbClr val="2A2E45"/>
                </a:solidFill>
                <a:latin typeface="Calibri" pitchFamily="34" charset="0"/>
                <a:ea typeface="Calibri" pitchFamily="34" charset="-122"/>
                <a:cs typeface="Calibri" pitchFamily="34" charset="-120"/>
              </a:rPr>
              <a:t>→</a:t>
            </a:r>
            <a:endParaRPr lang="en-US" sz="1100" dirty="0"/>
          </a:p>
        </p:txBody>
      </p:sp>
      <p:sp>
        <p:nvSpPr>
          <p:cNvPr id="39" name="Shape 37"/>
          <p:cNvSpPr/>
          <p:nvPr/>
        </p:nvSpPr>
        <p:spPr>
          <a:xfrm>
            <a:off x="9520733" y="1847088"/>
            <a:ext cx="1014070" cy="777240"/>
          </a:xfrm>
          <a:prstGeom prst="roundRect">
            <a:avLst>
              <a:gd name="adj" fmla="val 7059"/>
            </a:avLst>
          </a:prstGeom>
          <a:solidFill>
            <a:srgbClr val="1E2761"/>
          </a:solidFill>
          <a:ln/>
        </p:spPr>
      </p:sp>
      <p:sp>
        <p:nvSpPr>
          <p:cNvPr id="40" name="Text 38"/>
          <p:cNvSpPr/>
          <p:nvPr/>
        </p:nvSpPr>
        <p:spPr>
          <a:xfrm>
            <a:off x="9520733" y="1847088"/>
            <a:ext cx="1014070" cy="777240"/>
          </a:xfrm>
          <a:prstGeom prst="rect">
            <a:avLst/>
          </a:prstGeom>
          <a:noFill/>
          <a:ln/>
        </p:spPr>
        <p:txBody>
          <a:bodyPr wrap="square" lIns="25400" tIns="25400" rIns="25400" bIns="2540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Ticket</a:t>
            </a:r>
            <a:endParaRPr lang="en-US" sz="800" dirty="0"/>
          </a:p>
          <a:p>
            <a:pPr algn="ctr" indent="0" marL="0">
              <a:buNone/>
            </a:pPr>
            <a:r>
              <a:rPr lang="en-US" sz="800" b="1" dirty="0">
                <a:solidFill>
                  <a:srgbClr val="FFFFFF"/>
                </a:solidFill>
                <a:latin typeface="Calibri" pitchFamily="34" charset="0"/>
                <a:ea typeface="Calibri" pitchFamily="34" charset="-122"/>
                <a:cs typeface="Calibri" pitchFamily="34" charset="-120"/>
              </a:rPr>
              <a:t>Creation</a:t>
            </a:r>
            <a:endParaRPr lang="en-US" sz="800" dirty="0"/>
          </a:p>
        </p:txBody>
      </p:sp>
      <p:sp>
        <p:nvSpPr>
          <p:cNvPr id="41" name="Text 39"/>
          <p:cNvSpPr/>
          <p:nvPr/>
        </p:nvSpPr>
        <p:spPr>
          <a:xfrm>
            <a:off x="10534802" y="1847088"/>
            <a:ext cx="109728" cy="777240"/>
          </a:xfrm>
          <a:prstGeom prst="rect">
            <a:avLst/>
          </a:prstGeom>
          <a:noFill/>
          <a:ln/>
        </p:spPr>
        <p:txBody>
          <a:bodyPr wrap="square" lIns="0" tIns="0" rIns="0" bIns="0" rtlCol="0" anchor="ctr"/>
          <a:lstStyle/>
          <a:p>
            <a:pPr algn="ctr" indent="0" marL="0">
              <a:buNone/>
            </a:pPr>
            <a:r>
              <a:rPr lang="en-US" sz="1100" b="1" dirty="0">
                <a:solidFill>
                  <a:srgbClr val="2A2E45"/>
                </a:solidFill>
                <a:latin typeface="Calibri" pitchFamily="34" charset="0"/>
                <a:ea typeface="Calibri" pitchFamily="34" charset="-122"/>
                <a:cs typeface="Calibri" pitchFamily="34" charset="-120"/>
              </a:rPr>
              <a:t>→</a:t>
            </a:r>
            <a:endParaRPr lang="en-US" sz="1100" dirty="0"/>
          </a:p>
        </p:txBody>
      </p:sp>
      <p:sp>
        <p:nvSpPr>
          <p:cNvPr id="42" name="Shape 40"/>
          <p:cNvSpPr/>
          <p:nvPr/>
        </p:nvSpPr>
        <p:spPr>
          <a:xfrm>
            <a:off x="10644530" y="1847088"/>
            <a:ext cx="1014070" cy="777240"/>
          </a:xfrm>
          <a:prstGeom prst="roundRect">
            <a:avLst>
              <a:gd name="adj" fmla="val 7059"/>
            </a:avLst>
          </a:prstGeom>
          <a:solidFill>
            <a:srgbClr val="1E2761"/>
          </a:solidFill>
          <a:ln/>
        </p:spPr>
      </p:sp>
      <p:sp>
        <p:nvSpPr>
          <p:cNvPr id="43" name="Text 41"/>
          <p:cNvSpPr/>
          <p:nvPr/>
        </p:nvSpPr>
        <p:spPr>
          <a:xfrm>
            <a:off x="10644530" y="1847088"/>
            <a:ext cx="1014070" cy="777240"/>
          </a:xfrm>
          <a:prstGeom prst="rect">
            <a:avLst/>
          </a:prstGeom>
          <a:noFill/>
          <a:ln/>
        </p:spPr>
        <p:txBody>
          <a:bodyPr wrap="square" lIns="25400" tIns="25400" rIns="25400" bIns="2540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Team</a:t>
            </a:r>
            <a:endParaRPr lang="en-US" sz="800" dirty="0"/>
          </a:p>
          <a:p>
            <a:pPr algn="ctr" indent="0" marL="0">
              <a:buNone/>
            </a:pPr>
            <a:r>
              <a:rPr lang="en-US" sz="800" b="1" dirty="0">
                <a:solidFill>
                  <a:srgbClr val="FFFFFF"/>
                </a:solidFill>
                <a:latin typeface="Calibri" pitchFamily="34" charset="0"/>
                <a:ea typeface="Calibri" pitchFamily="34" charset="-122"/>
                <a:cs typeface="Calibri" pitchFamily="34" charset="-120"/>
              </a:rPr>
              <a:t>Notification</a:t>
            </a:r>
            <a:endParaRPr lang="en-US" sz="800" dirty="0"/>
          </a:p>
        </p:txBody>
      </p:sp>
      <p:sp>
        <p:nvSpPr>
          <p:cNvPr id="44" name="Text 42"/>
          <p:cNvSpPr/>
          <p:nvPr/>
        </p:nvSpPr>
        <p:spPr>
          <a:xfrm>
            <a:off x="530352" y="2770632"/>
            <a:ext cx="11128248" cy="1088136"/>
          </a:xfrm>
          <a:prstGeom prst="rect">
            <a:avLst/>
          </a:prstGeom>
          <a:noFill/>
          <a:ln/>
        </p:spPr>
        <p:txBody>
          <a:bodyPr wrap="square" lIns="0" tIns="0" rIns="0" bIns="0" rtlCol="0" anchor="t"/>
          <a:lstStyle/>
          <a:p>
            <a:pPr marL="127000" indent="-127000">
              <a:spcAft>
                <a:spcPts val="400"/>
              </a:spcAft>
              <a:buSzPct val="100000"/>
              <a:buChar char="●"/>
            </a:pPr>
            <a:r>
              <a:rPr lang="en-US" sz="920" dirty="0">
                <a:solidFill>
                  <a:srgbClr val="3A3F55"/>
                </a:solidFill>
                <a:latin typeface="Calibri" pitchFamily="34" charset="0"/>
                <a:ea typeface="Calibri" pitchFamily="34" charset="-122"/>
                <a:cs typeface="Calibri" pitchFamily="34" charset="-120"/>
              </a:rPr>
              <a:t>Filters automated/system emails to prevent the workflow from unintentionally retriggering itself</a:t>
            </a:r>
            <a:endParaRPr lang="en-US" sz="920" dirty="0"/>
          </a:p>
          <a:p>
            <a:pPr marL="127000" indent="-127000">
              <a:spcAft>
                <a:spcPts val="400"/>
              </a:spcAft>
              <a:buSzPct val="100000"/>
              <a:buChar char="●"/>
            </a:pPr>
            <a:r>
              <a:rPr lang="en-US" sz="920" dirty="0">
                <a:solidFill>
                  <a:srgbClr val="3A3F55"/>
                </a:solidFill>
                <a:latin typeface="Calibri" pitchFamily="34" charset="0"/>
                <a:ea typeface="Calibri" pitchFamily="34" charset="-122"/>
                <a:cs typeface="Calibri" pitchFamily="34" charset="-120"/>
              </a:rPr>
              <a:t>Processes multiple permission requests within a single email and classifies each by permission type</a:t>
            </a:r>
            <a:endParaRPr lang="en-US" sz="920" dirty="0"/>
          </a:p>
          <a:p>
            <a:pPr marL="127000" indent="-127000">
              <a:spcAft>
                <a:spcPts val="400"/>
              </a:spcAft>
              <a:buSzPct val="100000"/>
              <a:buChar char="●"/>
            </a:pPr>
            <a:r>
              <a:rPr lang="en-US" sz="920" dirty="0">
                <a:solidFill>
                  <a:srgbClr val="3A3F55"/>
                </a:solidFill>
                <a:latin typeface="Calibri" pitchFamily="34" charset="0"/>
                <a:ea typeface="Calibri" pitchFamily="34" charset="-122"/>
                <a:cs typeface="Calibri" pitchFamily="34" charset="-120"/>
              </a:rPr>
              <a:t>Validates the AI-extracted response before it is used in any downstream step</a:t>
            </a:r>
            <a:endParaRPr lang="en-US" sz="920" dirty="0"/>
          </a:p>
          <a:p>
            <a:pPr marL="127000" indent="-127000">
              <a:spcAft>
                <a:spcPts val="400"/>
              </a:spcAft>
              <a:buSzPct val="100000"/>
              <a:buChar char="●"/>
            </a:pPr>
            <a:r>
              <a:rPr lang="en-US" sz="920" dirty="0">
                <a:solidFill>
                  <a:srgbClr val="3A3F55"/>
                </a:solidFill>
                <a:latin typeface="Calibri" pitchFamily="34" charset="0"/>
                <a:ea typeface="Calibri" pitchFamily="34" charset="-122"/>
                <a:cs typeface="Calibri" pitchFamily="34" charset="-120"/>
              </a:rPr>
              <a:t>For the POC, trusted reference data in SharePoint is used to check roles, facilities, specialties, and mappings. In production, enterprise data verification may be performed through approved databases, APIs, or integration services.</a:t>
            </a:r>
            <a:endParaRPr lang="en-US" sz="920" dirty="0"/>
          </a:p>
          <a:p>
            <a:pPr marL="127000" indent="-127000">
              <a:spcAft>
                <a:spcPts val="400"/>
              </a:spcAft>
              <a:buSzPct val="100000"/>
              <a:buChar char="●"/>
            </a:pPr>
            <a:r>
              <a:rPr lang="en-US" sz="920" dirty="0">
                <a:solidFill>
                  <a:srgbClr val="3A3F55"/>
                </a:solidFill>
                <a:latin typeface="Calibri" pitchFamily="34" charset="0"/>
                <a:ea typeface="Calibri" pitchFamily="34" charset="-122"/>
                <a:cs typeface="Calibri" pitchFamily="34" charset="-120"/>
              </a:rPr>
              <a:t>In this POC, database scripts are generated for technical review when a change is required, and posted to Microsoft Teams. Other IT Support scenarios may produce different controlled actions or tasks.</a:t>
            </a:r>
            <a:endParaRPr lang="en-US" sz="920" dirty="0"/>
          </a:p>
          <a:p>
            <a:pPr marL="127000" indent="-127000">
              <a:spcAft>
                <a:spcPts val="400"/>
              </a:spcAft>
              <a:buSzPct val="100000"/>
              <a:buChar char="●"/>
            </a:pPr>
            <a:r>
              <a:rPr lang="en-US" sz="920" dirty="0">
                <a:solidFill>
                  <a:srgbClr val="3A3F55"/>
                </a:solidFill>
                <a:latin typeface="Calibri" pitchFamily="34" charset="0"/>
                <a:ea typeface="Calibri" pitchFamily="34" charset="-122"/>
                <a:cs typeface="Calibri" pitchFamily="34" charset="-120"/>
              </a:rPr>
              <a:t>Stops processing if the request is rejected; creates the ticket and retrieves the ticket number only after approval, then notifies the responsible team</a:t>
            </a:r>
            <a:endParaRPr lang="en-US" sz="920" dirty="0"/>
          </a:p>
        </p:txBody>
      </p:sp>
      <p:sp>
        <p:nvSpPr>
          <p:cNvPr id="45" name="Shape 43"/>
          <p:cNvSpPr/>
          <p:nvPr/>
        </p:nvSpPr>
        <p:spPr>
          <a:xfrm>
            <a:off x="365760" y="4078224"/>
            <a:ext cx="6949440" cy="292608"/>
          </a:xfrm>
          <a:prstGeom prst="rect">
            <a:avLst/>
          </a:prstGeom>
          <a:solidFill>
            <a:srgbClr val="26325E"/>
          </a:solidFill>
          <a:ln/>
        </p:spPr>
      </p:sp>
      <p:sp>
        <p:nvSpPr>
          <p:cNvPr id="46" name="Text 44"/>
          <p:cNvSpPr/>
          <p:nvPr/>
        </p:nvSpPr>
        <p:spPr>
          <a:xfrm>
            <a:off x="457200" y="4078224"/>
            <a:ext cx="6766560" cy="292608"/>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AI Governance &amp; Security Model</a:t>
            </a:r>
            <a:endParaRPr lang="en-US" sz="1250" dirty="0"/>
          </a:p>
        </p:txBody>
      </p:sp>
      <p:sp>
        <p:nvSpPr>
          <p:cNvPr id="47" name="Shape 45"/>
          <p:cNvSpPr/>
          <p:nvPr/>
        </p:nvSpPr>
        <p:spPr>
          <a:xfrm>
            <a:off x="365760" y="4370832"/>
            <a:ext cx="6949440" cy="1682496"/>
          </a:xfrm>
          <a:prstGeom prst="rect">
            <a:avLst/>
          </a:prstGeom>
          <a:solidFill>
            <a:srgbClr val="F7F9FC"/>
          </a:solidFill>
          <a:ln w="9525">
            <a:solidFill>
              <a:srgbClr val="D7DEE9"/>
            </a:solidFill>
            <a:prstDash val="solid"/>
          </a:ln>
        </p:spPr>
      </p:sp>
      <p:sp>
        <p:nvSpPr>
          <p:cNvPr id="48" name="Shape 46"/>
          <p:cNvSpPr/>
          <p:nvPr/>
        </p:nvSpPr>
        <p:spPr>
          <a:xfrm>
            <a:off x="530352" y="4462272"/>
            <a:ext cx="6620256" cy="246888"/>
          </a:xfrm>
          <a:prstGeom prst="roundRect">
            <a:avLst>
              <a:gd name="adj" fmla="val 14815"/>
            </a:avLst>
          </a:prstGeom>
          <a:solidFill>
            <a:srgbClr val="1E2761"/>
          </a:solidFill>
          <a:ln/>
        </p:spPr>
      </p:sp>
      <p:sp>
        <p:nvSpPr>
          <p:cNvPr id="49" name="Text 47"/>
          <p:cNvSpPr/>
          <p:nvPr/>
        </p:nvSpPr>
        <p:spPr>
          <a:xfrm>
            <a:off x="530352" y="4462272"/>
            <a:ext cx="6620256" cy="246888"/>
          </a:xfrm>
          <a:prstGeom prst="rect">
            <a:avLst/>
          </a:prstGeom>
          <a:noFill/>
          <a:ln/>
        </p:spPr>
        <p:txBody>
          <a:bodyPr wrap="square" lIns="0" tIns="0" rIns="0" bIns="0" rtlCol="0" anchor="ctr"/>
          <a:lstStyle/>
          <a:p>
            <a:pPr algn="ctr" indent="0" marL="0">
              <a:buNone/>
            </a:pPr>
            <a:r>
              <a:rPr lang="en-US" sz="880" b="1" dirty="0">
                <a:solidFill>
                  <a:srgbClr val="FFFFFF"/>
                </a:solidFill>
                <a:latin typeface="Calibri" pitchFamily="34" charset="0"/>
                <a:ea typeface="Calibri" pitchFamily="34" charset="-122"/>
                <a:cs typeface="Calibri" pitchFamily="34" charset="-120"/>
              </a:rPr>
              <a:t>AI Analysis</a:t>
            </a:r>
            <a:endParaRPr lang="en-US" sz="880" dirty="0"/>
          </a:p>
        </p:txBody>
      </p:sp>
      <p:sp>
        <p:nvSpPr>
          <p:cNvPr id="50" name="Text 48"/>
          <p:cNvSpPr/>
          <p:nvPr/>
        </p:nvSpPr>
        <p:spPr>
          <a:xfrm>
            <a:off x="530352" y="4681728"/>
            <a:ext cx="6620256" cy="96012"/>
          </a:xfrm>
          <a:prstGeom prst="rect">
            <a:avLst/>
          </a:prstGeom>
          <a:noFill/>
          <a:ln/>
        </p:spPr>
        <p:txBody>
          <a:bodyPr wrap="square" lIns="0" tIns="0" rIns="0" bIns="0" rtlCol="0" anchor="ctr"/>
          <a:lstStyle/>
          <a:p>
            <a:pPr algn="ctr" indent="0" marL="0">
              <a:buNone/>
            </a:pPr>
            <a:r>
              <a:rPr lang="en-US" sz="1000" b="1" dirty="0">
                <a:solidFill>
                  <a:srgbClr val="3B6EA5"/>
                </a:solidFill>
                <a:latin typeface="Calibri" pitchFamily="34" charset="0"/>
                <a:ea typeface="Calibri" pitchFamily="34" charset="-122"/>
                <a:cs typeface="Calibri" pitchFamily="34" charset="-120"/>
              </a:rPr>
              <a:t>+</a:t>
            </a:r>
            <a:endParaRPr lang="en-US" sz="1000" dirty="0"/>
          </a:p>
        </p:txBody>
      </p:sp>
      <p:sp>
        <p:nvSpPr>
          <p:cNvPr id="51" name="Shape 49"/>
          <p:cNvSpPr/>
          <p:nvPr/>
        </p:nvSpPr>
        <p:spPr>
          <a:xfrm>
            <a:off x="530352" y="4750308"/>
            <a:ext cx="6620256" cy="246888"/>
          </a:xfrm>
          <a:prstGeom prst="roundRect">
            <a:avLst>
              <a:gd name="adj" fmla="val 14815"/>
            </a:avLst>
          </a:prstGeom>
          <a:solidFill>
            <a:srgbClr val="1E2761"/>
          </a:solidFill>
          <a:ln/>
        </p:spPr>
      </p:sp>
      <p:sp>
        <p:nvSpPr>
          <p:cNvPr id="52" name="Text 50"/>
          <p:cNvSpPr/>
          <p:nvPr/>
        </p:nvSpPr>
        <p:spPr>
          <a:xfrm>
            <a:off x="530352" y="4750308"/>
            <a:ext cx="6620256" cy="246888"/>
          </a:xfrm>
          <a:prstGeom prst="rect">
            <a:avLst/>
          </a:prstGeom>
          <a:noFill/>
          <a:ln/>
        </p:spPr>
        <p:txBody>
          <a:bodyPr wrap="square" lIns="0" tIns="0" rIns="0" bIns="0" rtlCol="0" anchor="ctr"/>
          <a:lstStyle/>
          <a:p>
            <a:pPr algn="ctr" indent="0" marL="0">
              <a:buNone/>
            </a:pPr>
            <a:r>
              <a:rPr lang="en-US" sz="880" b="1" dirty="0">
                <a:solidFill>
                  <a:srgbClr val="FFFFFF"/>
                </a:solidFill>
                <a:latin typeface="Calibri" pitchFamily="34" charset="0"/>
                <a:ea typeface="Calibri" pitchFamily="34" charset="-122"/>
                <a:cs typeface="Calibri" pitchFamily="34" charset="-120"/>
              </a:rPr>
              <a:t>Deterministic Validation</a:t>
            </a:r>
            <a:endParaRPr lang="en-US" sz="880" dirty="0"/>
          </a:p>
        </p:txBody>
      </p:sp>
      <p:sp>
        <p:nvSpPr>
          <p:cNvPr id="53" name="Text 51"/>
          <p:cNvSpPr/>
          <p:nvPr/>
        </p:nvSpPr>
        <p:spPr>
          <a:xfrm>
            <a:off x="530352" y="4969764"/>
            <a:ext cx="6620256" cy="96012"/>
          </a:xfrm>
          <a:prstGeom prst="rect">
            <a:avLst/>
          </a:prstGeom>
          <a:noFill/>
          <a:ln/>
        </p:spPr>
        <p:txBody>
          <a:bodyPr wrap="square" lIns="0" tIns="0" rIns="0" bIns="0" rtlCol="0" anchor="ctr"/>
          <a:lstStyle/>
          <a:p>
            <a:pPr algn="ctr" indent="0" marL="0">
              <a:buNone/>
            </a:pPr>
            <a:r>
              <a:rPr lang="en-US" sz="1000" b="1" dirty="0">
                <a:solidFill>
                  <a:srgbClr val="3B6EA5"/>
                </a:solidFill>
                <a:latin typeface="Calibri" pitchFamily="34" charset="0"/>
                <a:ea typeface="Calibri" pitchFamily="34" charset="-122"/>
                <a:cs typeface="Calibri" pitchFamily="34" charset="-120"/>
              </a:rPr>
              <a:t>+</a:t>
            </a:r>
            <a:endParaRPr lang="en-US" sz="1000" dirty="0"/>
          </a:p>
        </p:txBody>
      </p:sp>
      <p:sp>
        <p:nvSpPr>
          <p:cNvPr id="54" name="Shape 52"/>
          <p:cNvSpPr/>
          <p:nvPr/>
        </p:nvSpPr>
        <p:spPr>
          <a:xfrm>
            <a:off x="530352" y="5038344"/>
            <a:ext cx="6620256" cy="246888"/>
          </a:xfrm>
          <a:prstGeom prst="roundRect">
            <a:avLst>
              <a:gd name="adj" fmla="val 14815"/>
            </a:avLst>
          </a:prstGeom>
          <a:solidFill>
            <a:srgbClr val="1E2761"/>
          </a:solidFill>
          <a:ln/>
        </p:spPr>
      </p:sp>
      <p:sp>
        <p:nvSpPr>
          <p:cNvPr id="55" name="Text 53"/>
          <p:cNvSpPr/>
          <p:nvPr/>
        </p:nvSpPr>
        <p:spPr>
          <a:xfrm>
            <a:off x="530352" y="5038344"/>
            <a:ext cx="6620256" cy="246888"/>
          </a:xfrm>
          <a:prstGeom prst="rect">
            <a:avLst/>
          </a:prstGeom>
          <a:noFill/>
          <a:ln/>
        </p:spPr>
        <p:txBody>
          <a:bodyPr wrap="square" lIns="0" tIns="0" rIns="0" bIns="0" rtlCol="0" anchor="ctr"/>
          <a:lstStyle/>
          <a:p>
            <a:pPr algn="ctr" indent="0" marL="0">
              <a:buNone/>
            </a:pPr>
            <a:r>
              <a:rPr lang="en-US" sz="880" b="1" dirty="0">
                <a:solidFill>
                  <a:srgbClr val="FFFFFF"/>
                </a:solidFill>
                <a:latin typeface="Calibri" pitchFamily="34" charset="0"/>
                <a:ea typeface="Calibri" pitchFamily="34" charset="-122"/>
                <a:cs typeface="Calibri" pitchFamily="34" charset="-120"/>
              </a:rPr>
              <a:t>Enterprise Data Verification</a:t>
            </a:r>
            <a:endParaRPr lang="en-US" sz="880" dirty="0"/>
          </a:p>
        </p:txBody>
      </p:sp>
      <p:sp>
        <p:nvSpPr>
          <p:cNvPr id="56" name="Text 54"/>
          <p:cNvSpPr/>
          <p:nvPr/>
        </p:nvSpPr>
        <p:spPr>
          <a:xfrm>
            <a:off x="530352" y="5257800"/>
            <a:ext cx="6620256" cy="96012"/>
          </a:xfrm>
          <a:prstGeom prst="rect">
            <a:avLst/>
          </a:prstGeom>
          <a:noFill/>
          <a:ln/>
        </p:spPr>
        <p:txBody>
          <a:bodyPr wrap="square" lIns="0" tIns="0" rIns="0" bIns="0" rtlCol="0" anchor="ctr"/>
          <a:lstStyle/>
          <a:p>
            <a:pPr algn="ctr" indent="0" marL="0">
              <a:buNone/>
            </a:pPr>
            <a:r>
              <a:rPr lang="en-US" sz="1000" b="1" dirty="0">
                <a:solidFill>
                  <a:srgbClr val="3B6EA5"/>
                </a:solidFill>
                <a:latin typeface="Calibri" pitchFamily="34" charset="0"/>
                <a:ea typeface="Calibri" pitchFamily="34" charset="-122"/>
                <a:cs typeface="Calibri" pitchFamily="34" charset="-120"/>
              </a:rPr>
              <a:t>+</a:t>
            </a:r>
            <a:endParaRPr lang="en-US" sz="1000" dirty="0"/>
          </a:p>
        </p:txBody>
      </p:sp>
      <p:sp>
        <p:nvSpPr>
          <p:cNvPr id="57" name="Shape 55"/>
          <p:cNvSpPr/>
          <p:nvPr/>
        </p:nvSpPr>
        <p:spPr>
          <a:xfrm>
            <a:off x="530352" y="5326380"/>
            <a:ext cx="6620256" cy="246888"/>
          </a:xfrm>
          <a:prstGeom prst="roundRect">
            <a:avLst>
              <a:gd name="adj" fmla="val 14815"/>
            </a:avLst>
          </a:prstGeom>
          <a:solidFill>
            <a:srgbClr val="3B6EA5"/>
          </a:solidFill>
          <a:ln/>
        </p:spPr>
      </p:sp>
      <p:sp>
        <p:nvSpPr>
          <p:cNvPr id="58" name="Text 56"/>
          <p:cNvSpPr/>
          <p:nvPr/>
        </p:nvSpPr>
        <p:spPr>
          <a:xfrm>
            <a:off x="530352" y="5326380"/>
            <a:ext cx="6620256" cy="246888"/>
          </a:xfrm>
          <a:prstGeom prst="rect">
            <a:avLst/>
          </a:prstGeom>
          <a:noFill/>
          <a:ln/>
        </p:spPr>
        <p:txBody>
          <a:bodyPr wrap="square" lIns="0" tIns="0" rIns="0" bIns="0" rtlCol="0" anchor="ctr"/>
          <a:lstStyle/>
          <a:p>
            <a:pPr algn="ctr" indent="0" marL="0">
              <a:buNone/>
            </a:pPr>
            <a:r>
              <a:rPr lang="en-US" sz="880" b="1" dirty="0">
                <a:solidFill>
                  <a:srgbClr val="FFFFFF"/>
                </a:solidFill>
                <a:latin typeface="Calibri" pitchFamily="34" charset="0"/>
                <a:ea typeface="Calibri" pitchFamily="34" charset="-122"/>
                <a:cs typeface="Calibri" pitchFamily="34" charset="-120"/>
              </a:rPr>
              <a:t>Human Approval</a:t>
            </a:r>
            <a:endParaRPr lang="en-US" sz="880" dirty="0"/>
          </a:p>
        </p:txBody>
      </p:sp>
      <p:sp>
        <p:nvSpPr>
          <p:cNvPr id="59" name="Text 57"/>
          <p:cNvSpPr/>
          <p:nvPr/>
        </p:nvSpPr>
        <p:spPr>
          <a:xfrm>
            <a:off x="530352" y="5545836"/>
            <a:ext cx="6620256" cy="96012"/>
          </a:xfrm>
          <a:prstGeom prst="rect">
            <a:avLst/>
          </a:prstGeom>
          <a:noFill/>
          <a:ln/>
        </p:spPr>
        <p:txBody>
          <a:bodyPr wrap="square" lIns="0" tIns="0" rIns="0" bIns="0" rtlCol="0" anchor="ctr"/>
          <a:lstStyle/>
          <a:p>
            <a:pPr algn="ctr" indent="0" marL="0">
              <a:buNone/>
            </a:pPr>
            <a:r>
              <a:rPr lang="en-US" sz="1000" b="1" dirty="0">
                <a:solidFill>
                  <a:srgbClr val="3B6EA5"/>
                </a:solidFill>
                <a:latin typeface="Calibri" pitchFamily="34" charset="0"/>
                <a:ea typeface="Calibri" pitchFamily="34" charset="-122"/>
                <a:cs typeface="Calibri" pitchFamily="34" charset="-120"/>
              </a:rPr>
              <a:t>+</a:t>
            </a:r>
            <a:endParaRPr lang="en-US" sz="1000" dirty="0"/>
          </a:p>
        </p:txBody>
      </p:sp>
      <p:sp>
        <p:nvSpPr>
          <p:cNvPr id="60" name="Shape 58"/>
          <p:cNvSpPr/>
          <p:nvPr/>
        </p:nvSpPr>
        <p:spPr>
          <a:xfrm>
            <a:off x="530352" y="5614416"/>
            <a:ext cx="6620256" cy="246888"/>
          </a:xfrm>
          <a:prstGeom prst="roundRect">
            <a:avLst>
              <a:gd name="adj" fmla="val 14815"/>
            </a:avLst>
          </a:prstGeom>
          <a:solidFill>
            <a:srgbClr val="1E2761"/>
          </a:solidFill>
          <a:ln/>
        </p:spPr>
      </p:sp>
      <p:sp>
        <p:nvSpPr>
          <p:cNvPr id="61" name="Text 59"/>
          <p:cNvSpPr/>
          <p:nvPr/>
        </p:nvSpPr>
        <p:spPr>
          <a:xfrm>
            <a:off x="530352" y="5614416"/>
            <a:ext cx="6620256" cy="246888"/>
          </a:xfrm>
          <a:prstGeom prst="rect">
            <a:avLst/>
          </a:prstGeom>
          <a:noFill/>
          <a:ln/>
        </p:spPr>
        <p:txBody>
          <a:bodyPr wrap="square" lIns="0" tIns="0" rIns="0" bIns="0" rtlCol="0" anchor="ctr"/>
          <a:lstStyle/>
          <a:p>
            <a:pPr algn="ctr" indent="0" marL="0">
              <a:buNone/>
            </a:pPr>
            <a:r>
              <a:rPr lang="en-US" sz="880" b="1" dirty="0">
                <a:solidFill>
                  <a:srgbClr val="FFFFFF"/>
                </a:solidFill>
                <a:latin typeface="Calibri" pitchFamily="34" charset="0"/>
                <a:ea typeface="Calibri" pitchFamily="34" charset="-122"/>
                <a:cs typeface="Calibri" pitchFamily="34" charset="-120"/>
              </a:rPr>
              <a:t>Controlled Automation</a:t>
            </a:r>
            <a:endParaRPr lang="en-US" sz="880" dirty="0"/>
          </a:p>
        </p:txBody>
      </p:sp>
      <p:sp>
        <p:nvSpPr>
          <p:cNvPr id="62" name="Shape 60"/>
          <p:cNvSpPr/>
          <p:nvPr/>
        </p:nvSpPr>
        <p:spPr>
          <a:xfrm>
            <a:off x="7498080" y="4078224"/>
            <a:ext cx="4325112" cy="292608"/>
          </a:xfrm>
          <a:prstGeom prst="rect">
            <a:avLst/>
          </a:prstGeom>
          <a:solidFill>
            <a:srgbClr val="26325E"/>
          </a:solidFill>
          <a:ln/>
        </p:spPr>
      </p:sp>
      <p:sp>
        <p:nvSpPr>
          <p:cNvPr id="63" name="Text 61"/>
          <p:cNvSpPr/>
          <p:nvPr/>
        </p:nvSpPr>
        <p:spPr>
          <a:xfrm>
            <a:off x="7589520" y="4078224"/>
            <a:ext cx="4142232" cy="292608"/>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Principle</a:t>
            </a:r>
            <a:endParaRPr lang="en-US" sz="1250" dirty="0"/>
          </a:p>
        </p:txBody>
      </p:sp>
      <p:sp>
        <p:nvSpPr>
          <p:cNvPr id="64" name="Shape 62"/>
          <p:cNvSpPr/>
          <p:nvPr/>
        </p:nvSpPr>
        <p:spPr>
          <a:xfrm>
            <a:off x="7498080" y="4370832"/>
            <a:ext cx="4325112" cy="1682496"/>
          </a:xfrm>
          <a:prstGeom prst="rect">
            <a:avLst/>
          </a:prstGeom>
          <a:solidFill>
            <a:srgbClr val="F7F9FC"/>
          </a:solidFill>
          <a:ln w="9525">
            <a:solidFill>
              <a:srgbClr val="D7DEE9"/>
            </a:solidFill>
            <a:prstDash val="solid"/>
          </a:ln>
        </p:spPr>
      </p:sp>
      <p:sp>
        <p:nvSpPr>
          <p:cNvPr id="65" name="Text 63"/>
          <p:cNvSpPr/>
          <p:nvPr/>
        </p:nvSpPr>
        <p:spPr>
          <a:xfrm>
            <a:off x="7644384" y="4425696"/>
            <a:ext cx="4032504" cy="1554480"/>
          </a:xfrm>
          <a:prstGeom prst="rect">
            <a:avLst/>
          </a:prstGeom>
          <a:noFill/>
          <a:ln/>
        </p:spPr>
        <p:txBody>
          <a:bodyPr wrap="square" lIns="0" tIns="0" rIns="0" bIns="0" rtlCol="0" anchor="t"/>
          <a:lstStyle/>
          <a:p>
            <a:pPr indent="0" marL="0">
              <a:lnSpc>
                <a:spcPct val="98000"/>
              </a:lnSpc>
              <a:buNone/>
            </a:pPr>
            <a:r>
              <a:rPr lang="en-US" sz="670" b="1" dirty="0">
                <a:solidFill>
                  <a:srgbClr val="3A3F55"/>
                </a:solidFill>
                <a:latin typeface="Calibri" pitchFamily="34" charset="0"/>
                <a:ea typeface="Calibri" pitchFamily="34" charset="-122"/>
                <a:cs typeface="Calibri" pitchFamily="34" charset="-120"/>
              </a:rPr>
              <a:t>Email content is treated as untrusted input.
</a:t>
            </a:r>
            <a:endParaRPr lang="en-US" sz="670" dirty="0"/>
          </a:p>
          <a:p>
            <a:pPr indent="0" marL="0">
              <a:lnSpc>
                <a:spcPct val="98000"/>
              </a:lnSpc>
              <a:buNone/>
            </a:pPr>
            <a:r>
              <a:rPr lang="en-US" sz="670" dirty="0">
                <a:solidFill>
                  <a:srgbClr val="3A3F55"/>
                </a:solidFill>
                <a:latin typeface="Calibri" pitchFamily="34" charset="0"/>
                <a:ea typeface="Calibri" pitchFamily="34" charset="-122"/>
                <a:cs typeface="Calibri" pitchFamily="34" charset="-120"/>
              </a:rPr>
              <a:t>Only the information required for request interpretation should be submitted to the AI capability.
</a:t>
            </a:r>
            <a:endParaRPr lang="en-US" sz="670" dirty="0"/>
          </a:p>
          <a:p>
            <a:pPr indent="0" marL="0">
              <a:lnSpc>
                <a:spcPct val="98000"/>
              </a:lnSpc>
              <a:buNone/>
            </a:pPr>
            <a:r>
              <a:rPr lang="en-US" sz="670" dirty="0">
                <a:solidFill>
                  <a:srgbClr val="3A3F55"/>
                </a:solidFill>
                <a:latin typeface="Calibri" pitchFamily="34" charset="0"/>
                <a:ea typeface="Calibri" pitchFamily="34" charset="-122"/>
                <a:cs typeface="Calibri" pitchFamily="34" charset="-120"/>
              </a:rPr>
              <a:t>AI-generated outputs are validated before use, checked against trusted enterprise data, and sensitive actions require human approval before execution.
</a:t>
            </a:r>
            <a:endParaRPr lang="en-US" sz="670" dirty="0"/>
          </a:p>
          <a:p>
            <a:pPr indent="0" marL="0">
              <a:lnSpc>
                <a:spcPct val="98000"/>
              </a:lnSpc>
              <a:buNone/>
            </a:pPr>
            <a:r>
              <a:rPr lang="en-US" sz="670" i="1" dirty="0">
                <a:solidFill>
                  <a:srgbClr val="3A3F55"/>
                </a:solidFill>
                <a:latin typeface="Calibri" pitchFamily="34" charset="0"/>
                <a:ea typeface="Calibri" pitchFamily="34" charset="-122"/>
                <a:cs typeface="Calibri" pitchFamily="34" charset="-120"/>
              </a:rPr>
              <a:t>AI does not execute scripts or make access decisions autonomously.
</a:t>
            </a:r>
            <a:endParaRPr lang="en-US" sz="670" dirty="0"/>
          </a:p>
          <a:p>
            <a:pPr indent="0" marL="0">
              <a:lnSpc>
                <a:spcPct val="98000"/>
              </a:lnSpc>
              <a:buNone/>
            </a:pPr>
            <a:r>
              <a:rPr lang="en-US" sz="670" b="1" dirty="0">
                <a:solidFill>
                  <a:srgbClr val="3A3F55"/>
                </a:solidFill>
                <a:latin typeface="Calibri" pitchFamily="34" charset="0"/>
                <a:ea typeface="Calibri" pitchFamily="34" charset="-122"/>
                <a:cs typeface="Calibri" pitchFamily="34" charset="-120"/>
              </a:rPr>
              <a:t>Prompt Injection Controls: </a:t>
            </a:r>
            <a:pPr indent="0" marL="0">
              <a:lnSpc>
                <a:spcPct val="98000"/>
              </a:lnSpc>
              <a:buNone/>
            </a:pPr>
            <a:r>
              <a:rPr lang="en-US" sz="670" dirty="0">
                <a:solidFill>
                  <a:srgbClr val="3A3F55"/>
                </a:solidFill>
                <a:latin typeface="Calibri" pitchFamily="34" charset="0"/>
                <a:ea typeface="Calibri" pitchFamily="34" charset="-122"/>
                <a:cs typeface="Calibri" pitchFamily="34" charset="-120"/>
              </a:rPr>
              <a:t>risk is reduced through untrusted-input handling, restricted AI scope, output validation, and prevention of AI-generated instructions from directly controlling downstream actions.
</a:t>
            </a:r>
            <a:pPr indent="0" marL="0">
              <a:lnSpc>
                <a:spcPct val="98000"/>
              </a:lnSpc>
              <a:buNone/>
            </a:pPr>
            <a:r>
              <a:rPr lang="en-US" sz="670" i="1" dirty="0">
                <a:solidFill>
                  <a:srgbClr val="3A3F55"/>
                </a:solidFill>
                <a:latin typeface="Calibri" pitchFamily="34" charset="0"/>
                <a:ea typeface="Calibri" pitchFamily="34" charset="-122"/>
                <a:cs typeface="Calibri" pitchFamily="34" charset="-120"/>
              </a:rPr>
              <a:t>Responsible AI principles are maintained through human oversight, transparency, governance, security, and compliance.</a:t>
            </a:r>
            <a:endParaRPr lang="en-US" sz="670" dirty="0"/>
          </a:p>
        </p:txBody>
      </p:sp>
      <p:sp>
        <p:nvSpPr>
          <p:cNvPr id="66" name="Shape 64"/>
          <p:cNvSpPr/>
          <p:nvPr/>
        </p:nvSpPr>
        <p:spPr>
          <a:xfrm>
            <a:off x="365760" y="6080760"/>
            <a:ext cx="5637276" cy="347472"/>
          </a:xfrm>
          <a:prstGeom prst="rect">
            <a:avLst/>
          </a:prstGeom>
          <a:solidFill>
            <a:srgbClr val="E9EFF8"/>
          </a:solidFill>
          <a:ln w="9525">
            <a:solidFill>
              <a:srgbClr val="D7DEE9"/>
            </a:solidFill>
            <a:prstDash val="solid"/>
          </a:ln>
        </p:spPr>
      </p:sp>
      <p:sp>
        <p:nvSpPr>
          <p:cNvPr id="67" name="Text 65"/>
          <p:cNvSpPr/>
          <p:nvPr/>
        </p:nvSpPr>
        <p:spPr>
          <a:xfrm>
            <a:off x="475488" y="6108192"/>
            <a:ext cx="5417820" cy="292608"/>
          </a:xfrm>
          <a:prstGeom prst="rect">
            <a:avLst/>
          </a:prstGeom>
          <a:noFill/>
          <a:ln/>
        </p:spPr>
        <p:txBody>
          <a:bodyPr wrap="square" lIns="0" tIns="0" rIns="0" bIns="0" rtlCol="0" anchor="t"/>
          <a:lstStyle/>
          <a:p>
            <a:pPr indent="0" marL="0">
              <a:lnSpc>
                <a:spcPct val="100000"/>
              </a:lnSpc>
              <a:buNone/>
            </a:pPr>
            <a:r>
              <a:rPr lang="en-US" sz="720" b="1" i="1" dirty="0">
                <a:solidFill>
                  <a:srgbClr val="141B45"/>
                </a:solidFill>
                <a:latin typeface="Calibri" pitchFamily="34" charset="0"/>
                <a:ea typeface="Calibri" pitchFamily="34" charset="-122"/>
                <a:cs typeface="Calibri" pitchFamily="34" charset="-120"/>
              </a:rPr>
              <a:t>Reusable Pattern: </a:t>
            </a:r>
            <a:pPr indent="0" marL="0">
              <a:lnSpc>
                <a:spcPct val="100000"/>
              </a:lnSpc>
              <a:buNone/>
            </a:pPr>
            <a:r>
              <a:rPr lang="en-US" sz="720" i="1" dirty="0">
                <a:solidFill>
                  <a:srgbClr val="141B45"/>
                </a:solidFill>
                <a:latin typeface="Calibri" pitchFamily="34" charset="0"/>
                <a:ea typeface="Calibri" pitchFamily="34" charset="-122"/>
                <a:cs typeface="Calibri" pitchFamily="34" charset="-120"/>
              </a:rPr>
              <a:t>extendable to incident triage, account updates, configuration requests, and other IT Support scenarios.</a:t>
            </a:r>
            <a:endParaRPr lang="en-US" sz="720" dirty="0"/>
          </a:p>
        </p:txBody>
      </p:sp>
      <p:sp>
        <p:nvSpPr>
          <p:cNvPr id="68" name="Shape 66"/>
          <p:cNvSpPr/>
          <p:nvPr/>
        </p:nvSpPr>
        <p:spPr>
          <a:xfrm>
            <a:off x="6185916" y="6080760"/>
            <a:ext cx="5637276" cy="347472"/>
          </a:xfrm>
          <a:prstGeom prst="rect">
            <a:avLst/>
          </a:prstGeom>
          <a:solidFill>
            <a:srgbClr val="E9EFF8"/>
          </a:solidFill>
          <a:ln w="9525">
            <a:solidFill>
              <a:srgbClr val="D7DEE9"/>
            </a:solidFill>
            <a:prstDash val="solid"/>
          </a:ln>
        </p:spPr>
      </p:sp>
      <p:sp>
        <p:nvSpPr>
          <p:cNvPr id="69" name="Text 67"/>
          <p:cNvSpPr/>
          <p:nvPr/>
        </p:nvSpPr>
        <p:spPr>
          <a:xfrm>
            <a:off x="6295644" y="6108192"/>
            <a:ext cx="5417820" cy="292608"/>
          </a:xfrm>
          <a:prstGeom prst="rect">
            <a:avLst/>
          </a:prstGeom>
          <a:noFill/>
          <a:ln/>
        </p:spPr>
        <p:txBody>
          <a:bodyPr wrap="square" lIns="0" tIns="0" rIns="0" bIns="0" rtlCol="0" anchor="t"/>
          <a:lstStyle/>
          <a:p>
            <a:pPr indent="0" marL="0">
              <a:lnSpc>
                <a:spcPct val="100000"/>
              </a:lnSpc>
              <a:buNone/>
            </a:pPr>
            <a:r>
              <a:rPr lang="en-US" sz="620" b="1" i="1" dirty="0">
                <a:solidFill>
                  <a:srgbClr val="141B45"/>
                </a:solidFill>
                <a:latin typeface="Calibri" pitchFamily="34" charset="0"/>
                <a:ea typeface="Calibri" pitchFamily="34" charset="-122"/>
                <a:cs typeface="Calibri" pitchFamily="34" charset="-120"/>
              </a:rPr>
              <a:t>Future Architecture Consideration: </a:t>
            </a:r>
            <a:pPr indent="0" marL="0">
              <a:lnSpc>
                <a:spcPct val="100000"/>
              </a:lnSpc>
              <a:buNone/>
            </a:pPr>
            <a:r>
              <a:rPr lang="en-US" sz="620" i="1" dirty="0">
                <a:solidFill>
                  <a:srgbClr val="141B45"/>
                </a:solidFill>
                <a:latin typeface="Calibri" pitchFamily="34" charset="0"/>
                <a:ea typeface="Calibri" pitchFamily="34" charset="-122"/>
                <a:cs typeface="Calibri" pitchFamily="34" charset="-120"/>
              </a:rPr>
              <a:t>production may replace Run a prompt with an organization-managed AI Gateway (authenticated enterprise API or Custom Connector) for centralized governance, validation, and auditability, subject to Enterprise Architecture and Information Security approval.</a:t>
            </a:r>
            <a:endParaRPr lang="en-US" sz="620" dirty="0"/>
          </a:p>
        </p:txBody>
      </p:sp>
      <p:sp>
        <p:nvSpPr>
          <p:cNvPr id="70" name="Shape 68"/>
          <p:cNvSpPr/>
          <p:nvPr/>
        </p:nvSpPr>
        <p:spPr>
          <a:xfrm>
            <a:off x="365760" y="6483096"/>
            <a:ext cx="5637276" cy="347472"/>
          </a:xfrm>
          <a:prstGeom prst="rect">
            <a:avLst/>
          </a:prstGeom>
          <a:solidFill>
            <a:srgbClr val="E9EFF8"/>
          </a:solidFill>
          <a:ln w="9525">
            <a:solidFill>
              <a:srgbClr val="D7DEE9"/>
            </a:solidFill>
            <a:prstDash val="solid"/>
          </a:ln>
        </p:spPr>
      </p:sp>
      <p:sp>
        <p:nvSpPr>
          <p:cNvPr id="71" name="Text 69"/>
          <p:cNvSpPr/>
          <p:nvPr/>
        </p:nvSpPr>
        <p:spPr>
          <a:xfrm>
            <a:off x="475488" y="6510528"/>
            <a:ext cx="5417820" cy="292608"/>
          </a:xfrm>
          <a:prstGeom prst="rect">
            <a:avLst/>
          </a:prstGeom>
          <a:noFill/>
          <a:ln/>
        </p:spPr>
        <p:txBody>
          <a:bodyPr wrap="square" lIns="0" tIns="0" rIns="0" bIns="0" rtlCol="0" anchor="t"/>
          <a:lstStyle/>
          <a:p>
            <a:pPr indent="0" marL="0">
              <a:lnSpc>
                <a:spcPct val="100000"/>
              </a:lnSpc>
              <a:buNone/>
            </a:pPr>
            <a:r>
              <a:rPr lang="en-US" sz="680" b="1" i="1" dirty="0">
                <a:solidFill>
                  <a:srgbClr val="141B45"/>
                </a:solidFill>
                <a:latin typeface="Calibri" pitchFamily="34" charset="0"/>
                <a:ea typeface="Calibri" pitchFamily="34" charset="-122"/>
                <a:cs typeface="Calibri" pitchFamily="34" charset="-120"/>
              </a:rPr>
              <a:t>Auditability &amp; Traceability: </a:t>
            </a:r>
            <a:pPr indent="0" marL="0">
              <a:lnSpc>
                <a:spcPct val="100000"/>
              </a:lnSpc>
              <a:buNone/>
            </a:pPr>
            <a:r>
              <a:rPr lang="en-US" sz="680" i="1" dirty="0">
                <a:solidFill>
                  <a:srgbClr val="141B45"/>
                </a:solidFill>
                <a:latin typeface="Calibri" pitchFamily="34" charset="0"/>
                <a:ea typeface="Calibri" pitchFamily="34" charset="-122"/>
                <a:cs typeface="Calibri" pitchFamily="34" charset="-120"/>
              </a:rPr>
              <a:t>visibility across request intake, AI-assisted analysis, validation, enterprise data verification, human approval, ticket creation, and final notification.</a:t>
            </a:r>
            <a:endParaRPr lang="en-US" sz="680" dirty="0"/>
          </a:p>
        </p:txBody>
      </p:sp>
      <p:sp>
        <p:nvSpPr>
          <p:cNvPr id="72" name="Shape 70"/>
          <p:cNvSpPr/>
          <p:nvPr/>
        </p:nvSpPr>
        <p:spPr>
          <a:xfrm>
            <a:off x="6185916" y="6483096"/>
            <a:ext cx="5637276" cy="347472"/>
          </a:xfrm>
          <a:prstGeom prst="rect">
            <a:avLst/>
          </a:prstGeom>
          <a:solidFill>
            <a:srgbClr val="E9EFF8"/>
          </a:solidFill>
          <a:ln w="9525">
            <a:solidFill>
              <a:srgbClr val="D7DEE9"/>
            </a:solidFill>
            <a:prstDash val="solid"/>
          </a:ln>
        </p:spPr>
      </p:sp>
      <p:sp>
        <p:nvSpPr>
          <p:cNvPr id="73" name="Text 71"/>
          <p:cNvSpPr/>
          <p:nvPr/>
        </p:nvSpPr>
        <p:spPr>
          <a:xfrm>
            <a:off x="6295644" y="6510528"/>
            <a:ext cx="5417820" cy="292608"/>
          </a:xfrm>
          <a:prstGeom prst="rect">
            <a:avLst/>
          </a:prstGeom>
          <a:noFill/>
          <a:ln/>
        </p:spPr>
        <p:txBody>
          <a:bodyPr wrap="square" lIns="0" tIns="0" rIns="0" bIns="0" rtlCol="0" anchor="t"/>
          <a:lstStyle/>
          <a:p>
            <a:pPr indent="0" marL="0">
              <a:lnSpc>
                <a:spcPct val="100000"/>
              </a:lnSpc>
              <a:buNone/>
            </a:pPr>
            <a:r>
              <a:rPr lang="en-US" sz="720" b="1" i="1" dirty="0">
                <a:solidFill>
                  <a:srgbClr val="141B45"/>
                </a:solidFill>
                <a:latin typeface="Calibri" pitchFamily="34" charset="0"/>
                <a:ea typeface="Calibri" pitchFamily="34" charset="-122"/>
                <a:cs typeface="Calibri" pitchFamily="34" charset="-120"/>
              </a:rPr>
              <a:t>Measurable Value: </a:t>
            </a:r>
            <a:pPr indent="0" marL="0">
              <a:lnSpc>
                <a:spcPct val="100000"/>
              </a:lnSpc>
              <a:buNone/>
            </a:pPr>
            <a:r>
              <a:rPr lang="en-US" sz="720" i="1" dirty="0">
                <a:solidFill>
                  <a:srgbClr val="141B45"/>
                </a:solidFill>
                <a:latin typeface="Calibri" pitchFamily="34" charset="0"/>
                <a:ea typeface="Calibri" pitchFamily="34" charset="-122"/>
                <a:cs typeface="Calibri" pitchFamily="34" charset="-120"/>
              </a:rPr>
              <a:t>evaluated through reduced handling time, automation rate, classification accuracy, reduced rework, and faster time-to-ticket.</a:t>
            </a:r>
            <a:endParaRPr lang="en-US" sz="72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vt:i4>
      </vt:variant>
    </vt:vector>
  </HeadingPairs>
  <TitlesOfParts>
    <vt:vector size="5" baseType="lpstr">
      <vt:lpstr>Arial</vt:lpstr>
      <vt:lpstr>Calibri</vt:lpstr>
      <vt:lpstr>Office Theme</vt:lpstr>
      <vt:lpstr>Slide 1</vt:lpstr>
      <vt:lpstr>Slide 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2026-07-15T05:53:55Z</dcterms:created>
  <dcterms:modified xsi:type="dcterms:W3CDTF">2026-07-15T05:53:55Z</dcterms:modified>
</cp:coreProperties>
</file>