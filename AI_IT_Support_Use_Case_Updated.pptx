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761"/>
          </a:solidFill>
          <a:ln/>
        </p:spPr>
        <p:txBody>
          <a:bodyPr/>
          <a:p/>
        </p:txBody>
      </p:sp>
      <p:sp>
        <p:nvSpPr>
          <p:cNvPr id="3" name="Shape 1"/>
          <p:cNvSpPr/>
          <p:nvPr/>
        </p:nvSpPr>
        <p:spPr>
          <a:xfrm>
            <a:off x="10607040" y="-365760"/>
            <a:ext cx="2011680" cy="2011680"/>
          </a:xfrm>
          <a:prstGeom prst="ellipse">
            <a:avLst/>
          </a:prstGeom>
          <a:solidFill>
            <a:srgbClr val="3B6EA5">
              <a:alpha val="18000"/>
            </a:srgbClr>
          </a:solidFill>
          <a:ln/>
        </p:spPr>
        <p:txBody>
          <a:bodyPr/>
          <a:p/>
        </p:txBody>
      </p:sp>
      <p:sp>
        <p:nvSpPr>
          <p:cNvPr id="4" name="Shape 2"/>
          <p:cNvSpPr/>
          <p:nvPr/>
        </p:nvSpPr>
        <p:spPr>
          <a:xfrm>
            <a:off x="11521440" y="640080"/>
            <a:ext cx="1005840" cy="1005840"/>
          </a:xfrm>
          <a:prstGeom prst="ellipse">
            <a:avLst/>
          </a:prstGeom>
          <a:solidFill>
            <a:srgbClr val="3B6EA5">
              <a:alpha val="18000"/>
            </a:srgbClr>
          </a:solidFill>
          <a:ln/>
        </p:spPr>
        <p:txBody>
          <a:bodyPr/>
          <a:p/>
        </p:txBody>
      </p:sp>
      <p:sp>
        <p:nvSpPr>
          <p:cNvPr id="5" name="Shape 3"/>
          <p:cNvSpPr/>
          <p:nvPr/>
        </p:nvSpPr>
        <p:spPr>
          <a:xfrm>
            <a:off x="9784080" y="822960"/>
            <a:ext cx="457200" cy="457200"/>
          </a:xfrm>
          <a:prstGeom prst="ellipse">
            <a:avLst/>
          </a:prstGeom>
          <a:solidFill>
            <a:srgbClr val="3B6EA5">
              <a:alpha val="18000"/>
            </a:srgbClr>
          </a:solidFill>
          <a:ln/>
        </p:spPr>
        <p:txBody>
          <a:bodyPr/>
          <a:p/>
        </p:txBody>
      </p:sp>
      <p:sp>
        <p:nvSpPr>
          <p:cNvPr id="6" name="Shape 4"/>
          <p:cNvSpPr/>
          <p:nvPr/>
        </p:nvSpPr>
        <p:spPr>
          <a:xfrm>
            <a:off x="274320" y="594360"/>
            <a:ext cx="822960" cy="822960"/>
          </a:xfrm>
          <a:prstGeom prst="ellipse">
            <a:avLst/>
          </a:prstGeom>
          <a:solidFill>
            <a:srgbClr val="3B6EA5">
              <a:alpha val="18000"/>
            </a:srgbClr>
          </a:solidFill>
          <a:ln/>
        </p:spPr>
        <p:txBody>
          <a:bodyPr/>
          <a:p/>
        </p:txBody>
      </p:sp>
      <p:sp>
        <p:nvSpPr>
          <p:cNvPr id="7" name="Shape 5"/>
          <p:cNvSpPr/>
          <p:nvPr/>
        </p:nvSpPr>
        <p:spPr>
          <a:xfrm>
            <a:off x="8503920" y="182880"/>
            <a:ext cx="320040" cy="320040"/>
          </a:xfrm>
          <a:prstGeom prst="ellipse">
            <a:avLst/>
          </a:prstGeom>
          <a:solidFill>
            <a:srgbClr val="3B6EA5">
              <a:alpha val="18000"/>
            </a:srgbClr>
          </a:solidFill>
          <a:ln/>
        </p:spPr>
        <p:txBody>
          <a:bodyPr/>
          <a:p/>
        </p:txBody>
      </p:sp>
      <p:sp>
        <p:nvSpPr>
          <p:cNvPr id="8" name="Shape 6"/>
          <p:cNvSpPr/>
          <p:nvPr/>
        </p:nvSpPr>
        <p:spPr>
          <a:xfrm>
            <a:off x="10881360" y="1005840"/>
            <a:ext cx="274320" cy="274320"/>
          </a:xfrm>
          <a:prstGeom prst="ellipse">
            <a:avLst/>
          </a:prstGeom>
          <a:solidFill>
            <a:srgbClr val="3B6EA5">
              <a:alpha val="18000"/>
            </a:srgbClr>
          </a:solidFill>
          <a:ln/>
        </p:spPr>
        <p:txBody>
          <a:bodyPr/>
          <a:p/>
        </p:txBody>
      </p:sp>
      <p:sp>
        <p:nvSpPr>
          <p:cNvPr id="9" name="Text 7"/>
          <p:cNvSpPr/>
          <p:nvPr/>
        </p:nvSpPr>
        <p:spPr>
          <a:xfrm>
            <a:off x="457200" y="146304"/>
            <a:ext cx="10789920" cy="56692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AI-Powered IT Support Request Automation</a:t>
            </a:r>
            <a:endParaRPr lang="en-US" sz="2600" dirty="0"/>
          </a:p>
        </p:txBody>
      </p:sp>
      <p:sp>
        <p:nvSpPr>
          <p:cNvPr id="10" name="Text 8"/>
          <p:cNvSpPr/>
          <p:nvPr/>
        </p:nvSpPr>
        <p:spPr>
          <a:xfrm>
            <a:off x="457200" y="621792"/>
            <a:ext cx="73152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Use Case Overview</a:t>
            </a:r>
            <a:endParaRPr lang="en-US" sz="1300" dirty="0"/>
          </a:p>
        </p:txBody>
      </p:sp>
      <p:sp>
        <p:nvSpPr>
          <p:cNvPr id="11" name="Text 9"/>
          <p:cNvSpPr/>
          <p:nvPr/>
        </p:nvSpPr>
        <p:spPr>
          <a:xfrm>
            <a:off x="457200" y="868680"/>
            <a:ext cx="10607040" cy="3200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Intelligent analysis, validation, routing, and automation of IT support requests using AI and workflow orchestration.</a:t>
            </a:r>
            <a:endParaRPr lang="en-US" sz="1050" dirty="0"/>
          </a:p>
        </p:txBody>
      </p:sp>
      <p:sp>
        <p:nvSpPr>
          <p:cNvPr id="12" name="Shape 10"/>
          <p:cNvSpPr/>
          <p:nvPr/>
        </p:nvSpPr>
        <p:spPr>
          <a:xfrm>
            <a:off x="365760" y="1344168"/>
            <a:ext cx="8001000" cy="292608"/>
          </a:xfrm>
          <a:prstGeom prst="rect">
            <a:avLst/>
          </a:prstGeom>
          <a:solidFill>
            <a:srgbClr val="26325E"/>
          </a:solidFill>
          <a:ln/>
        </p:spPr>
        <p:txBody>
          <a:bodyPr/>
          <a:p/>
        </p:txBody>
      </p:sp>
      <p:sp>
        <p:nvSpPr>
          <p:cNvPr id="13" name="Text 11"/>
          <p:cNvSpPr/>
          <p:nvPr/>
        </p:nvSpPr>
        <p:spPr>
          <a:xfrm>
            <a:off x="457200" y="1344168"/>
            <a:ext cx="781812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Problem Statement</a:t>
            </a:r>
            <a:endParaRPr lang="en-US" sz="1250" dirty="0"/>
          </a:p>
        </p:txBody>
      </p:sp>
      <p:sp>
        <p:nvSpPr>
          <p:cNvPr id="14" name="Shape 12"/>
          <p:cNvSpPr/>
          <p:nvPr/>
        </p:nvSpPr>
        <p:spPr>
          <a:xfrm>
            <a:off x="365760" y="1636776"/>
            <a:ext cx="8001000" cy="1124712"/>
          </a:xfrm>
          <a:prstGeom prst="rect">
            <a:avLst/>
          </a:prstGeom>
          <a:solidFill>
            <a:srgbClr val="F7F9FC"/>
          </a:solidFill>
          <a:ln w="9525">
            <a:solidFill>
              <a:srgbClr val="D7DEE9"/>
            </a:solidFill>
            <a:prstDash val="solid"/>
          </a:ln>
        </p:spPr>
        <p:txBody>
          <a:bodyPr/>
          <a:p/>
        </p:txBody>
      </p:sp>
      <p:sp>
        <p:nvSpPr>
          <p:cNvPr id="15" name="Text 13"/>
          <p:cNvSpPr/>
          <p:nvPr/>
        </p:nvSpPr>
        <p:spPr>
          <a:xfrm>
            <a:off x="530352" y="1691640"/>
            <a:ext cx="7671816" cy="996696"/>
          </a:xfrm>
          <a:prstGeom prst="rect">
            <a:avLst/>
          </a:prstGeom>
          <a:noFill/>
          <a:ln/>
        </p:spPr>
        <p:txBody>
          <a:bodyPr wrap="square" lIns="0" tIns="0" rIns="0" bIns="0" rtlCol="0" anchor="t"/>
          <a:lstStyle/>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IT support teams spend significant time manually reading unstructured emails, understanding intent, extracting details, checking existing configurations, and preparing technical instructions before creating tickets and coordinating with other teams.
</a:t>
            </a:r>
            <a:endParaRPr lang="en-US" sz="860" dirty="0"/>
          </a:p>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This manual process increases resolution time, creates repetitive workloads, and can lead to inconsistent handling and data entry errors.
</a:t>
            </a:r>
            <a:endParaRPr lang="en-US" sz="860" dirty="0"/>
          </a:p>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Generative AI acts as an intelligent first layer of support by understanding unstructured requests, extracting relevant information, and converting it into structured data. Deterministic workflow logic then validates the AI-generated output against trusted enterprise data and controls subsequent actions, while human experts remain in control of sensitive decisions.</a:t>
            </a:r>
            <a:endParaRPr lang="en-US" sz="860" dirty="0"/>
          </a:p>
        </p:txBody>
      </p:sp>
      <p:sp>
        <p:nvSpPr>
          <p:cNvPr id="16" name="Shape 14"/>
          <p:cNvSpPr/>
          <p:nvPr/>
        </p:nvSpPr>
        <p:spPr>
          <a:xfrm>
            <a:off x="365760" y="2852928"/>
            <a:ext cx="3909060" cy="292608"/>
          </a:xfrm>
          <a:prstGeom prst="rect">
            <a:avLst/>
          </a:prstGeom>
          <a:solidFill>
            <a:srgbClr val="26325E"/>
          </a:solidFill>
          <a:ln/>
        </p:spPr>
        <p:txBody>
          <a:bodyPr/>
          <a:p/>
        </p:txBody>
      </p:sp>
      <p:sp>
        <p:nvSpPr>
          <p:cNvPr id="17" name="Text 15"/>
          <p:cNvSpPr/>
          <p:nvPr/>
        </p:nvSpPr>
        <p:spPr>
          <a:xfrm>
            <a:off x="457200" y="2852928"/>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Expected Benefit</a:t>
            </a:r>
            <a:endParaRPr lang="en-US" sz="1250" dirty="0"/>
          </a:p>
        </p:txBody>
      </p:sp>
      <p:sp>
        <p:nvSpPr>
          <p:cNvPr id="18" name="Shape 16"/>
          <p:cNvSpPr/>
          <p:nvPr/>
        </p:nvSpPr>
        <p:spPr>
          <a:xfrm>
            <a:off x="365760" y="3145536"/>
            <a:ext cx="3909060" cy="1810512"/>
          </a:xfrm>
          <a:prstGeom prst="rect">
            <a:avLst/>
          </a:prstGeom>
          <a:solidFill>
            <a:srgbClr val="F7F9FC"/>
          </a:solidFill>
          <a:ln w="9525">
            <a:solidFill>
              <a:srgbClr val="D7DEE9"/>
            </a:solidFill>
            <a:prstDash val="solid"/>
          </a:ln>
        </p:spPr>
        <p:txBody>
          <a:bodyPr/>
          <a:p/>
        </p:txBody>
      </p:sp>
      <p:sp>
        <p:nvSpPr>
          <p:cNvPr id="19" name="Text 17"/>
          <p:cNvSpPr/>
          <p:nvPr/>
        </p:nvSpPr>
        <p:spPr>
          <a:xfrm>
            <a:off x="530352" y="3218688"/>
            <a:ext cx="3598164" cy="1627632"/>
          </a:xfrm>
          <a:prstGeom prst="rect">
            <a:avLst/>
          </a:prstGeom>
          <a:noFill/>
          <a:ln/>
        </p:spPr>
        <p:txBody>
          <a:bodyPr wrap="square" lIns="0" tIns="0" rIns="0" bIns="0" rtlCol="0" anchor="t"/>
          <a:lstStyle/>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Reduces time spent reading and interpreting repetitive support requests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Automatically extracts and structures information from unstructured emails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Classifies request types and identifies required actions consistently</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Supports validation against trusted enterprise data</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Reduces manual data entry and operational errors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Accelerates request routing, ticket creation, and team coordination</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Keeps human experts in control through approval before sensitive actions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Allows support teams to focus on complex incidents and higher-value technical decisions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Creates a reusable AI-assisted automation framework for multiple IT Support use cases</a:t>
            </a:r>
            <a:endParaRPr lang="en-US" sz="800" dirty="0"/>
          </a:p>
        </p:txBody>
      </p:sp>
      <p:sp>
        <p:nvSpPr>
          <p:cNvPr id="20" name="Shape 18"/>
          <p:cNvSpPr/>
          <p:nvPr/>
        </p:nvSpPr>
        <p:spPr>
          <a:xfrm>
            <a:off x="4457700" y="2852928"/>
            <a:ext cx="3909060" cy="292608"/>
          </a:xfrm>
          <a:prstGeom prst="rect">
            <a:avLst/>
          </a:prstGeom>
          <a:solidFill>
            <a:srgbClr val="26325E"/>
          </a:solidFill>
          <a:ln/>
        </p:spPr>
        <p:txBody>
          <a:bodyPr/>
          <a:p/>
        </p:txBody>
      </p:sp>
      <p:sp>
        <p:nvSpPr>
          <p:cNvPr id="21" name="Text 19"/>
          <p:cNvSpPr/>
          <p:nvPr/>
        </p:nvSpPr>
        <p:spPr>
          <a:xfrm>
            <a:off x="4549140" y="2852928"/>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Key Audience</a:t>
            </a:r>
            <a:endParaRPr lang="en-US" sz="1250" dirty="0"/>
          </a:p>
        </p:txBody>
      </p:sp>
      <p:sp>
        <p:nvSpPr>
          <p:cNvPr id="22" name="Shape 20"/>
          <p:cNvSpPr/>
          <p:nvPr/>
        </p:nvSpPr>
        <p:spPr>
          <a:xfrm>
            <a:off x="4457700" y="3145536"/>
            <a:ext cx="3909060" cy="1810512"/>
          </a:xfrm>
          <a:prstGeom prst="rect">
            <a:avLst/>
          </a:prstGeom>
          <a:solidFill>
            <a:srgbClr val="F7F9FC"/>
          </a:solidFill>
          <a:ln w="9525">
            <a:solidFill>
              <a:srgbClr val="D7DEE9"/>
            </a:solidFill>
            <a:prstDash val="solid"/>
          </a:ln>
        </p:spPr>
        <p:txBody>
          <a:bodyPr/>
          <a:p/>
        </p:txBody>
      </p:sp>
      <p:sp>
        <p:nvSpPr>
          <p:cNvPr id="23" name="Text 21"/>
          <p:cNvSpPr/>
          <p:nvPr/>
        </p:nvSpPr>
        <p:spPr>
          <a:xfrm>
            <a:off x="4622292" y="3236976"/>
            <a:ext cx="1789938" cy="1600200"/>
          </a:xfrm>
          <a:prstGeom prst="rect">
            <a:avLst/>
          </a:prstGeom>
          <a:noFill/>
          <a:ln/>
        </p:spPr>
        <p:txBody>
          <a:bodyPr wrap="square" lIns="0" tIns="0" rIns="0" bIns="0" rtlCol="0" anchor="t"/>
          <a:lstStyle/>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Support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Application Support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Service Desk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System Administrators</a:t>
            </a:r>
            <a:endParaRPr lang="en-US" sz="960" dirty="0"/>
          </a:p>
        </p:txBody>
      </p:sp>
      <p:sp>
        <p:nvSpPr>
          <p:cNvPr id="24" name="Text 22"/>
          <p:cNvSpPr/>
          <p:nvPr/>
        </p:nvSpPr>
        <p:spPr>
          <a:xfrm>
            <a:off x="6503670" y="3236976"/>
            <a:ext cx="1789938" cy="1600200"/>
          </a:xfrm>
          <a:prstGeom prst="rect">
            <a:avLst/>
          </a:prstGeom>
          <a:noFill/>
          <a:ln/>
        </p:spPr>
        <p:txBody>
          <a:bodyPr wrap="square" lIns="0" tIns="0" rIns="0" bIns="0" rtlCol="0" anchor="t"/>
          <a:lstStyle/>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Operations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Management</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Digital Transformation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Information Security &amp; Governance</a:t>
            </a:r>
            <a:endParaRPr lang="en-US" sz="960" dirty="0"/>
          </a:p>
        </p:txBody>
      </p:sp>
      <p:sp>
        <p:nvSpPr>
          <p:cNvPr id="25" name="Shape 23"/>
          <p:cNvSpPr/>
          <p:nvPr/>
        </p:nvSpPr>
        <p:spPr>
          <a:xfrm>
            <a:off x="365760" y="5065776"/>
            <a:ext cx="3909060" cy="292608"/>
          </a:xfrm>
          <a:prstGeom prst="rect">
            <a:avLst/>
          </a:prstGeom>
          <a:solidFill>
            <a:srgbClr val="26325E"/>
          </a:solidFill>
          <a:ln/>
        </p:spPr>
        <p:txBody>
          <a:bodyPr/>
          <a:p/>
        </p:txBody>
      </p:sp>
      <p:sp>
        <p:nvSpPr>
          <p:cNvPr id="26" name="Text 24"/>
          <p:cNvSpPr/>
          <p:nvPr/>
        </p:nvSpPr>
        <p:spPr>
          <a:xfrm>
            <a:off x="457200" y="5065776"/>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Requirement (Data Type)</a:t>
            </a:r>
            <a:endParaRPr lang="en-US" sz="1250" dirty="0"/>
          </a:p>
        </p:txBody>
      </p:sp>
      <p:sp>
        <p:nvSpPr>
          <p:cNvPr id="27" name="Shape 25"/>
          <p:cNvSpPr/>
          <p:nvPr/>
        </p:nvSpPr>
        <p:spPr>
          <a:xfrm>
            <a:off x="365760" y="5358384"/>
            <a:ext cx="3909060" cy="1225296"/>
          </a:xfrm>
          <a:prstGeom prst="rect">
            <a:avLst/>
          </a:prstGeom>
          <a:solidFill>
            <a:srgbClr val="F7F9FC"/>
          </a:solidFill>
          <a:ln w="9525">
            <a:solidFill>
              <a:srgbClr val="D7DEE9"/>
            </a:solidFill>
            <a:prstDash val="solid"/>
          </a:ln>
        </p:spPr>
        <p:txBody>
          <a:bodyPr/>
          <a:p/>
        </p:txBody>
      </p:sp>
      <p:sp>
        <p:nvSpPr>
          <p:cNvPr id="28" name="Text 26"/>
          <p:cNvSpPr/>
          <p:nvPr/>
        </p:nvSpPr>
        <p:spPr>
          <a:xfrm>
            <a:off x="530352" y="5449824"/>
            <a:ext cx="3598164" cy="1014984"/>
          </a:xfrm>
          <a:prstGeom prst="rect">
            <a:avLst/>
          </a:prstGeom>
          <a:noFill/>
          <a:ln/>
        </p:spPr>
        <p:txBody>
          <a:bodyPr wrap="square" lIns="0" tIns="0" rIns="0" bIns="0" rtlCol="0" anchor="t"/>
          <a:lstStyle/>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Support request emails and descriptions</a:t>
            </a:r>
            <a:endParaRPr lang="en-US" sz="960" dirty="0"/>
          </a:p>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Structured and unstructured request data</a:t>
            </a:r>
            <a:endParaRPr lang="en-US" sz="960" dirty="0"/>
          </a:p>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Enterprise reference data such as users, applications, roles, departments, services, and configurations</a:t>
            </a:r>
            <a:endParaRPr lang="en-US" sz="960" dirty="0"/>
          </a:p>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Historical requests, workflow execution results, and ticket outcomes</a:t>
            </a:r>
            <a:endParaRPr lang="en-US" sz="960" dirty="0"/>
          </a:p>
        </p:txBody>
      </p:sp>
      <p:sp>
        <p:nvSpPr>
          <p:cNvPr id="29" name="Shape 27"/>
          <p:cNvSpPr/>
          <p:nvPr/>
        </p:nvSpPr>
        <p:spPr>
          <a:xfrm>
            <a:off x="4457700" y="5065776"/>
            <a:ext cx="3909060" cy="292608"/>
          </a:xfrm>
          <a:prstGeom prst="rect">
            <a:avLst/>
          </a:prstGeom>
          <a:solidFill>
            <a:srgbClr val="26325E"/>
          </a:solidFill>
          <a:ln/>
        </p:spPr>
        <p:txBody>
          <a:bodyPr/>
          <a:p/>
        </p:txBody>
      </p:sp>
      <p:sp>
        <p:nvSpPr>
          <p:cNvPr id="30" name="Text 28"/>
          <p:cNvSpPr/>
          <p:nvPr/>
        </p:nvSpPr>
        <p:spPr>
          <a:xfrm>
            <a:off x="4549140" y="5065776"/>
            <a:ext cx="3726180" cy="292608"/>
          </a:xfrm>
          <a:prstGeom prst="rect">
            <a:avLst/>
          </a:prstGeom>
          <a:noFill/>
          <a:ln/>
        </p:spPr>
        <p:txBody>
          <a:bodyPr wrap="square" lIns="0" tIns="0" rIns="0" bIns="0" rtlCol="0" anchor="ctr"/>
          <a:lstStyle/>
          <a:p>
            <a:pPr indent="0" marL="0">
              <a:buNone/>
            </a:pPr>
            <a:r>
              <a:t>Target Production Architecture</a:t>
            </a:r>
            <a:endParaRPr lang="en-US" sz="1250" dirty="0"/>
          </a:p>
        </p:txBody>
      </p:sp>
      <p:sp>
        <p:nvSpPr>
          <p:cNvPr id="31" name="Shape 29"/>
          <p:cNvSpPr/>
          <p:nvPr/>
        </p:nvSpPr>
        <p:spPr>
          <a:xfrm>
            <a:off x="4457700" y="5358384"/>
            <a:ext cx="3909060" cy="1225296"/>
          </a:xfrm>
          <a:prstGeom prst="rect">
            <a:avLst/>
          </a:prstGeom>
          <a:solidFill>
            <a:srgbClr val="F7F9FC"/>
          </a:solidFill>
          <a:ln w="9525">
            <a:solidFill>
              <a:srgbClr val="D7DEE9"/>
            </a:solidFill>
            <a:prstDash val="solid"/>
          </a:ln>
        </p:spPr>
        <p:txBody>
          <a:bodyPr/>
          <a:p/>
        </p:txBody>
      </p:sp>
      <p:sp>
        <p:nvSpPr>
          <p:cNvPr id="32" name="Text 30"/>
          <p:cNvSpPr/>
          <p:nvPr/>
        </p:nvSpPr>
        <p:spPr>
          <a:xfrm>
            <a:off x="4622292" y="5394960"/>
            <a:ext cx="3598164" cy="1069848"/>
          </a:xfrm>
          <a:prstGeom prst="rect">
            <a:avLst/>
          </a:prstGeom>
          <a:noFill/>
          <a:ln/>
        </p:spPr>
        <p:txBody>
          <a:bodyPr wrap="square" lIns="0" tIns="0" rIns="0" bIns="0" rtlCol="0" anchor="t"/>
          <a:lstStyle/>
          <a:p>
            <a:pPr marL="127000" indent="-127000">
              <a:spcAft>
                <a:spcPts val="200"/>
              </a:spcAft>
              <a:buSzPct val="100000"/>
              <a:buChar char="●"/>
            </a:pPr>
            <a:r>
              <a:t>AI Layer</a:t>
            </a:r>
            <a:endParaRPr lang="en-US" sz="720" dirty="0"/>
          </a:p>
          <a:p>
            <a:pPr/>
            <a:r>
              <a:t>• Enterprise Generative AI Platform</a:t>
            </a:r>
          </a:p>
          <a:p>
            <a:pPr/>
            <a:r>
              <a:t>• Enterprise AI Gateway (recommended)</a:t>
            </a:r>
          </a:p>
          <a:p>
            <a:pPr/>
          </a:p>
          <a:p>
            <a:pPr/>
            <a:r>
              <a:t>Automation Layer</a:t>
            </a:r>
          </a:p>
          <a:p>
            <a:pPr/>
            <a:r>
              <a:t>• Microsoft Power Automate</a:t>
            </a:r>
          </a:p>
          <a:p>
            <a:pPr/>
            <a:r>
              <a:t>• Enterprise Approval Workflow</a:t>
            </a:r>
          </a:p>
          <a:p>
            <a:pPr/>
          </a:p>
          <a:p>
            <a:pPr/>
            <a:r>
              <a:t>Enterprise Integration</a:t>
            </a:r>
          </a:p>
          <a:p>
            <a:pPr/>
            <a:r>
              <a:t>• Enterprise APIs</a:t>
            </a:r>
          </a:p>
          <a:p>
            <a:pPr/>
            <a:r>
              <a:t>• Enterprise Database Integration</a:t>
            </a:r>
          </a:p>
          <a:p>
            <a:pPr/>
            <a:r>
              <a:t>• Premium Connectors (where applicable)</a:t>
            </a:r>
          </a:p>
          <a:p>
            <a:pPr/>
          </a:p>
          <a:p>
            <a:pPr/>
            <a:r>
              <a:t>Enterprise Systems</a:t>
            </a:r>
          </a:p>
          <a:p>
            <a:pPr/>
            <a:r>
              <a:t>• ITSM / Helpdesk Platform</a:t>
            </a:r>
          </a:p>
          <a:p>
            <a:pPr/>
            <a:r>
              <a:t>• Microsoft 365</a:t>
            </a:r>
          </a:p>
          <a:p>
            <a:pPr/>
            <a:r>
              <a:t>• Microsoft Teams</a:t>
            </a:r>
          </a:p>
          <a:p>
            <a:pPr/>
          </a:p>
          <a:p>
            <a:pPr/>
            <a:r>
              <a:t>Governance</a:t>
            </a:r>
          </a:p>
          <a:p>
            <a:pPr/>
            <a:r>
              <a:t>• Identity &amp; Access Management</a:t>
            </a:r>
          </a:p>
          <a:p>
            <a:pPr/>
            <a:r>
              <a:t>• Information Security</a:t>
            </a:r>
          </a:p>
          <a:p>
            <a:pPr/>
            <a:r>
              <a:t>• Monitoring &amp; Audit Logging</a:t>
            </a:r>
          </a:p>
        </p:txBody>
      </p:sp>
      <p:sp>
        <p:nvSpPr>
          <p:cNvPr id="33" name="Shape 31"/>
          <p:cNvSpPr/>
          <p:nvPr/>
        </p:nvSpPr>
        <p:spPr>
          <a:xfrm>
            <a:off x="8595360" y="1344168"/>
            <a:ext cx="3227832" cy="5239512"/>
          </a:xfrm>
          <a:prstGeom prst="rect">
            <a:avLst/>
          </a:prstGeom>
          <a:solidFill>
            <a:srgbClr val="E9EFF8"/>
          </a:solidFill>
          <a:ln w="9525">
            <a:solidFill>
              <a:srgbClr val="D7DEE9"/>
            </a:solidFill>
            <a:prstDash val="solid"/>
          </a:ln>
        </p:spPr>
        <p:txBody>
          <a:bodyPr/>
          <a:p/>
        </p:txBody>
      </p:sp>
      <p:sp>
        <p:nvSpPr>
          <p:cNvPr id="34" name="Text 32"/>
          <p:cNvSpPr/>
          <p:nvPr/>
        </p:nvSpPr>
        <p:spPr>
          <a:xfrm>
            <a:off x="8595360" y="1435608"/>
            <a:ext cx="3227832" cy="310896"/>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Prioritization Outcomes</a:t>
            </a:r>
            <a:endParaRPr lang="en-US" sz="1500" dirty="0"/>
          </a:p>
        </p:txBody>
      </p:sp>
      <p:sp>
        <p:nvSpPr>
          <p:cNvPr id="35" name="Text 33"/>
          <p:cNvSpPr/>
          <p:nvPr/>
        </p:nvSpPr>
        <p:spPr>
          <a:xfrm>
            <a:off x="8796528" y="1847088"/>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VALUE</a:t>
            </a:r>
            <a:endParaRPr lang="en-US" sz="1000" dirty="0"/>
          </a:p>
        </p:txBody>
      </p:sp>
      <p:sp>
        <p:nvSpPr>
          <p:cNvPr id="36" name="Text 34"/>
          <p:cNvSpPr/>
          <p:nvPr/>
        </p:nvSpPr>
        <p:spPr>
          <a:xfrm>
            <a:off x="8796528" y="212140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Clinical Impact</a:t>
            </a:r>
            <a:endParaRPr lang="en-US" sz="950" dirty="0"/>
          </a:p>
        </p:txBody>
      </p:sp>
      <p:sp>
        <p:nvSpPr>
          <p:cNvPr id="37" name="Shape 35"/>
          <p:cNvSpPr/>
          <p:nvPr/>
        </p:nvSpPr>
        <p:spPr>
          <a:xfrm>
            <a:off x="10588752" y="2157984"/>
            <a:ext cx="301752" cy="237744"/>
          </a:xfrm>
          <a:prstGeom prst="roundRect">
            <a:avLst>
              <a:gd name="adj" fmla="val 15385"/>
            </a:avLst>
          </a:prstGeom>
          <a:solidFill>
            <a:srgbClr val="3B6EA5"/>
          </a:solidFill>
          <a:ln w="12700">
            <a:solidFill>
              <a:srgbClr val="3B6EA5"/>
            </a:solidFill>
            <a:prstDash val="solid"/>
          </a:ln>
        </p:spPr>
        <p:txBody>
          <a:bodyPr/>
          <a:p/>
        </p:txBody>
      </p:sp>
      <p:sp>
        <p:nvSpPr>
          <p:cNvPr id="38" name="Text 36"/>
          <p:cNvSpPr/>
          <p:nvPr/>
        </p:nvSpPr>
        <p:spPr>
          <a:xfrm>
            <a:off x="10588752" y="215798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t>
            </a:r>
            <a:endParaRPr lang="en-US" sz="850" dirty="0"/>
          </a:p>
        </p:txBody>
      </p:sp>
      <p:sp>
        <p:nvSpPr>
          <p:cNvPr id="39" name="Shape 37"/>
          <p:cNvSpPr/>
          <p:nvPr/>
        </p:nvSpPr>
        <p:spPr>
          <a:xfrm>
            <a:off x="10963656" y="2157984"/>
            <a:ext cx="301752" cy="237744"/>
          </a:xfrm>
          <a:prstGeom prst="roundRect">
            <a:avLst>
              <a:gd name="adj" fmla="val 15385"/>
            </a:avLst>
          </a:prstGeom>
          <a:solidFill>
            <a:srgbClr val="FFFFFF"/>
          </a:solidFill>
          <a:ln w="12700">
            <a:solidFill>
              <a:srgbClr val="D7DEE9"/>
            </a:solidFill>
            <a:prstDash val="solid"/>
          </a:ln>
        </p:spPr>
        <p:txBody>
          <a:bodyPr/>
          <a:p/>
        </p:txBody>
      </p:sp>
      <p:sp>
        <p:nvSpPr>
          <p:cNvPr id="40" name="Text 38"/>
          <p:cNvSpPr/>
          <p:nvPr/>
        </p:nvSpPr>
        <p:spPr>
          <a:xfrm>
            <a:off x="10963656" y="215798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41" name="Shape 39"/>
          <p:cNvSpPr/>
          <p:nvPr/>
        </p:nvSpPr>
        <p:spPr>
          <a:xfrm>
            <a:off x="11338560" y="2157984"/>
            <a:ext cx="301752" cy="237744"/>
          </a:xfrm>
          <a:prstGeom prst="roundRect">
            <a:avLst>
              <a:gd name="adj" fmla="val 15385"/>
            </a:avLst>
          </a:prstGeom>
          <a:solidFill>
            <a:srgbClr val="FFFFFF"/>
          </a:solidFill>
          <a:ln w="12700">
            <a:solidFill>
              <a:srgbClr val="D7DEE9"/>
            </a:solidFill>
            <a:prstDash val="solid"/>
          </a:ln>
        </p:spPr>
        <p:txBody>
          <a:bodyPr/>
          <a:p/>
        </p:txBody>
      </p:sp>
      <p:sp>
        <p:nvSpPr>
          <p:cNvPr id="42" name="Text 40"/>
          <p:cNvSpPr/>
          <p:nvPr/>
        </p:nvSpPr>
        <p:spPr>
          <a:xfrm>
            <a:off x="11338560" y="215798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43" name="Text 41"/>
          <p:cNvSpPr/>
          <p:nvPr/>
        </p:nvSpPr>
        <p:spPr>
          <a:xfrm>
            <a:off x="8796528" y="248716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Business Impact</a:t>
            </a:r>
            <a:endParaRPr lang="en-US" sz="950" dirty="0"/>
          </a:p>
        </p:txBody>
      </p:sp>
      <p:sp>
        <p:nvSpPr>
          <p:cNvPr id="44" name="Shape 42"/>
          <p:cNvSpPr/>
          <p:nvPr/>
        </p:nvSpPr>
        <p:spPr>
          <a:xfrm>
            <a:off x="10588752" y="2523744"/>
            <a:ext cx="301752" cy="237744"/>
          </a:xfrm>
          <a:prstGeom prst="roundRect">
            <a:avLst>
              <a:gd name="adj" fmla="val 15385"/>
            </a:avLst>
          </a:prstGeom>
          <a:solidFill>
            <a:srgbClr val="FFFFFF"/>
          </a:solidFill>
          <a:ln w="12700">
            <a:solidFill>
              <a:srgbClr val="D7DEE9"/>
            </a:solidFill>
            <a:prstDash val="solid"/>
          </a:ln>
        </p:spPr>
        <p:txBody>
          <a:bodyPr/>
          <a:p/>
        </p:txBody>
      </p:sp>
      <p:sp>
        <p:nvSpPr>
          <p:cNvPr id="45" name="Text 43"/>
          <p:cNvSpPr/>
          <p:nvPr/>
        </p:nvSpPr>
        <p:spPr>
          <a:xfrm>
            <a:off x="10588752" y="252374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46" name="Shape 44"/>
          <p:cNvSpPr/>
          <p:nvPr/>
        </p:nvSpPr>
        <p:spPr>
          <a:xfrm>
            <a:off x="10963656" y="2523744"/>
            <a:ext cx="301752" cy="237744"/>
          </a:xfrm>
          <a:prstGeom prst="roundRect">
            <a:avLst>
              <a:gd name="adj" fmla="val 15385"/>
            </a:avLst>
          </a:prstGeom>
          <a:solidFill>
            <a:srgbClr val="FFFFFF"/>
          </a:solidFill>
          <a:ln w="12700">
            <a:solidFill>
              <a:srgbClr val="D7DEE9"/>
            </a:solidFill>
            <a:prstDash val="solid"/>
          </a:ln>
        </p:spPr>
        <p:txBody>
          <a:bodyPr/>
          <a:p/>
        </p:txBody>
      </p:sp>
      <p:sp>
        <p:nvSpPr>
          <p:cNvPr id="47" name="Text 45"/>
          <p:cNvSpPr/>
          <p:nvPr/>
        </p:nvSpPr>
        <p:spPr>
          <a:xfrm>
            <a:off x="10963656" y="252374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48" name="Shape 46"/>
          <p:cNvSpPr/>
          <p:nvPr/>
        </p:nvSpPr>
        <p:spPr>
          <a:xfrm>
            <a:off x="11338560" y="2523744"/>
            <a:ext cx="301752" cy="237744"/>
          </a:xfrm>
          <a:prstGeom prst="roundRect">
            <a:avLst>
              <a:gd name="adj" fmla="val 15385"/>
            </a:avLst>
          </a:prstGeom>
          <a:solidFill>
            <a:srgbClr val="3B6EA5"/>
          </a:solidFill>
          <a:ln w="12700">
            <a:solidFill>
              <a:srgbClr val="3B6EA5"/>
            </a:solidFill>
            <a:prstDash val="solid"/>
          </a:ln>
        </p:spPr>
        <p:txBody>
          <a:bodyPr/>
          <a:p/>
        </p:txBody>
      </p:sp>
      <p:sp>
        <p:nvSpPr>
          <p:cNvPr id="49" name="Text 47"/>
          <p:cNvSpPr/>
          <p:nvPr/>
        </p:nvSpPr>
        <p:spPr>
          <a:xfrm>
            <a:off x="11338560" y="252374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t>
            </a:r>
            <a:endParaRPr lang="en-US" sz="850" dirty="0"/>
          </a:p>
        </p:txBody>
      </p:sp>
      <p:sp>
        <p:nvSpPr>
          <p:cNvPr id="50" name="Text 48"/>
          <p:cNvSpPr/>
          <p:nvPr/>
        </p:nvSpPr>
        <p:spPr>
          <a:xfrm>
            <a:off x="8796528" y="285292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Strategic Alignment</a:t>
            </a:r>
            <a:endParaRPr lang="en-US" sz="950" dirty="0"/>
          </a:p>
        </p:txBody>
      </p:sp>
      <p:sp>
        <p:nvSpPr>
          <p:cNvPr id="51" name="Shape 49"/>
          <p:cNvSpPr/>
          <p:nvPr/>
        </p:nvSpPr>
        <p:spPr>
          <a:xfrm>
            <a:off x="10588752" y="2889504"/>
            <a:ext cx="301752" cy="237744"/>
          </a:xfrm>
          <a:prstGeom prst="roundRect">
            <a:avLst>
              <a:gd name="adj" fmla="val 15385"/>
            </a:avLst>
          </a:prstGeom>
          <a:solidFill>
            <a:srgbClr val="FFFFFF"/>
          </a:solidFill>
          <a:ln w="12700">
            <a:solidFill>
              <a:srgbClr val="D7DEE9"/>
            </a:solidFill>
            <a:prstDash val="solid"/>
          </a:ln>
        </p:spPr>
        <p:txBody>
          <a:bodyPr/>
          <a:p/>
        </p:txBody>
      </p:sp>
      <p:sp>
        <p:nvSpPr>
          <p:cNvPr id="52" name="Text 50"/>
          <p:cNvSpPr/>
          <p:nvPr/>
        </p:nvSpPr>
        <p:spPr>
          <a:xfrm>
            <a:off x="10588752" y="288950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53" name="Shape 51"/>
          <p:cNvSpPr/>
          <p:nvPr/>
        </p:nvSpPr>
        <p:spPr>
          <a:xfrm>
            <a:off x="10963656" y="2889504"/>
            <a:ext cx="301752" cy="237744"/>
          </a:xfrm>
          <a:prstGeom prst="roundRect">
            <a:avLst>
              <a:gd name="adj" fmla="val 15385"/>
            </a:avLst>
          </a:prstGeom>
          <a:solidFill>
            <a:srgbClr val="FFFFFF"/>
          </a:solidFill>
          <a:ln w="12700">
            <a:solidFill>
              <a:srgbClr val="D7DEE9"/>
            </a:solidFill>
            <a:prstDash val="solid"/>
          </a:ln>
        </p:spPr>
        <p:txBody>
          <a:bodyPr/>
          <a:p/>
        </p:txBody>
      </p:sp>
      <p:sp>
        <p:nvSpPr>
          <p:cNvPr id="54" name="Text 52"/>
          <p:cNvSpPr/>
          <p:nvPr/>
        </p:nvSpPr>
        <p:spPr>
          <a:xfrm>
            <a:off x="10963656" y="288950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55" name="Shape 53"/>
          <p:cNvSpPr/>
          <p:nvPr/>
        </p:nvSpPr>
        <p:spPr>
          <a:xfrm>
            <a:off x="11338560" y="2889504"/>
            <a:ext cx="301752" cy="237744"/>
          </a:xfrm>
          <a:prstGeom prst="roundRect">
            <a:avLst>
              <a:gd name="adj" fmla="val 15385"/>
            </a:avLst>
          </a:prstGeom>
          <a:solidFill>
            <a:srgbClr val="3B6EA5"/>
          </a:solidFill>
          <a:ln w="12700">
            <a:solidFill>
              <a:srgbClr val="3B6EA5"/>
            </a:solidFill>
            <a:prstDash val="solid"/>
          </a:ln>
        </p:spPr>
        <p:txBody>
          <a:bodyPr/>
          <a:p/>
        </p:txBody>
      </p:sp>
      <p:sp>
        <p:nvSpPr>
          <p:cNvPr id="56" name="Text 54"/>
          <p:cNvSpPr/>
          <p:nvPr/>
        </p:nvSpPr>
        <p:spPr>
          <a:xfrm>
            <a:off x="11338560" y="288950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t>
            </a:r>
            <a:endParaRPr lang="en-US" sz="850" dirty="0"/>
          </a:p>
        </p:txBody>
      </p:sp>
      <p:sp>
        <p:nvSpPr>
          <p:cNvPr id="57" name="Shape 55"/>
          <p:cNvSpPr/>
          <p:nvPr/>
        </p:nvSpPr>
        <p:spPr>
          <a:xfrm>
            <a:off x="8796528" y="3310128"/>
            <a:ext cx="2825496" cy="0"/>
          </a:xfrm>
          <a:prstGeom prst="line">
            <a:avLst/>
          </a:prstGeom>
          <a:noFill/>
          <a:ln w="12700">
            <a:solidFill>
              <a:srgbClr val="D7DEE9"/>
            </a:solidFill>
            <a:prstDash val="solid"/>
          </a:ln>
        </p:spPr>
        <p:txBody>
          <a:bodyPr/>
          <a:p/>
        </p:txBody>
      </p:sp>
      <p:sp>
        <p:nvSpPr>
          <p:cNvPr id="58" name="Text 56"/>
          <p:cNvSpPr/>
          <p:nvPr/>
        </p:nvSpPr>
        <p:spPr>
          <a:xfrm>
            <a:off x="8796528" y="3456432"/>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FEASIBILITY</a:t>
            </a:r>
            <a:endParaRPr lang="en-US" sz="1000" dirty="0"/>
          </a:p>
        </p:txBody>
      </p:sp>
      <p:sp>
        <p:nvSpPr>
          <p:cNvPr id="59" name="Text 57"/>
          <p:cNvSpPr/>
          <p:nvPr/>
        </p:nvSpPr>
        <p:spPr>
          <a:xfrm>
            <a:off x="8796528" y="373075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Technical Feasibility</a:t>
            </a:r>
            <a:endParaRPr lang="en-US" sz="950" dirty="0"/>
          </a:p>
        </p:txBody>
      </p:sp>
      <p:sp>
        <p:nvSpPr>
          <p:cNvPr id="60" name="Shape 58"/>
          <p:cNvSpPr/>
          <p:nvPr/>
        </p:nvSpPr>
        <p:spPr>
          <a:xfrm>
            <a:off x="10588752" y="3767328"/>
            <a:ext cx="301752" cy="237744"/>
          </a:xfrm>
          <a:prstGeom prst="roundRect">
            <a:avLst>
              <a:gd name="adj" fmla="val 15385"/>
            </a:avLst>
          </a:prstGeom>
          <a:solidFill>
            <a:srgbClr val="FFFFFF"/>
          </a:solidFill>
          <a:ln w="12700">
            <a:solidFill>
              <a:srgbClr val="D7DEE9"/>
            </a:solidFill>
            <a:prstDash val="solid"/>
          </a:ln>
        </p:spPr>
        <p:txBody>
          <a:bodyPr/>
          <a:p/>
        </p:txBody>
      </p:sp>
      <p:sp>
        <p:nvSpPr>
          <p:cNvPr id="61" name="Text 59"/>
          <p:cNvSpPr/>
          <p:nvPr/>
        </p:nvSpPr>
        <p:spPr>
          <a:xfrm>
            <a:off x="10588752" y="376732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62" name="Shape 60"/>
          <p:cNvSpPr/>
          <p:nvPr/>
        </p:nvSpPr>
        <p:spPr>
          <a:xfrm>
            <a:off x="10963656" y="3767328"/>
            <a:ext cx="301752" cy="237744"/>
          </a:xfrm>
          <a:prstGeom prst="roundRect">
            <a:avLst>
              <a:gd name="adj" fmla="val 15385"/>
            </a:avLst>
          </a:prstGeom>
          <a:solidFill>
            <a:srgbClr val="3B6EA5"/>
          </a:solidFill>
          <a:ln w="12700">
            <a:solidFill>
              <a:srgbClr val="3B6EA5"/>
            </a:solidFill>
            <a:prstDash val="solid"/>
          </a:ln>
        </p:spPr>
        <p:txBody>
          <a:bodyPr/>
          <a:p/>
        </p:txBody>
      </p:sp>
      <p:sp>
        <p:nvSpPr>
          <p:cNvPr id="63" name="Text 61"/>
          <p:cNvSpPr/>
          <p:nvPr/>
        </p:nvSpPr>
        <p:spPr>
          <a:xfrm>
            <a:off x="10963656" y="376732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64" name="Shape 62"/>
          <p:cNvSpPr/>
          <p:nvPr/>
        </p:nvSpPr>
        <p:spPr>
          <a:xfrm>
            <a:off x="11338560" y="3767328"/>
            <a:ext cx="301752" cy="237744"/>
          </a:xfrm>
          <a:prstGeom prst="roundRect">
            <a:avLst>
              <a:gd name="adj" fmla="val 15385"/>
            </a:avLst>
          </a:prstGeom>
          <a:solidFill>
            <a:srgbClr val="FFFFFF"/>
          </a:solidFill>
          <a:ln w="12700">
            <a:solidFill>
              <a:srgbClr val="D7DEE9"/>
            </a:solidFill>
            <a:prstDash val="solid"/>
          </a:ln>
        </p:spPr>
        <p:txBody>
          <a:bodyPr/>
          <a:p/>
        </p:txBody>
      </p:sp>
      <p:sp>
        <p:nvSpPr>
          <p:cNvPr id="65" name="Text 63"/>
          <p:cNvSpPr/>
          <p:nvPr/>
        </p:nvSpPr>
        <p:spPr>
          <a:xfrm>
            <a:off x="11338560" y="376732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66" name="Text 64"/>
          <p:cNvSpPr/>
          <p:nvPr/>
        </p:nvSpPr>
        <p:spPr>
          <a:xfrm>
            <a:off x="8796528" y="409651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Organizational Feasibility</a:t>
            </a:r>
            <a:endParaRPr lang="en-US" sz="950" dirty="0"/>
          </a:p>
        </p:txBody>
      </p:sp>
      <p:sp>
        <p:nvSpPr>
          <p:cNvPr id="67" name="Shape 65"/>
          <p:cNvSpPr/>
          <p:nvPr/>
        </p:nvSpPr>
        <p:spPr>
          <a:xfrm>
            <a:off x="10588752" y="4133088"/>
            <a:ext cx="301752" cy="237744"/>
          </a:xfrm>
          <a:prstGeom prst="roundRect">
            <a:avLst>
              <a:gd name="adj" fmla="val 15385"/>
            </a:avLst>
          </a:prstGeom>
          <a:solidFill>
            <a:srgbClr val="FFFFFF"/>
          </a:solidFill>
          <a:ln w="12700">
            <a:solidFill>
              <a:srgbClr val="D7DEE9"/>
            </a:solidFill>
            <a:prstDash val="solid"/>
          </a:ln>
        </p:spPr>
        <p:txBody>
          <a:bodyPr/>
          <a:p/>
        </p:txBody>
      </p:sp>
      <p:sp>
        <p:nvSpPr>
          <p:cNvPr id="68" name="Text 66"/>
          <p:cNvSpPr/>
          <p:nvPr/>
        </p:nvSpPr>
        <p:spPr>
          <a:xfrm>
            <a:off x="10588752" y="413308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69" name="Shape 67"/>
          <p:cNvSpPr/>
          <p:nvPr/>
        </p:nvSpPr>
        <p:spPr>
          <a:xfrm>
            <a:off x="10963656" y="4133088"/>
            <a:ext cx="301752" cy="237744"/>
          </a:xfrm>
          <a:prstGeom prst="roundRect">
            <a:avLst>
              <a:gd name="adj" fmla="val 15385"/>
            </a:avLst>
          </a:prstGeom>
          <a:solidFill>
            <a:srgbClr val="3B6EA5"/>
          </a:solidFill>
          <a:ln w="12700">
            <a:solidFill>
              <a:srgbClr val="3B6EA5"/>
            </a:solidFill>
            <a:prstDash val="solid"/>
          </a:ln>
        </p:spPr>
        <p:txBody>
          <a:bodyPr/>
          <a:p/>
        </p:txBody>
      </p:sp>
      <p:sp>
        <p:nvSpPr>
          <p:cNvPr id="70" name="Text 68"/>
          <p:cNvSpPr/>
          <p:nvPr/>
        </p:nvSpPr>
        <p:spPr>
          <a:xfrm>
            <a:off x="10963656" y="413308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71" name="Shape 69"/>
          <p:cNvSpPr/>
          <p:nvPr/>
        </p:nvSpPr>
        <p:spPr>
          <a:xfrm>
            <a:off x="11338560" y="4133088"/>
            <a:ext cx="301752" cy="237744"/>
          </a:xfrm>
          <a:prstGeom prst="roundRect">
            <a:avLst>
              <a:gd name="adj" fmla="val 15385"/>
            </a:avLst>
          </a:prstGeom>
          <a:solidFill>
            <a:srgbClr val="FFFFFF"/>
          </a:solidFill>
          <a:ln w="12700">
            <a:solidFill>
              <a:srgbClr val="D7DEE9"/>
            </a:solidFill>
            <a:prstDash val="solid"/>
          </a:ln>
        </p:spPr>
        <p:txBody>
          <a:bodyPr/>
          <a:p/>
        </p:txBody>
      </p:sp>
      <p:sp>
        <p:nvSpPr>
          <p:cNvPr id="72" name="Text 70"/>
          <p:cNvSpPr/>
          <p:nvPr/>
        </p:nvSpPr>
        <p:spPr>
          <a:xfrm>
            <a:off x="11338560" y="413308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73" name="Text 71"/>
          <p:cNvSpPr/>
          <p:nvPr/>
        </p:nvSpPr>
        <p:spPr>
          <a:xfrm>
            <a:off x="8796528" y="446227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Cost Feasibility</a:t>
            </a:r>
            <a:endParaRPr lang="en-US" sz="950" dirty="0"/>
          </a:p>
        </p:txBody>
      </p:sp>
      <p:sp>
        <p:nvSpPr>
          <p:cNvPr id="74" name="Shape 72"/>
          <p:cNvSpPr/>
          <p:nvPr/>
        </p:nvSpPr>
        <p:spPr>
          <a:xfrm>
            <a:off x="10588752" y="4498848"/>
            <a:ext cx="301752" cy="237744"/>
          </a:xfrm>
          <a:prstGeom prst="roundRect">
            <a:avLst>
              <a:gd name="adj" fmla="val 15385"/>
            </a:avLst>
          </a:prstGeom>
          <a:solidFill>
            <a:srgbClr val="FFFFFF"/>
          </a:solidFill>
          <a:ln w="12700">
            <a:solidFill>
              <a:srgbClr val="D7DEE9"/>
            </a:solidFill>
            <a:prstDash val="solid"/>
          </a:ln>
        </p:spPr>
        <p:txBody>
          <a:bodyPr/>
          <a:p/>
        </p:txBody>
      </p:sp>
      <p:sp>
        <p:nvSpPr>
          <p:cNvPr id="75" name="Text 73"/>
          <p:cNvSpPr/>
          <p:nvPr/>
        </p:nvSpPr>
        <p:spPr>
          <a:xfrm>
            <a:off x="10588752" y="449884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76" name="Shape 74"/>
          <p:cNvSpPr/>
          <p:nvPr/>
        </p:nvSpPr>
        <p:spPr>
          <a:xfrm>
            <a:off x="10963656" y="4498848"/>
            <a:ext cx="301752" cy="237744"/>
          </a:xfrm>
          <a:prstGeom prst="roundRect">
            <a:avLst>
              <a:gd name="adj" fmla="val 15385"/>
            </a:avLst>
          </a:prstGeom>
          <a:solidFill>
            <a:srgbClr val="3B6EA5"/>
          </a:solidFill>
          <a:ln w="12700">
            <a:solidFill>
              <a:srgbClr val="3B6EA5"/>
            </a:solidFill>
            <a:prstDash val="solid"/>
          </a:ln>
        </p:spPr>
        <p:txBody>
          <a:bodyPr/>
          <a:p/>
        </p:txBody>
      </p:sp>
      <p:sp>
        <p:nvSpPr>
          <p:cNvPr id="77" name="Text 75"/>
          <p:cNvSpPr/>
          <p:nvPr/>
        </p:nvSpPr>
        <p:spPr>
          <a:xfrm>
            <a:off x="10963656" y="449884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78" name="Shape 76"/>
          <p:cNvSpPr/>
          <p:nvPr/>
        </p:nvSpPr>
        <p:spPr>
          <a:xfrm>
            <a:off x="11338560" y="4498848"/>
            <a:ext cx="301752" cy="237744"/>
          </a:xfrm>
          <a:prstGeom prst="roundRect">
            <a:avLst>
              <a:gd name="adj" fmla="val 15385"/>
            </a:avLst>
          </a:prstGeom>
          <a:solidFill>
            <a:srgbClr val="FFFFFF"/>
          </a:solidFill>
          <a:ln w="12700">
            <a:solidFill>
              <a:srgbClr val="D7DEE9"/>
            </a:solidFill>
            <a:prstDash val="solid"/>
          </a:ln>
        </p:spPr>
        <p:txBody>
          <a:bodyPr/>
          <a:p/>
        </p:txBody>
      </p:sp>
      <p:sp>
        <p:nvSpPr>
          <p:cNvPr id="79" name="Text 77"/>
          <p:cNvSpPr/>
          <p:nvPr/>
        </p:nvSpPr>
        <p:spPr>
          <a:xfrm>
            <a:off x="11338560" y="449884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80" name="Shape 78"/>
          <p:cNvSpPr/>
          <p:nvPr/>
        </p:nvSpPr>
        <p:spPr>
          <a:xfrm>
            <a:off x="8796528" y="4965192"/>
            <a:ext cx="2825496" cy="0"/>
          </a:xfrm>
          <a:prstGeom prst="line">
            <a:avLst/>
          </a:prstGeom>
          <a:noFill/>
          <a:ln w="12700">
            <a:solidFill>
              <a:srgbClr val="D7DEE9"/>
            </a:solidFill>
            <a:prstDash val="solid"/>
          </a:ln>
        </p:spPr>
        <p:txBody>
          <a:bodyPr/>
          <a:p/>
        </p:txBody>
      </p:sp>
      <p:sp>
        <p:nvSpPr>
          <p:cNvPr id="81" name="Text 79"/>
          <p:cNvSpPr/>
          <p:nvPr/>
        </p:nvSpPr>
        <p:spPr>
          <a:xfrm>
            <a:off x="8796528" y="5129784"/>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TIME TO DEPLOY</a:t>
            </a:r>
            <a:endParaRPr lang="en-US" sz="1000" dirty="0"/>
          </a:p>
        </p:txBody>
      </p:sp>
      <p:sp>
        <p:nvSpPr>
          <p:cNvPr id="82" name="Text 80"/>
          <p:cNvSpPr/>
          <p:nvPr/>
        </p:nvSpPr>
        <p:spPr>
          <a:xfrm>
            <a:off x="8796528" y="5404104"/>
            <a:ext cx="2825496" cy="1133856"/>
          </a:xfrm>
          <a:prstGeom prst="rect">
            <a:avLst/>
          </a:prstGeom>
          <a:noFill/>
          <a:ln/>
        </p:spPr>
        <p:txBody>
          <a:bodyPr wrap="square" lIns="0" tIns="0" rIns="0" bIns="0" rtlCol="0" anchor="t"/>
          <a:lstStyle/>
          <a:p>
            <a:pPr indent="0" marL="0">
              <a:lnSpc>
                <a:spcPct val="104000"/>
              </a:lnSpc>
              <a:buNone/>
            </a:pPr>
            <a:r>
              <a:rPr lang="en-US" sz="900" b="1" dirty="0">
                <a:solidFill>
                  <a:srgbClr val="3A3F55"/>
                </a:solidFill>
                <a:latin typeface="Calibri" pitchFamily="34" charset="0"/>
                <a:ea typeface="Calibri" pitchFamily="34" charset="-122"/>
                <a:cs typeface="Calibri" pitchFamily="34" charset="-120"/>
              </a:rPr>
              <a:t>POC: </a:t>
            </a:r>
            <a:pPr indent="0" marL="0">
              <a:lnSpc>
                <a:spcPct val="104000"/>
              </a:lnSpc>
              <a:buNone/>
            </a:pPr>
            <a:r>
              <a:rPr lang="en-US" sz="900" dirty="0">
                <a:solidFill>
                  <a:srgbClr val="3A3F55"/>
                </a:solidFill>
                <a:latin typeface="Calibri" pitchFamily="34" charset="0"/>
                <a:ea typeface="Calibri" pitchFamily="34" charset="-122"/>
                <a:cs typeface="Calibri" pitchFamily="34" charset="-120"/>
              </a:rPr>
              <a:t>demonstrates feasibility with an end-to-end AI-assisted workflow.
</a:t>
            </a:r>
            <a:endParaRPr lang="en-US" sz="900" dirty="0"/>
          </a:p>
          <a:p>
            <a:pPr indent="0" marL="0">
              <a:lnSpc>
                <a:spcPct val="104000"/>
              </a:lnSpc>
              <a:buNone/>
            </a:pPr>
            <a:r>
              <a:rPr lang="en-US" sz="900" b="1" dirty="0">
                <a:solidFill>
                  <a:srgbClr val="3A3F55"/>
                </a:solidFill>
                <a:latin typeface="Calibri" pitchFamily="34" charset="0"/>
                <a:ea typeface="Calibri" pitchFamily="34" charset="-122"/>
                <a:cs typeface="Calibri" pitchFamily="34" charset="-120"/>
              </a:rPr>
              <a:t>Production: </a:t>
            </a:r>
            <a:pPr indent="0" marL="0">
              <a:lnSpc>
                <a:spcPct val="104000"/>
              </a:lnSpc>
              <a:buNone/>
            </a:pPr>
            <a:r>
              <a:rPr lang="en-US" sz="900" dirty="0">
                <a:solidFill>
                  <a:srgbClr val="3A3F55"/>
                </a:solidFill>
                <a:latin typeface="Calibri" pitchFamily="34" charset="0"/>
                <a:ea typeface="Calibri" pitchFamily="34" charset="-122"/>
                <a:cs typeface="Calibri" pitchFamily="34" charset="-120"/>
              </a:rPr>
              <a:t>approx. 3–6 months, depending on architecture, security assessment, governance, licensing, integration and testing.</a:t>
            </a:r>
            <a:endParaRPr lang="en-US" sz="900" dirty="0"/>
          </a:p>
        </p:txBody>
      </p:sp>
      <p:sp>
        <p:nvSpPr>
          <p:cNvPr id="83" name="Text 81"/>
          <p:cNvSpPr/>
          <p:nvPr/>
        </p:nvSpPr>
        <p:spPr>
          <a:xfrm>
            <a:off x="365760" y="6611112"/>
            <a:ext cx="11457432" cy="292608"/>
          </a:xfrm>
          <a:prstGeom prst="rect">
            <a:avLst/>
          </a:prstGeom>
          <a:noFill/>
          <a:ln/>
        </p:spPr>
        <p:txBody>
          <a:bodyPr wrap="square" lIns="0" tIns="0" rIns="0" bIns="0" rtlCol="0" anchor="t"/>
          <a:lstStyle/>
          <a:p>
            <a:pPr indent="0" marL="0">
              <a:lnSpc>
                <a:spcPct val="105000"/>
              </a:lnSpc>
              <a:buNone/>
            </a:pPr>
            <a:r>
              <a:t>AI Layer</a:t>
            </a:r>
            <a:endParaRPr lang="en-US" sz="750" dirty="0"/>
          </a:p>
          <a:p>
            <a:pPr/>
            <a:r>
              <a:t>• Enterprise Generative AI Platform</a:t>
            </a:r>
          </a:p>
          <a:p>
            <a:pPr/>
            <a:r>
              <a:t>• Enterprise AI Gateway (recommended)</a:t>
            </a:r>
          </a:p>
          <a:p>
            <a:pPr/>
          </a:p>
          <a:p>
            <a:pPr/>
            <a:r>
              <a:t>Automation Layer</a:t>
            </a:r>
          </a:p>
          <a:p>
            <a:pPr/>
            <a:r>
              <a:t>• Microsoft Power Automate</a:t>
            </a:r>
          </a:p>
          <a:p>
            <a:pPr/>
            <a:r>
              <a:t>• Enterprise Approval Workflow</a:t>
            </a:r>
          </a:p>
          <a:p>
            <a:pPr/>
          </a:p>
          <a:p>
            <a:pPr/>
            <a:r>
              <a:t>Enterprise Integration</a:t>
            </a:r>
          </a:p>
          <a:p>
            <a:pPr/>
            <a:r>
              <a:t>• Enterprise APIs</a:t>
            </a:r>
          </a:p>
          <a:p>
            <a:pPr/>
            <a:r>
              <a:t>• Enterprise Database Integration</a:t>
            </a:r>
          </a:p>
          <a:p>
            <a:pPr/>
            <a:r>
              <a:t>• Premium Connectors (where applicable)</a:t>
            </a:r>
          </a:p>
          <a:p>
            <a:pPr/>
          </a:p>
          <a:p>
            <a:pPr/>
            <a:r>
              <a:t>Enterprise Systems</a:t>
            </a:r>
          </a:p>
          <a:p>
            <a:pPr/>
            <a:r>
              <a:t>• ITSM / Helpdesk Platform</a:t>
            </a:r>
          </a:p>
          <a:p>
            <a:pPr/>
            <a:r>
              <a:t>• Microsoft 365</a:t>
            </a:r>
          </a:p>
          <a:p>
            <a:pPr/>
            <a:r>
              <a:t>• Microsoft Teams</a:t>
            </a:r>
          </a:p>
          <a:p>
            <a:pPr/>
          </a:p>
          <a:p>
            <a:pPr/>
            <a:r>
              <a:t>Governance</a:t>
            </a:r>
          </a:p>
          <a:p>
            <a:pPr/>
            <a:r>
              <a:t>• Identity &amp; Access Management</a:t>
            </a:r>
          </a:p>
          <a:p>
            <a:pPr/>
            <a:r>
              <a:t>• Information Security</a:t>
            </a:r>
          </a:p>
          <a:p>
            <a:pPr/>
            <a:r>
              <a:t>• Monitoring &amp; Audit Logging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761"/>
          </a:solidFill>
          <a:ln/>
        </p:spPr>
      </p:sp>
      <p:sp>
        <p:nvSpPr>
          <p:cNvPr id="3" name="Shape 1"/>
          <p:cNvSpPr/>
          <p:nvPr/>
        </p:nvSpPr>
        <p:spPr>
          <a:xfrm>
            <a:off x="10607040" y="-365760"/>
            <a:ext cx="2011680" cy="2011680"/>
          </a:xfrm>
          <a:prstGeom prst="ellipse">
            <a:avLst/>
          </a:prstGeom>
          <a:solidFill>
            <a:srgbClr val="3B6EA5">
              <a:alpha val="18000"/>
            </a:srgbClr>
          </a:solidFill>
          <a:ln/>
        </p:spPr>
      </p:sp>
      <p:sp>
        <p:nvSpPr>
          <p:cNvPr id="4" name="Shape 2"/>
          <p:cNvSpPr/>
          <p:nvPr/>
        </p:nvSpPr>
        <p:spPr>
          <a:xfrm>
            <a:off x="11521440" y="640080"/>
            <a:ext cx="1005840" cy="1005840"/>
          </a:xfrm>
          <a:prstGeom prst="ellipse">
            <a:avLst/>
          </a:prstGeom>
          <a:solidFill>
            <a:srgbClr val="3B6EA5">
              <a:alpha val="18000"/>
            </a:srgbClr>
          </a:solidFill>
          <a:ln/>
        </p:spPr>
      </p:sp>
      <p:sp>
        <p:nvSpPr>
          <p:cNvPr id="5" name="Shape 3"/>
          <p:cNvSpPr/>
          <p:nvPr/>
        </p:nvSpPr>
        <p:spPr>
          <a:xfrm>
            <a:off x="9784080" y="822960"/>
            <a:ext cx="457200" cy="457200"/>
          </a:xfrm>
          <a:prstGeom prst="ellipse">
            <a:avLst/>
          </a:prstGeom>
          <a:solidFill>
            <a:srgbClr val="3B6EA5">
              <a:alpha val="18000"/>
            </a:srgbClr>
          </a:solidFill>
          <a:ln/>
        </p:spPr>
      </p:sp>
      <p:sp>
        <p:nvSpPr>
          <p:cNvPr id="6" name="Shape 4"/>
          <p:cNvSpPr/>
          <p:nvPr/>
        </p:nvSpPr>
        <p:spPr>
          <a:xfrm>
            <a:off x="274320" y="594360"/>
            <a:ext cx="822960" cy="822960"/>
          </a:xfrm>
          <a:prstGeom prst="ellipse">
            <a:avLst/>
          </a:prstGeom>
          <a:solidFill>
            <a:srgbClr val="3B6EA5">
              <a:alpha val="18000"/>
            </a:srgbClr>
          </a:solidFill>
          <a:ln/>
        </p:spPr>
      </p:sp>
      <p:sp>
        <p:nvSpPr>
          <p:cNvPr id="7" name="Shape 5"/>
          <p:cNvSpPr/>
          <p:nvPr/>
        </p:nvSpPr>
        <p:spPr>
          <a:xfrm>
            <a:off x="8503920" y="182880"/>
            <a:ext cx="320040" cy="320040"/>
          </a:xfrm>
          <a:prstGeom prst="ellipse">
            <a:avLst/>
          </a:prstGeom>
          <a:solidFill>
            <a:srgbClr val="3B6EA5">
              <a:alpha val="18000"/>
            </a:srgbClr>
          </a:solidFill>
          <a:ln/>
        </p:spPr>
      </p:sp>
      <p:sp>
        <p:nvSpPr>
          <p:cNvPr id="8" name="Shape 6"/>
          <p:cNvSpPr/>
          <p:nvPr/>
        </p:nvSpPr>
        <p:spPr>
          <a:xfrm>
            <a:off x="10881360" y="1005840"/>
            <a:ext cx="274320" cy="274320"/>
          </a:xfrm>
          <a:prstGeom prst="ellipse">
            <a:avLst/>
          </a:prstGeom>
          <a:solidFill>
            <a:srgbClr val="3B6EA5">
              <a:alpha val="18000"/>
            </a:srgbClr>
          </a:solidFill>
          <a:ln/>
        </p:spPr>
      </p:sp>
      <p:sp>
        <p:nvSpPr>
          <p:cNvPr id="9" name="Text 7"/>
          <p:cNvSpPr/>
          <p:nvPr/>
        </p:nvSpPr>
        <p:spPr>
          <a:xfrm>
            <a:off x="457200" y="146304"/>
            <a:ext cx="10789920" cy="56692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POC Workflow &amp; AI Governance</a:t>
            </a:r>
            <a:endParaRPr lang="en-US" sz="2600" dirty="0"/>
          </a:p>
        </p:txBody>
      </p:sp>
      <p:sp>
        <p:nvSpPr>
          <p:cNvPr id="10" name="Text 8"/>
          <p:cNvSpPr/>
          <p:nvPr/>
        </p:nvSpPr>
        <p:spPr>
          <a:xfrm>
            <a:off x="457200" y="621792"/>
            <a:ext cx="73152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Illustrative POC Scenario: Access and Permission Requests</a:t>
            </a:r>
            <a:endParaRPr lang="en-US" sz="1300" dirty="0"/>
          </a:p>
        </p:txBody>
      </p:sp>
      <p:sp>
        <p:nvSpPr>
          <p:cNvPr id="11" name="Text 9"/>
          <p:cNvSpPr/>
          <p:nvPr/>
        </p:nvSpPr>
        <p:spPr>
          <a:xfrm>
            <a:off x="457200" y="868680"/>
            <a:ext cx="10607040" cy="3200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AI acts as an intelligent support layer, not an autonomous execution mechanism. Sensitive actions remain under human control.</a:t>
            </a:r>
            <a:endParaRPr lang="en-US" sz="1050" dirty="0"/>
          </a:p>
        </p:txBody>
      </p:sp>
      <p:sp>
        <p:nvSpPr>
          <p:cNvPr id="12" name="Shape 10"/>
          <p:cNvSpPr/>
          <p:nvPr/>
        </p:nvSpPr>
        <p:spPr>
          <a:xfrm>
            <a:off x="365760" y="1344168"/>
            <a:ext cx="11457432" cy="292608"/>
          </a:xfrm>
          <a:prstGeom prst="rect">
            <a:avLst/>
          </a:prstGeom>
          <a:solidFill>
            <a:srgbClr val="26325E"/>
          </a:solidFill>
          <a:ln/>
        </p:spPr>
      </p:sp>
      <p:sp>
        <p:nvSpPr>
          <p:cNvPr id="13" name="Text 11"/>
          <p:cNvSpPr/>
          <p:nvPr/>
        </p:nvSpPr>
        <p:spPr>
          <a:xfrm>
            <a:off x="457200" y="1344168"/>
            <a:ext cx="11274552"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Implemented POC Workflow</a:t>
            </a:r>
            <a:endParaRPr lang="en-US" sz="1250" dirty="0"/>
          </a:p>
        </p:txBody>
      </p:sp>
      <p:sp>
        <p:nvSpPr>
          <p:cNvPr id="14" name="Shape 12"/>
          <p:cNvSpPr/>
          <p:nvPr/>
        </p:nvSpPr>
        <p:spPr>
          <a:xfrm>
            <a:off x="365760" y="1636776"/>
            <a:ext cx="11457432" cy="2313432"/>
          </a:xfrm>
          <a:prstGeom prst="rect">
            <a:avLst/>
          </a:prstGeom>
          <a:solidFill>
            <a:srgbClr val="F7F9FC"/>
          </a:solidFill>
          <a:ln w="9525">
            <a:solidFill>
              <a:srgbClr val="D7DEE9"/>
            </a:solidFill>
            <a:prstDash val="solid"/>
          </a:ln>
        </p:spPr>
      </p:sp>
      <p:sp>
        <p:nvSpPr>
          <p:cNvPr id="15" name="Shape 13"/>
          <p:cNvSpPr/>
          <p:nvPr/>
        </p:nvSpPr>
        <p:spPr>
          <a:xfrm>
            <a:off x="530352" y="1847088"/>
            <a:ext cx="1014070" cy="777240"/>
          </a:xfrm>
          <a:prstGeom prst="roundRect">
            <a:avLst>
              <a:gd name="adj" fmla="val 7059"/>
            </a:avLst>
          </a:prstGeom>
          <a:solidFill>
            <a:srgbClr val="1E2761"/>
          </a:solidFill>
          <a:ln/>
        </p:spPr>
      </p:sp>
      <p:sp>
        <p:nvSpPr>
          <p:cNvPr id="16" name="Text 14"/>
          <p:cNvSpPr/>
          <p:nvPr/>
        </p:nvSpPr>
        <p:spPr>
          <a:xfrm>
            <a:off x="530352"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Incoming</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Email</a:t>
            </a:r>
            <a:endParaRPr lang="en-US" sz="800" dirty="0"/>
          </a:p>
        </p:txBody>
      </p:sp>
      <p:sp>
        <p:nvSpPr>
          <p:cNvPr id="17" name="Text 15"/>
          <p:cNvSpPr/>
          <p:nvPr/>
        </p:nvSpPr>
        <p:spPr>
          <a:xfrm>
            <a:off x="154442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1654150" y="1847088"/>
            <a:ext cx="1014070" cy="777240"/>
          </a:xfrm>
          <a:prstGeom prst="roundRect">
            <a:avLst>
              <a:gd name="adj" fmla="val 7059"/>
            </a:avLst>
          </a:prstGeom>
          <a:solidFill>
            <a:srgbClr val="1E2761"/>
          </a:solidFill>
          <a:ln/>
        </p:spPr>
      </p:sp>
      <p:sp>
        <p:nvSpPr>
          <p:cNvPr id="19" name="Text 17"/>
          <p:cNvSpPr/>
          <p:nvPr/>
        </p:nvSpPr>
        <p:spPr>
          <a:xfrm>
            <a:off x="165415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AI</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Analysis</a:t>
            </a:r>
            <a:endParaRPr lang="en-US" sz="800" dirty="0"/>
          </a:p>
        </p:txBody>
      </p:sp>
      <p:sp>
        <p:nvSpPr>
          <p:cNvPr id="20" name="Text 18"/>
          <p:cNvSpPr/>
          <p:nvPr/>
        </p:nvSpPr>
        <p:spPr>
          <a:xfrm>
            <a:off x="2668219"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2777947" y="1847088"/>
            <a:ext cx="1014070" cy="777240"/>
          </a:xfrm>
          <a:prstGeom prst="roundRect">
            <a:avLst>
              <a:gd name="adj" fmla="val 7059"/>
            </a:avLst>
          </a:prstGeom>
          <a:solidFill>
            <a:srgbClr val="1E2761"/>
          </a:solidFill>
          <a:ln/>
        </p:spPr>
      </p:sp>
      <p:sp>
        <p:nvSpPr>
          <p:cNvPr id="22" name="Text 20"/>
          <p:cNvSpPr/>
          <p:nvPr/>
        </p:nvSpPr>
        <p:spPr>
          <a:xfrm>
            <a:off x="2777947"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Extraction</a:t>
            </a:r>
            <a:endParaRPr lang="en-US" sz="800" dirty="0"/>
          </a:p>
        </p:txBody>
      </p:sp>
      <p:sp>
        <p:nvSpPr>
          <p:cNvPr id="23" name="Text 21"/>
          <p:cNvSpPr/>
          <p:nvPr/>
        </p:nvSpPr>
        <p:spPr>
          <a:xfrm>
            <a:off x="3792017"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3901745" y="1847088"/>
            <a:ext cx="1014070" cy="777240"/>
          </a:xfrm>
          <a:prstGeom prst="roundRect">
            <a:avLst>
              <a:gd name="adj" fmla="val 7059"/>
            </a:avLst>
          </a:prstGeom>
          <a:solidFill>
            <a:srgbClr val="1E2761"/>
          </a:solidFill>
          <a:ln/>
        </p:spPr>
      </p:sp>
      <p:sp>
        <p:nvSpPr>
          <p:cNvPr id="25" name="Text 23"/>
          <p:cNvSpPr/>
          <p:nvPr/>
        </p:nvSpPr>
        <p:spPr>
          <a:xfrm>
            <a:off x="3901745"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Validation</a:t>
            </a:r>
            <a:endParaRPr lang="en-US" sz="800" dirty="0"/>
          </a:p>
        </p:txBody>
      </p:sp>
      <p:sp>
        <p:nvSpPr>
          <p:cNvPr id="26" name="Text 24"/>
          <p:cNvSpPr/>
          <p:nvPr/>
        </p:nvSpPr>
        <p:spPr>
          <a:xfrm>
            <a:off x="4915814"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5025542" y="1847088"/>
            <a:ext cx="1014070" cy="777240"/>
          </a:xfrm>
          <a:prstGeom prst="roundRect">
            <a:avLst>
              <a:gd name="adj" fmla="val 7059"/>
            </a:avLst>
          </a:prstGeom>
          <a:solidFill>
            <a:srgbClr val="1E2761"/>
          </a:solidFill>
          <a:ln/>
        </p:spPr>
      </p:sp>
      <p:sp>
        <p:nvSpPr>
          <p:cNvPr id="28" name="Text 26"/>
          <p:cNvSpPr/>
          <p:nvPr/>
        </p:nvSpPr>
        <p:spPr>
          <a:xfrm>
            <a:off x="5025542"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Enterprise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Data Check</a:t>
            </a:r>
            <a:endParaRPr lang="en-US" sz="800" dirty="0"/>
          </a:p>
        </p:txBody>
      </p:sp>
      <p:sp>
        <p:nvSpPr>
          <p:cNvPr id="29" name="Text 27"/>
          <p:cNvSpPr/>
          <p:nvPr/>
        </p:nvSpPr>
        <p:spPr>
          <a:xfrm>
            <a:off x="603961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6149340" y="1847088"/>
            <a:ext cx="1014070" cy="777240"/>
          </a:xfrm>
          <a:prstGeom prst="roundRect">
            <a:avLst>
              <a:gd name="adj" fmla="val 7059"/>
            </a:avLst>
          </a:prstGeom>
          <a:solidFill>
            <a:srgbClr val="1E2761"/>
          </a:solidFill>
          <a:ln/>
        </p:spPr>
      </p:sp>
      <p:sp>
        <p:nvSpPr>
          <p:cNvPr id="31" name="Text 29"/>
          <p:cNvSpPr/>
          <p:nvPr/>
        </p:nvSpPr>
        <p:spPr>
          <a:xfrm>
            <a:off x="614934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Action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Identification</a:t>
            </a:r>
            <a:endParaRPr lang="en-US" sz="800" dirty="0"/>
          </a:p>
        </p:txBody>
      </p:sp>
      <p:sp>
        <p:nvSpPr>
          <p:cNvPr id="32" name="Text 30"/>
          <p:cNvSpPr/>
          <p:nvPr/>
        </p:nvSpPr>
        <p:spPr>
          <a:xfrm>
            <a:off x="7163410"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7273138" y="1847088"/>
            <a:ext cx="1014070" cy="777240"/>
          </a:xfrm>
          <a:prstGeom prst="roundRect">
            <a:avLst>
              <a:gd name="adj" fmla="val 7059"/>
            </a:avLst>
          </a:prstGeom>
          <a:solidFill>
            <a:srgbClr val="1E2761"/>
          </a:solidFill>
          <a:ln/>
        </p:spPr>
      </p:sp>
      <p:sp>
        <p:nvSpPr>
          <p:cNvPr id="34" name="Text 32"/>
          <p:cNvSpPr/>
          <p:nvPr/>
        </p:nvSpPr>
        <p:spPr>
          <a:xfrm>
            <a:off x="7273138"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Script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Generation</a:t>
            </a:r>
            <a:endParaRPr lang="en-US" sz="800" dirty="0"/>
          </a:p>
        </p:txBody>
      </p:sp>
      <p:sp>
        <p:nvSpPr>
          <p:cNvPr id="35" name="Text 33"/>
          <p:cNvSpPr/>
          <p:nvPr/>
        </p:nvSpPr>
        <p:spPr>
          <a:xfrm>
            <a:off x="8287207"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8396935" y="1847088"/>
            <a:ext cx="1014070" cy="777240"/>
          </a:xfrm>
          <a:prstGeom prst="roundRect">
            <a:avLst>
              <a:gd name="adj" fmla="val 7059"/>
            </a:avLst>
          </a:prstGeom>
          <a:solidFill>
            <a:srgbClr val="3B6EA5"/>
          </a:solidFill>
          <a:ln/>
        </p:spPr>
      </p:sp>
      <p:sp>
        <p:nvSpPr>
          <p:cNvPr id="37" name="Text 35"/>
          <p:cNvSpPr/>
          <p:nvPr/>
        </p:nvSpPr>
        <p:spPr>
          <a:xfrm>
            <a:off x="8396935"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Human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Approval</a:t>
            </a:r>
            <a:endParaRPr lang="en-US" sz="800" dirty="0"/>
          </a:p>
        </p:txBody>
      </p:sp>
      <p:sp>
        <p:nvSpPr>
          <p:cNvPr id="38" name="Text 36"/>
          <p:cNvSpPr/>
          <p:nvPr/>
        </p:nvSpPr>
        <p:spPr>
          <a:xfrm>
            <a:off x="9411005"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9520733" y="1847088"/>
            <a:ext cx="1014070" cy="777240"/>
          </a:xfrm>
          <a:prstGeom prst="roundRect">
            <a:avLst>
              <a:gd name="adj" fmla="val 7059"/>
            </a:avLst>
          </a:prstGeom>
          <a:solidFill>
            <a:srgbClr val="1E2761"/>
          </a:solidFill>
          <a:ln/>
        </p:spPr>
      </p:sp>
      <p:sp>
        <p:nvSpPr>
          <p:cNvPr id="40" name="Text 38"/>
          <p:cNvSpPr/>
          <p:nvPr/>
        </p:nvSpPr>
        <p:spPr>
          <a:xfrm>
            <a:off x="9520733"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Ticket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Creation</a:t>
            </a:r>
            <a:endParaRPr lang="en-US" sz="800" dirty="0"/>
          </a:p>
        </p:txBody>
      </p:sp>
      <p:sp>
        <p:nvSpPr>
          <p:cNvPr id="41" name="Text 39"/>
          <p:cNvSpPr/>
          <p:nvPr/>
        </p:nvSpPr>
        <p:spPr>
          <a:xfrm>
            <a:off x="1053480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10644530" y="1847088"/>
            <a:ext cx="1014070" cy="777240"/>
          </a:xfrm>
          <a:prstGeom prst="roundRect">
            <a:avLst>
              <a:gd name="adj" fmla="val 7059"/>
            </a:avLst>
          </a:prstGeom>
          <a:solidFill>
            <a:srgbClr val="1E2761"/>
          </a:solidFill>
          <a:ln/>
        </p:spPr>
      </p:sp>
      <p:sp>
        <p:nvSpPr>
          <p:cNvPr id="43" name="Text 41"/>
          <p:cNvSpPr/>
          <p:nvPr/>
        </p:nvSpPr>
        <p:spPr>
          <a:xfrm>
            <a:off x="1064453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Team</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Notification</a:t>
            </a:r>
            <a:endParaRPr lang="en-US" sz="800" dirty="0"/>
          </a:p>
        </p:txBody>
      </p:sp>
      <p:sp>
        <p:nvSpPr>
          <p:cNvPr id="44" name="Text 42"/>
          <p:cNvSpPr/>
          <p:nvPr/>
        </p:nvSpPr>
        <p:spPr>
          <a:xfrm>
            <a:off x="530352" y="2770632"/>
            <a:ext cx="11128248" cy="1088136"/>
          </a:xfrm>
          <a:prstGeom prst="rect">
            <a:avLst/>
          </a:prstGeom>
          <a:noFill/>
          <a:ln/>
        </p:spPr>
        <p:txBody>
          <a:bodyPr wrap="square" lIns="0" tIns="0" rIns="0" bIns="0" rtlCol="0" anchor="t"/>
          <a:lstStyle/>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Filters automated/system emails to prevent the workflow from unintentionally retriggering itself</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Processes multiple permission requests within a single email and classifies each by permission type</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Validates the AI-extracted response before it is used in any downstream step</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For the POC, trusted reference data in SharePoint is used to check roles, facilities, specialties, and mappings. In production, enterprise data verification may be performed through approved databases, APIs, or integration services.</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In this POC, database scripts are generated for technical review when a change is required, and posted to Microsoft Teams. Other IT Support scenarios may produce different controlled actions or tasks.</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Stops processing if the request is rejected; creates the ticket and retrieves the ticket number only after approval, then notifies the responsible team</a:t>
            </a:r>
            <a:endParaRPr lang="en-US" sz="920" dirty="0"/>
          </a:p>
        </p:txBody>
      </p:sp>
      <p:sp>
        <p:nvSpPr>
          <p:cNvPr id="45" name="Shape 43"/>
          <p:cNvSpPr/>
          <p:nvPr/>
        </p:nvSpPr>
        <p:spPr>
          <a:xfrm>
            <a:off x="365760" y="4078224"/>
            <a:ext cx="6949440" cy="292608"/>
          </a:xfrm>
          <a:prstGeom prst="rect">
            <a:avLst/>
          </a:prstGeom>
          <a:solidFill>
            <a:srgbClr val="26325E"/>
          </a:solidFill>
          <a:ln/>
        </p:spPr>
      </p:sp>
      <p:sp>
        <p:nvSpPr>
          <p:cNvPr id="46" name="Text 44"/>
          <p:cNvSpPr/>
          <p:nvPr/>
        </p:nvSpPr>
        <p:spPr>
          <a:xfrm>
            <a:off x="457200" y="4078224"/>
            <a:ext cx="67665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 Governance &amp; Security Model</a:t>
            </a:r>
            <a:endParaRPr lang="en-US" sz="1250" dirty="0"/>
          </a:p>
        </p:txBody>
      </p:sp>
      <p:sp>
        <p:nvSpPr>
          <p:cNvPr id="47" name="Shape 45"/>
          <p:cNvSpPr/>
          <p:nvPr/>
        </p:nvSpPr>
        <p:spPr>
          <a:xfrm>
            <a:off x="365760" y="4370832"/>
            <a:ext cx="6949440" cy="1682496"/>
          </a:xfrm>
          <a:prstGeom prst="rect">
            <a:avLst/>
          </a:prstGeom>
          <a:solidFill>
            <a:srgbClr val="F7F9FC"/>
          </a:solidFill>
          <a:ln w="9525">
            <a:solidFill>
              <a:srgbClr val="D7DEE9"/>
            </a:solidFill>
            <a:prstDash val="solid"/>
          </a:ln>
        </p:spPr>
      </p:sp>
      <p:sp>
        <p:nvSpPr>
          <p:cNvPr id="48" name="Shape 46"/>
          <p:cNvSpPr/>
          <p:nvPr/>
        </p:nvSpPr>
        <p:spPr>
          <a:xfrm>
            <a:off x="530352" y="4462272"/>
            <a:ext cx="6620256" cy="246888"/>
          </a:xfrm>
          <a:prstGeom prst="roundRect">
            <a:avLst>
              <a:gd name="adj" fmla="val 14815"/>
            </a:avLst>
          </a:prstGeom>
          <a:solidFill>
            <a:srgbClr val="1E2761"/>
          </a:solidFill>
          <a:ln/>
        </p:spPr>
      </p:sp>
      <p:sp>
        <p:nvSpPr>
          <p:cNvPr id="49" name="Text 47"/>
          <p:cNvSpPr/>
          <p:nvPr/>
        </p:nvSpPr>
        <p:spPr>
          <a:xfrm>
            <a:off x="530352" y="4462272"/>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AI Analysis</a:t>
            </a:r>
            <a:endParaRPr lang="en-US" sz="880" dirty="0"/>
          </a:p>
        </p:txBody>
      </p:sp>
      <p:sp>
        <p:nvSpPr>
          <p:cNvPr id="50" name="Text 48"/>
          <p:cNvSpPr/>
          <p:nvPr/>
        </p:nvSpPr>
        <p:spPr>
          <a:xfrm>
            <a:off x="530352" y="4681728"/>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1" name="Shape 49"/>
          <p:cNvSpPr/>
          <p:nvPr/>
        </p:nvSpPr>
        <p:spPr>
          <a:xfrm>
            <a:off x="530352" y="4750308"/>
            <a:ext cx="6620256" cy="246888"/>
          </a:xfrm>
          <a:prstGeom prst="roundRect">
            <a:avLst>
              <a:gd name="adj" fmla="val 14815"/>
            </a:avLst>
          </a:prstGeom>
          <a:solidFill>
            <a:srgbClr val="1E2761"/>
          </a:solidFill>
          <a:ln/>
        </p:spPr>
      </p:sp>
      <p:sp>
        <p:nvSpPr>
          <p:cNvPr id="52" name="Text 50"/>
          <p:cNvSpPr/>
          <p:nvPr/>
        </p:nvSpPr>
        <p:spPr>
          <a:xfrm>
            <a:off x="530352" y="4750308"/>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Deterministic Validation</a:t>
            </a:r>
            <a:endParaRPr lang="en-US" sz="880" dirty="0"/>
          </a:p>
        </p:txBody>
      </p:sp>
      <p:sp>
        <p:nvSpPr>
          <p:cNvPr id="53" name="Text 51"/>
          <p:cNvSpPr/>
          <p:nvPr/>
        </p:nvSpPr>
        <p:spPr>
          <a:xfrm>
            <a:off x="530352" y="4969764"/>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530352" y="5038344"/>
            <a:ext cx="6620256" cy="246888"/>
          </a:xfrm>
          <a:prstGeom prst="roundRect">
            <a:avLst>
              <a:gd name="adj" fmla="val 14815"/>
            </a:avLst>
          </a:prstGeom>
          <a:solidFill>
            <a:srgbClr val="1E2761"/>
          </a:solidFill>
          <a:ln/>
        </p:spPr>
      </p:sp>
      <p:sp>
        <p:nvSpPr>
          <p:cNvPr id="55" name="Text 53"/>
          <p:cNvSpPr/>
          <p:nvPr/>
        </p:nvSpPr>
        <p:spPr>
          <a:xfrm>
            <a:off x="530352" y="5038344"/>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Enterprise Data Verification</a:t>
            </a:r>
            <a:endParaRPr lang="en-US" sz="880" dirty="0"/>
          </a:p>
        </p:txBody>
      </p:sp>
      <p:sp>
        <p:nvSpPr>
          <p:cNvPr id="56" name="Text 54"/>
          <p:cNvSpPr/>
          <p:nvPr/>
        </p:nvSpPr>
        <p:spPr>
          <a:xfrm>
            <a:off x="530352" y="5257800"/>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7" name="Shape 55"/>
          <p:cNvSpPr/>
          <p:nvPr/>
        </p:nvSpPr>
        <p:spPr>
          <a:xfrm>
            <a:off x="530352" y="5326380"/>
            <a:ext cx="6620256" cy="246888"/>
          </a:xfrm>
          <a:prstGeom prst="roundRect">
            <a:avLst>
              <a:gd name="adj" fmla="val 14815"/>
            </a:avLst>
          </a:prstGeom>
          <a:solidFill>
            <a:srgbClr val="3B6EA5"/>
          </a:solidFill>
          <a:ln/>
        </p:spPr>
      </p:sp>
      <p:sp>
        <p:nvSpPr>
          <p:cNvPr id="58" name="Text 56"/>
          <p:cNvSpPr/>
          <p:nvPr/>
        </p:nvSpPr>
        <p:spPr>
          <a:xfrm>
            <a:off x="530352" y="5326380"/>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Human Approval</a:t>
            </a:r>
            <a:endParaRPr lang="en-US" sz="880" dirty="0"/>
          </a:p>
        </p:txBody>
      </p:sp>
      <p:sp>
        <p:nvSpPr>
          <p:cNvPr id="59" name="Text 57"/>
          <p:cNvSpPr/>
          <p:nvPr/>
        </p:nvSpPr>
        <p:spPr>
          <a:xfrm>
            <a:off x="530352" y="5545836"/>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60" name="Shape 58"/>
          <p:cNvSpPr/>
          <p:nvPr/>
        </p:nvSpPr>
        <p:spPr>
          <a:xfrm>
            <a:off x="530352" y="5614416"/>
            <a:ext cx="6620256" cy="246888"/>
          </a:xfrm>
          <a:prstGeom prst="roundRect">
            <a:avLst>
              <a:gd name="adj" fmla="val 14815"/>
            </a:avLst>
          </a:prstGeom>
          <a:solidFill>
            <a:srgbClr val="1E2761"/>
          </a:solidFill>
          <a:ln/>
        </p:spPr>
      </p:sp>
      <p:sp>
        <p:nvSpPr>
          <p:cNvPr id="61" name="Text 59"/>
          <p:cNvSpPr/>
          <p:nvPr/>
        </p:nvSpPr>
        <p:spPr>
          <a:xfrm>
            <a:off x="530352" y="5614416"/>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Controlled Automation</a:t>
            </a:r>
            <a:endParaRPr lang="en-US" sz="880" dirty="0"/>
          </a:p>
        </p:txBody>
      </p:sp>
      <p:sp>
        <p:nvSpPr>
          <p:cNvPr id="62" name="Shape 60"/>
          <p:cNvSpPr/>
          <p:nvPr/>
        </p:nvSpPr>
        <p:spPr>
          <a:xfrm>
            <a:off x="7498080" y="4078224"/>
            <a:ext cx="4325112" cy="292608"/>
          </a:xfrm>
          <a:prstGeom prst="rect">
            <a:avLst/>
          </a:prstGeom>
          <a:solidFill>
            <a:srgbClr val="26325E"/>
          </a:solidFill>
          <a:ln/>
        </p:spPr>
      </p:sp>
      <p:sp>
        <p:nvSpPr>
          <p:cNvPr id="63" name="Text 61"/>
          <p:cNvSpPr/>
          <p:nvPr/>
        </p:nvSpPr>
        <p:spPr>
          <a:xfrm>
            <a:off x="7589520" y="4078224"/>
            <a:ext cx="4142232"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Principle</a:t>
            </a:r>
            <a:endParaRPr lang="en-US" sz="1250" dirty="0"/>
          </a:p>
        </p:txBody>
      </p:sp>
      <p:sp>
        <p:nvSpPr>
          <p:cNvPr id="64" name="Shape 62"/>
          <p:cNvSpPr/>
          <p:nvPr/>
        </p:nvSpPr>
        <p:spPr>
          <a:xfrm>
            <a:off x="7498080" y="4370832"/>
            <a:ext cx="4325112" cy="1682496"/>
          </a:xfrm>
          <a:prstGeom prst="rect">
            <a:avLst/>
          </a:prstGeom>
          <a:solidFill>
            <a:srgbClr val="F7F9FC"/>
          </a:solidFill>
          <a:ln w="9525">
            <a:solidFill>
              <a:srgbClr val="D7DEE9"/>
            </a:solidFill>
            <a:prstDash val="solid"/>
          </a:ln>
        </p:spPr>
      </p:sp>
      <p:sp>
        <p:nvSpPr>
          <p:cNvPr id="65" name="Text 63"/>
          <p:cNvSpPr/>
          <p:nvPr/>
        </p:nvSpPr>
        <p:spPr>
          <a:xfrm>
            <a:off x="7644384" y="4443984"/>
            <a:ext cx="4032504" cy="1517904"/>
          </a:xfrm>
          <a:prstGeom prst="rect">
            <a:avLst/>
          </a:prstGeom>
          <a:noFill/>
          <a:ln/>
        </p:spPr>
        <p:txBody>
          <a:bodyPr wrap="square" lIns="0" tIns="0" rIns="0" bIns="0" rtlCol="0" anchor="t"/>
          <a:lstStyle/>
          <a:p>
            <a:pPr indent="0" marL="0">
              <a:lnSpc>
                <a:spcPct val="100000"/>
              </a:lnSpc>
              <a:buNone/>
            </a:pPr>
            <a:r>
              <a:rPr lang="en-US" sz="720" b="1" dirty="0">
                <a:solidFill>
                  <a:srgbClr val="3A3F55"/>
                </a:solidFill>
                <a:latin typeface="Calibri" pitchFamily="34" charset="0"/>
                <a:ea typeface="Calibri" pitchFamily="34" charset="-122"/>
                <a:cs typeface="Calibri" pitchFamily="34" charset="-120"/>
              </a:rPr>
              <a:t>Email content is treated as untrusted input.
</a:t>
            </a:r>
            <a:endParaRPr lang="en-US" sz="720" dirty="0"/>
          </a:p>
          <a:p>
            <a:pPr indent="0" marL="0">
              <a:lnSpc>
                <a:spcPct val="100000"/>
              </a:lnSpc>
              <a:buNone/>
            </a:pPr>
            <a:r>
              <a:rPr lang="en-US" sz="720" dirty="0">
                <a:solidFill>
                  <a:srgbClr val="3A3F55"/>
                </a:solidFill>
                <a:latin typeface="Calibri" pitchFamily="34" charset="0"/>
                <a:ea typeface="Calibri" pitchFamily="34" charset="-122"/>
                <a:cs typeface="Calibri" pitchFamily="34" charset="-120"/>
              </a:rPr>
              <a:t>Only the information required for request interpretation should be submitted to the AI capability.
</a:t>
            </a:r>
            <a:endParaRPr lang="en-US" sz="720" dirty="0"/>
          </a:p>
          <a:p>
            <a:pPr indent="0" marL="0">
              <a:lnSpc>
                <a:spcPct val="100000"/>
              </a:lnSpc>
              <a:buNone/>
            </a:pPr>
            <a:r>
              <a:rPr lang="en-US" sz="720" dirty="0">
                <a:solidFill>
                  <a:srgbClr val="3A3F55"/>
                </a:solidFill>
                <a:latin typeface="Calibri" pitchFamily="34" charset="0"/>
                <a:ea typeface="Calibri" pitchFamily="34" charset="-122"/>
                <a:cs typeface="Calibri" pitchFamily="34" charset="-120"/>
              </a:rPr>
              <a:t>AI-generated outputs are validated before use, checked against trusted enterprise data, and sensitive actions require human approval before execution.
</a:t>
            </a:r>
            <a:endParaRPr lang="en-US" sz="720" dirty="0"/>
          </a:p>
          <a:p>
            <a:pPr indent="0" marL="0">
              <a:lnSpc>
                <a:spcPct val="100000"/>
              </a:lnSpc>
              <a:buNone/>
            </a:pPr>
            <a:r>
              <a:rPr lang="en-US" sz="720" i="1" dirty="0">
                <a:solidFill>
                  <a:srgbClr val="3A3F55"/>
                </a:solidFill>
                <a:latin typeface="Calibri" pitchFamily="34" charset="0"/>
                <a:ea typeface="Calibri" pitchFamily="34" charset="-122"/>
                <a:cs typeface="Calibri" pitchFamily="34" charset="-120"/>
              </a:rPr>
              <a:t>AI does not execute scripts or make access decisions autonomously.
</a:t>
            </a:r>
            <a:endParaRPr lang="en-US" sz="720" dirty="0"/>
          </a:p>
          <a:p>
            <a:pPr indent="0" marL="0">
              <a:lnSpc>
                <a:spcPct val="100000"/>
              </a:lnSpc>
              <a:buNone/>
            </a:pPr>
            <a:r>
              <a:rPr lang="en-US" sz="720" b="1" dirty="0">
                <a:solidFill>
                  <a:srgbClr val="3A3F55"/>
                </a:solidFill>
                <a:latin typeface="Calibri" pitchFamily="34" charset="0"/>
                <a:ea typeface="Calibri" pitchFamily="34" charset="-122"/>
                <a:cs typeface="Calibri" pitchFamily="34" charset="-120"/>
              </a:rPr>
              <a:t>Prompt Injection Controls: </a:t>
            </a:r>
            <a:pPr indent="0" marL="0">
              <a:lnSpc>
                <a:spcPct val="100000"/>
              </a:lnSpc>
              <a:buNone/>
            </a:pPr>
            <a:r>
              <a:rPr lang="en-US" sz="720" dirty="0">
                <a:solidFill>
                  <a:srgbClr val="3A3F55"/>
                </a:solidFill>
                <a:latin typeface="Calibri" pitchFamily="34" charset="0"/>
                <a:ea typeface="Calibri" pitchFamily="34" charset="-122"/>
                <a:cs typeface="Calibri" pitchFamily="34" charset="-120"/>
              </a:rPr>
              <a:t>risk is reduced through untrusted-input handling, restricted AI scope, output validation, and prevention of AI-generated instructions from directly controlling downstream actions.</a:t>
            </a:r>
            <a:endParaRPr lang="en-US" sz="720" dirty="0"/>
          </a:p>
        </p:txBody>
      </p:sp>
      <p:sp>
        <p:nvSpPr>
          <p:cNvPr id="66" name="Shape 64"/>
          <p:cNvSpPr/>
          <p:nvPr/>
        </p:nvSpPr>
        <p:spPr>
          <a:xfrm>
            <a:off x="365760" y="6080760"/>
            <a:ext cx="5637276" cy="347472"/>
          </a:xfrm>
          <a:prstGeom prst="rect">
            <a:avLst/>
          </a:prstGeom>
          <a:solidFill>
            <a:srgbClr val="E9EFF8"/>
          </a:solidFill>
          <a:ln w="9525">
            <a:solidFill>
              <a:srgbClr val="D7DEE9"/>
            </a:solidFill>
            <a:prstDash val="solid"/>
          </a:ln>
        </p:spPr>
      </p:sp>
      <p:sp>
        <p:nvSpPr>
          <p:cNvPr id="67" name="Text 65"/>
          <p:cNvSpPr/>
          <p:nvPr/>
        </p:nvSpPr>
        <p:spPr>
          <a:xfrm>
            <a:off x="475488" y="6108192"/>
            <a:ext cx="5417820" cy="292608"/>
          </a:xfrm>
          <a:prstGeom prst="rect">
            <a:avLst/>
          </a:prstGeom>
          <a:noFill/>
          <a:ln/>
        </p:spPr>
        <p:txBody>
          <a:bodyPr wrap="square" lIns="0" tIns="0" rIns="0" bIns="0" rtlCol="0" anchor="t"/>
          <a:lstStyle/>
          <a:p>
            <a:pPr indent="0" marL="0">
              <a:lnSpc>
                <a:spcPct val="100000"/>
              </a:lnSpc>
              <a:buNone/>
            </a:pPr>
            <a:r>
              <a:rPr lang="en-US" sz="720" b="1" i="1" dirty="0">
                <a:solidFill>
                  <a:srgbClr val="141B45"/>
                </a:solidFill>
                <a:latin typeface="Calibri" pitchFamily="34" charset="0"/>
                <a:ea typeface="Calibri" pitchFamily="34" charset="-122"/>
                <a:cs typeface="Calibri" pitchFamily="34" charset="-120"/>
              </a:rPr>
              <a:t>Reusable Pattern: </a:t>
            </a:r>
            <a:pPr indent="0" marL="0">
              <a:lnSpc>
                <a:spcPct val="100000"/>
              </a:lnSpc>
              <a:buNone/>
            </a:pPr>
            <a:r>
              <a:rPr lang="en-US" sz="720" i="1" dirty="0">
                <a:solidFill>
                  <a:srgbClr val="141B45"/>
                </a:solidFill>
                <a:latin typeface="Calibri" pitchFamily="34" charset="0"/>
                <a:ea typeface="Calibri" pitchFamily="34" charset="-122"/>
                <a:cs typeface="Calibri" pitchFamily="34" charset="-120"/>
              </a:rPr>
              <a:t>extendable to incident triage, account updates, configuration requests, and other IT Support scenarios.</a:t>
            </a:r>
            <a:endParaRPr lang="en-US" sz="720" dirty="0"/>
          </a:p>
        </p:txBody>
      </p:sp>
      <p:sp>
        <p:nvSpPr>
          <p:cNvPr id="68" name="Shape 66"/>
          <p:cNvSpPr/>
          <p:nvPr/>
        </p:nvSpPr>
        <p:spPr>
          <a:xfrm>
            <a:off x="6185916" y="6080760"/>
            <a:ext cx="5637276" cy="347472"/>
          </a:xfrm>
          <a:prstGeom prst="rect">
            <a:avLst/>
          </a:prstGeom>
          <a:solidFill>
            <a:srgbClr val="E9EFF8"/>
          </a:solidFill>
          <a:ln w="9525">
            <a:solidFill>
              <a:srgbClr val="D7DEE9"/>
            </a:solidFill>
            <a:prstDash val="solid"/>
          </a:ln>
        </p:spPr>
      </p:sp>
      <p:sp>
        <p:nvSpPr>
          <p:cNvPr id="69" name="Text 67"/>
          <p:cNvSpPr/>
          <p:nvPr/>
        </p:nvSpPr>
        <p:spPr>
          <a:xfrm>
            <a:off x="6295644" y="6108192"/>
            <a:ext cx="5417820" cy="292608"/>
          </a:xfrm>
          <a:prstGeom prst="rect">
            <a:avLst/>
          </a:prstGeom>
          <a:noFill/>
          <a:ln/>
        </p:spPr>
        <p:txBody>
          <a:bodyPr wrap="square" lIns="0" tIns="0" rIns="0" bIns="0" rtlCol="0" anchor="t"/>
          <a:lstStyle/>
          <a:p>
            <a:pPr indent="0" marL="0">
              <a:lnSpc>
                <a:spcPct val="100000"/>
              </a:lnSpc>
              <a:buNone/>
            </a:pPr>
            <a:r>
              <a:rPr lang="en-US" sz="660" b="1" i="1" dirty="0">
                <a:solidFill>
                  <a:srgbClr val="141B45"/>
                </a:solidFill>
                <a:latin typeface="Calibri" pitchFamily="34" charset="0"/>
                <a:ea typeface="Calibri" pitchFamily="34" charset="-122"/>
                <a:cs typeface="Calibri" pitchFamily="34" charset="-120"/>
              </a:rPr>
              <a:t>Future Architecture Consideration: </a:t>
            </a:r>
            <a:pPr indent="0" marL="0">
              <a:lnSpc>
                <a:spcPct val="100000"/>
              </a:lnSpc>
              <a:buNone/>
            </a:pPr>
            <a:r>
              <a:rPr lang="en-US" sz="660" i="1" dirty="0">
                <a:solidFill>
                  <a:srgbClr val="141B45"/>
                </a:solidFill>
                <a:latin typeface="Calibri" pitchFamily="34" charset="0"/>
                <a:ea typeface="Calibri" pitchFamily="34" charset="-122"/>
                <a:cs typeface="Calibri" pitchFamily="34" charset="-120"/>
              </a:rPr>
              <a:t>production may replace Run a prompt with an AI Gateway (authenticated enterprise API or Custom Connector) for centralized governance, validation, and auditability, subject to Enterprise Architecture and Information Security approval.</a:t>
            </a:r>
            <a:endParaRPr lang="en-US" sz="660" dirty="0"/>
          </a:p>
        </p:txBody>
      </p:sp>
      <p:sp>
        <p:nvSpPr>
          <p:cNvPr id="70" name="Shape 68"/>
          <p:cNvSpPr/>
          <p:nvPr/>
        </p:nvSpPr>
        <p:spPr>
          <a:xfrm>
            <a:off x="365760" y="6483096"/>
            <a:ext cx="5637276" cy="347472"/>
          </a:xfrm>
          <a:prstGeom prst="rect">
            <a:avLst/>
          </a:prstGeom>
          <a:solidFill>
            <a:srgbClr val="E9EFF8"/>
          </a:solidFill>
          <a:ln w="9525">
            <a:solidFill>
              <a:srgbClr val="D7DEE9"/>
            </a:solidFill>
            <a:prstDash val="solid"/>
          </a:ln>
        </p:spPr>
      </p:sp>
      <p:sp>
        <p:nvSpPr>
          <p:cNvPr id="71" name="Text 69"/>
          <p:cNvSpPr/>
          <p:nvPr/>
        </p:nvSpPr>
        <p:spPr>
          <a:xfrm>
            <a:off x="475488" y="6510528"/>
            <a:ext cx="5417820" cy="292608"/>
          </a:xfrm>
          <a:prstGeom prst="rect">
            <a:avLst/>
          </a:prstGeom>
          <a:noFill/>
          <a:ln/>
        </p:spPr>
        <p:txBody>
          <a:bodyPr wrap="square" lIns="0" tIns="0" rIns="0" bIns="0" rtlCol="0" anchor="t"/>
          <a:lstStyle/>
          <a:p>
            <a:pPr indent="0" marL="0">
              <a:lnSpc>
                <a:spcPct val="100000"/>
              </a:lnSpc>
              <a:buNone/>
            </a:pPr>
            <a:r>
              <a:rPr lang="en-US" sz="680" b="1" i="1" dirty="0">
                <a:solidFill>
                  <a:srgbClr val="141B45"/>
                </a:solidFill>
                <a:latin typeface="Calibri" pitchFamily="34" charset="0"/>
                <a:ea typeface="Calibri" pitchFamily="34" charset="-122"/>
                <a:cs typeface="Calibri" pitchFamily="34" charset="-120"/>
              </a:rPr>
              <a:t>Auditability &amp; Traceability: </a:t>
            </a:r>
            <a:pPr indent="0" marL="0">
              <a:lnSpc>
                <a:spcPct val="100000"/>
              </a:lnSpc>
              <a:buNone/>
            </a:pPr>
            <a:r>
              <a:rPr lang="en-US" sz="680" i="1" dirty="0">
                <a:solidFill>
                  <a:srgbClr val="141B45"/>
                </a:solidFill>
                <a:latin typeface="Calibri" pitchFamily="34" charset="0"/>
                <a:ea typeface="Calibri" pitchFamily="34" charset="-122"/>
                <a:cs typeface="Calibri" pitchFamily="34" charset="-120"/>
              </a:rPr>
              <a:t>visibility across request intake, AI-assisted analysis, validation, enterprise data verification, human approval, ticket creation, and final notification.</a:t>
            </a:r>
            <a:endParaRPr lang="en-US" sz="680" dirty="0"/>
          </a:p>
        </p:txBody>
      </p:sp>
      <p:sp>
        <p:nvSpPr>
          <p:cNvPr id="72" name="Shape 70"/>
          <p:cNvSpPr/>
          <p:nvPr/>
        </p:nvSpPr>
        <p:spPr>
          <a:xfrm>
            <a:off x="6185916" y="6483096"/>
            <a:ext cx="5637276" cy="347472"/>
          </a:xfrm>
          <a:prstGeom prst="rect">
            <a:avLst/>
          </a:prstGeom>
          <a:solidFill>
            <a:srgbClr val="E9EFF8"/>
          </a:solidFill>
          <a:ln w="9525">
            <a:solidFill>
              <a:srgbClr val="D7DEE9"/>
            </a:solidFill>
            <a:prstDash val="solid"/>
          </a:ln>
        </p:spPr>
      </p:sp>
      <p:sp>
        <p:nvSpPr>
          <p:cNvPr id="73" name="Text 71"/>
          <p:cNvSpPr/>
          <p:nvPr/>
        </p:nvSpPr>
        <p:spPr>
          <a:xfrm>
            <a:off x="6295644" y="6510528"/>
            <a:ext cx="5417820" cy="292608"/>
          </a:xfrm>
          <a:prstGeom prst="rect">
            <a:avLst/>
          </a:prstGeom>
          <a:noFill/>
          <a:ln/>
        </p:spPr>
        <p:txBody>
          <a:bodyPr wrap="square" lIns="0" tIns="0" rIns="0" bIns="0" rtlCol="0" anchor="t"/>
          <a:lstStyle/>
          <a:p>
            <a:pPr indent="0" marL="0">
              <a:lnSpc>
                <a:spcPct val="100000"/>
              </a:lnSpc>
              <a:buNone/>
            </a:pPr>
            <a:r>
              <a:rPr lang="en-US" sz="720" b="1" i="1" dirty="0">
                <a:solidFill>
                  <a:srgbClr val="141B45"/>
                </a:solidFill>
                <a:latin typeface="Calibri" pitchFamily="34" charset="0"/>
                <a:ea typeface="Calibri" pitchFamily="34" charset="-122"/>
                <a:cs typeface="Calibri" pitchFamily="34" charset="-120"/>
              </a:rPr>
              <a:t>Measurable Value: </a:t>
            </a:r>
            <a:pPr indent="0" marL="0">
              <a:lnSpc>
                <a:spcPct val="100000"/>
              </a:lnSpc>
              <a:buNone/>
            </a:pPr>
            <a:r>
              <a:rPr lang="en-US" sz="720" i="1" dirty="0">
                <a:solidFill>
                  <a:srgbClr val="141B45"/>
                </a:solidFill>
                <a:latin typeface="Calibri" pitchFamily="34" charset="0"/>
                <a:ea typeface="Calibri" pitchFamily="34" charset="-122"/>
                <a:cs typeface="Calibri" pitchFamily="34" charset="-120"/>
              </a:rPr>
              <a:t>evaluated through reduced handling time, automation rate, classification accuracy, reduced rework, and faster time-to-ticket.</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2026-07-14T18:11:58Z</dcterms:created>
  <dcterms:modified xsi:type="dcterms:W3CDTF">2026-07-14T18:11:58Z</dcterms:modified>
</cp:coreProperties>
</file>