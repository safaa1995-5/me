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62" r:id="rId2"/>
    <p:sldId id="263" r:id="rId3"/>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EFEF"/>
    <a:srgbClr val="EFF6F0"/>
    <a:srgbClr val="FCFCFC"/>
    <a:srgbClr val="EAF2FA"/>
    <a:srgbClr val="EBF3FB"/>
    <a:srgbClr val="F0F7FC"/>
    <a:srgbClr val="153D58"/>
    <a:srgbClr val="F6F8FA"/>
    <a:srgbClr val="000000"/>
    <a:srgbClr val="E2F3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94660"/>
  </p:normalViewPr>
  <p:slideViewPr>
    <p:cSldViewPr snapToGrid="0">
      <p:cViewPr varScale="1">
        <p:scale>
          <a:sx n="90" d="100"/>
          <a:sy n="90" d="100"/>
        </p:scale>
        <p:origin x="35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  
  
  
  
  <Relationship Id="rId9" Type="http://schemas.openxmlformats.org/officeDocument/2006/relationships/slide" Target="slides/slide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DFE732-48EA-4853-9CFF-17CB7222D2C8}" type="datetimeFigureOut">
              <a:rPr lang="en-US" smtClean="0"/>
              <a:t>15/07/2026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99CEEC-B799-4806-BF33-2F1ABD3AF6E6}" type="slidenum">
              <a:rPr lang="en-US" smtClean="0"/>
              <a:t>‹#›</a:t>
            </a:fld>
            <a:endParaRPr lang="en-US"/>
          </a:p>
        </p:txBody>
      </p:sp>
    </p:spTree>
    <p:extLst>
      <p:ext uri="{BB962C8B-B14F-4D97-AF65-F5344CB8AC3E}">
        <p14:creationId xmlns:p14="http://schemas.microsoft.com/office/powerpoint/2010/main" val="4060270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BB3A49-C2E8-4AAC-8A15-78724902F19A}" type="slidenum">
              <a:rPr kumimoji="0" lang="en-A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20260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A6651-22D0-C2A1-DD78-883F74120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1CF9F-3446-78FB-A4BE-DC5DC8808A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23251-CFBF-1FCB-BE28-85410709878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29C5DDF-CD7C-22C8-45CE-B82E266526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BB3A49-C2E8-4AAC-8A15-78724902F19A}" type="slidenum">
              <a:rPr kumimoji="0" lang="en-AE"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E"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9981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18152-80AB-89F7-6CAE-8B2555EE16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CFBE0B1-8B85-CADA-9AC5-063C88111A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C50823-85B3-8758-37AF-247A043C7B9F}"/>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CD45545B-F50F-CAEF-3562-F00435B2B0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C69DC-9D35-5676-D1C9-4298AE818211}"/>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1468863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4A25E-3374-147B-8E44-F08219AE10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5F41CB2-0FD2-4FB3-93A1-203E8BB9EC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8220FC-380B-038D-F581-5D1381282357}"/>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2A5D0D52-36FD-2AD1-D8EB-421F41C6B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5D19E-DE95-9A8D-8AEE-8265653D5E0E}"/>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1718551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034BE-9514-8303-D28B-5F9C970FFB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A7080D-995C-D94F-BC09-2AA6DFA137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1BC047-5D0F-2E98-5EED-995E1939E09F}"/>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E7296FA6-449E-D8F6-6850-57C2378B4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71B1AB-6573-0F70-D59A-07675BED4A6E}"/>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3568645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02069-00A7-1F32-A582-A76262A01D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64C1F1-2ECD-5429-B341-2624C24B60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E9EA14-E671-F467-F9A5-876E437A67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1760E1-1202-178E-95B0-C2B281724544}"/>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6" name="Footer Placeholder 5">
            <a:extLst>
              <a:ext uri="{FF2B5EF4-FFF2-40B4-BE49-F238E27FC236}">
                <a16:creationId xmlns:a16="http://schemas.microsoft.com/office/drawing/2014/main" id="{3A0543E9-024F-B941-6F20-31C7CDD1BB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F92A86-8DA1-322C-B909-AF864E4414A2}"/>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720526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E7125-22E8-5503-F499-331AB338D3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A6CC6D-594D-B2C1-1799-409BB99BBF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3828DC-B3AA-57CF-68F7-82AB5D0ED1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292170-A996-94E6-9F5D-8BE92196B7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2A96C3-F3A9-36EA-D664-9027A53471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B7C2BC-82EB-0BAB-07AC-ABA6CEDB918C}"/>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8" name="Footer Placeholder 7">
            <a:extLst>
              <a:ext uri="{FF2B5EF4-FFF2-40B4-BE49-F238E27FC236}">
                <a16:creationId xmlns:a16="http://schemas.microsoft.com/office/drawing/2014/main" id="{BD5F99A8-EAE3-37BC-2E80-199024E212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2C89AA-66D9-E1C1-2D1F-D2C097D26F98}"/>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3054966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12B2-41B0-CC54-EED0-4A365945467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07A901-87F6-D4D1-9682-2198FCC8326D}"/>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4" name="Footer Placeholder 3">
            <a:extLst>
              <a:ext uri="{FF2B5EF4-FFF2-40B4-BE49-F238E27FC236}">
                <a16:creationId xmlns:a16="http://schemas.microsoft.com/office/drawing/2014/main" id="{15668013-D4CF-DD9A-589C-69FCCD20A5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1AADDE-FBA6-602C-2969-B1F57C2498D4}"/>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2148155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6826E5-9466-1615-9991-E8AA1241ED03}"/>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3" name="Footer Placeholder 2">
            <a:extLst>
              <a:ext uri="{FF2B5EF4-FFF2-40B4-BE49-F238E27FC236}">
                <a16:creationId xmlns:a16="http://schemas.microsoft.com/office/drawing/2014/main" id="{0AFA2AD1-4F4D-9AD0-84C9-8DC33CC456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BEA0B3-7CBE-058F-CB2C-8A56409F1780}"/>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3774350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03D37-1168-B845-D79F-E2812C09DF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99113A-6358-4EEC-916E-8F4003D738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AB1628-A041-8453-71DF-F4B5D0DD5F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B12319-A4EF-199F-1D68-9FADB62AA05E}"/>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6" name="Footer Placeholder 5">
            <a:extLst>
              <a:ext uri="{FF2B5EF4-FFF2-40B4-BE49-F238E27FC236}">
                <a16:creationId xmlns:a16="http://schemas.microsoft.com/office/drawing/2014/main" id="{4B7DFEC8-73EE-EBC2-8ABB-CD9B25361C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646FB9-E857-418B-A0CD-0884D4340C1D}"/>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277260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CDE1A-F9D4-3B17-E88B-F3CBD58201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0C0FEC-0BC0-4FCF-473F-F22974324C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C791BE0-F997-F05B-4D6D-83FD11015B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AC1538-A26E-BA66-C230-7E539EFEAD89}"/>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6" name="Footer Placeholder 5">
            <a:extLst>
              <a:ext uri="{FF2B5EF4-FFF2-40B4-BE49-F238E27FC236}">
                <a16:creationId xmlns:a16="http://schemas.microsoft.com/office/drawing/2014/main" id="{448F5C37-8D86-4D44-55E4-045943618D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F40758-BB36-8D83-FBB4-B00443A62CDC}"/>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2741511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C69A6-1108-C472-5C7F-931AD43B90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C5854A-DACA-2390-2DFD-866E2AE572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24050D-4D7D-8190-9D38-40391F0014EA}"/>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73F99A7A-9083-935C-4941-78786F242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5C22C7-1E33-F8B4-A595-3232FA3740C5}"/>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828376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3EF21D-00BB-69C5-1844-BE4F358A98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F52D13-47E6-3D1F-541D-E0E3001A04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60D657-7DAF-8D1C-4F19-882D562904A3}"/>
              </a:ext>
            </a:extLst>
          </p:cNvPr>
          <p:cNvSpPr>
            <a:spLocks noGrp="1"/>
          </p:cNvSpPr>
          <p:nvPr>
            <p:ph type="dt" sz="half" idx="10"/>
          </p:nvPr>
        </p:nvSpPr>
        <p:spPr/>
        <p:txBody>
          <a:body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47F91839-4A90-0727-1BE9-BE377C5D59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2B5104-54B1-53FC-DBB2-20D3C1B6BF8C}"/>
              </a:ext>
            </a:extLst>
          </p:cNvPr>
          <p:cNvSpPr>
            <a:spLocks noGrp="1"/>
          </p:cNvSpPr>
          <p:nvPr>
            <p:ph type="sldNum" sz="quarter" idx="12"/>
          </p:nvPr>
        </p:nvSpPr>
        <p:spPr/>
        <p:txBody>
          <a:bodyPr/>
          <a:lstStyle/>
          <a:p>
            <a:fld id="{B10378DC-AEFB-4A8E-A452-880052F72D3C}" type="slidenum">
              <a:rPr lang="en-US" smtClean="0"/>
              <a:t>‹#›</a:t>
            </a:fld>
            <a:endParaRPr lang="en-US"/>
          </a:p>
        </p:txBody>
      </p:sp>
    </p:spTree>
    <p:extLst>
      <p:ext uri="{BB962C8B-B14F-4D97-AF65-F5344CB8AC3E}">
        <p14:creationId xmlns:p14="http://schemas.microsoft.com/office/powerpoint/2010/main" val="2695950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3134AA3C-2F0D-D667-86A9-3A48F0A2264F}"/>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2620779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F5F9FD-6A12-0179-05FA-D739067A8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8B5469-6284-8450-E539-458827A582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946C2F-A2C2-7907-17E0-AFE333FD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DBA8083-13A9-4587-9909-DDC9E1899641}" type="datetimeFigureOut">
              <a:rPr lang="en-US" smtClean="0"/>
              <a:t>15/07/2026</a:t>
            </a:fld>
            <a:endParaRPr lang="en-US"/>
          </a:p>
        </p:txBody>
      </p:sp>
      <p:sp>
        <p:nvSpPr>
          <p:cNvPr id="5" name="Footer Placeholder 4">
            <a:extLst>
              <a:ext uri="{FF2B5EF4-FFF2-40B4-BE49-F238E27FC236}">
                <a16:creationId xmlns:a16="http://schemas.microsoft.com/office/drawing/2014/main" id="{993FB1F5-A9A9-84CA-16E4-8568CB54AB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7B47181-8B38-877C-A5EC-259FCB7194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0378DC-AEFB-4A8E-A452-880052F72D3C}" type="slidenum">
              <a:rPr lang="en-US" smtClean="0"/>
              <a:t>‹#›</a:t>
            </a:fld>
            <a:endParaRPr lang="en-US"/>
          </a:p>
        </p:txBody>
      </p:sp>
      <p:sp>
        <p:nvSpPr>
          <p:cNvPr id="8" name="TextBox 7">
            <a:extLst>
              <a:ext uri="{FF2B5EF4-FFF2-40B4-BE49-F238E27FC236}">
                <a16:creationId xmlns:a16="http://schemas.microsoft.com/office/drawing/2014/main" id="{B82A2AFF-22CF-4A8D-6D6B-0B3432EC7972}"/>
              </a:ext>
            </a:extLst>
          </p:cNvPr>
          <p:cNvSpPr txBox="1"/>
          <p:nvPr userDrawn="1">
            <p:extLst>
              <p:ext uri="{1162E1C5-73C7-4A58-AE30-91384D911F3F}">
                <p184:classification xmlns:p184="http://schemas.microsoft.com/office/powerpoint/2018/4/main" val="ftr"/>
              </p:ext>
            </p:extLst>
          </p:nvPr>
        </p:nvSpPr>
        <p:spPr>
          <a:xfrm>
            <a:off x="10707688" y="6642100"/>
            <a:ext cx="1477962" cy="152400"/>
          </a:xfrm>
          <a:prstGeom prst="rect">
            <a:avLst/>
          </a:prstGeom>
        </p:spPr>
        <p:txBody>
          <a:bodyPr horzOverflow="overflow" lIns="0" tIns="0" rIns="0" bIns="0">
            <a:spAutoFit/>
          </a:bodyPr>
          <a:lstStyle/>
          <a:p>
            <a:pPr algn="l"/>
            <a:r>
              <a:rPr lang="en-US" sz="1000">
                <a:solidFill>
                  <a:srgbClr val="0000FF">
                    <a:alpha val="50000"/>
                  </a:srgbClr>
                </a:solidFill>
                <a:latin typeface="Calibri" panose="020F0502020204030204" pitchFamily="34" charset="0"/>
                <a:ea typeface="Calibri" panose="020F0502020204030204" pitchFamily="34" charset="0"/>
                <a:cs typeface="Calibri" panose="020F0502020204030204" pitchFamily="34" charset="0"/>
              </a:rPr>
              <a:t>Dubai Health  - Internal Use </a:t>
            </a:r>
          </a:p>
        </p:txBody>
      </p:sp>
    </p:spTree>
    <p:extLst>
      <p:ext uri="{BB962C8B-B14F-4D97-AF65-F5344CB8AC3E}">
        <p14:creationId xmlns:p14="http://schemas.microsoft.com/office/powerpoint/2010/main" val="631014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EAFD-F627-9981-9B4E-21AC76D4608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BFE3E04-621C-C04E-B403-AE0B051D03A3}"/>
              </a:ext>
            </a:extLst>
          </p:cNvPr>
          <p:cNvSpPr/>
          <p:nvPr/>
        </p:nvSpPr>
        <p:spPr>
          <a:xfrm>
            <a:off x="0" y="-979"/>
            <a:ext cx="12216384" cy="2121408"/>
          </a:xfrm>
          <a:prstGeom prst="rect">
            <a:avLst/>
          </a:prstGeom>
          <a:blipFill>
            <a:blip r:embed="rId3"/>
            <a:stretch>
              <a:fillRect/>
            </a:stretch>
          </a:blip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Aptos Display" panose="02110004020202020204"/>
              <a:ea typeface="+mn-ea"/>
              <a:cs typeface="+mn-cs"/>
            </a:endParaRPr>
          </a:p>
        </p:txBody>
      </p:sp>
      <p:sp>
        <p:nvSpPr>
          <p:cNvPr id="5" name="Rectangle 4">
            <a:extLst>
              <a:ext uri="{FF2B5EF4-FFF2-40B4-BE49-F238E27FC236}">
                <a16:creationId xmlns:a16="http://schemas.microsoft.com/office/drawing/2014/main" id="{CF04BE40-B3F2-C2B2-10A9-B1C6FED40F2E}"/>
              </a:ext>
            </a:extLst>
          </p:cNvPr>
          <p:cNvSpPr/>
          <p:nvPr/>
        </p:nvSpPr>
        <p:spPr>
          <a:xfrm>
            <a:off x="8572981" y="2124071"/>
            <a:ext cx="3617126" cy="4733929"/>
          </a:xfrm>
          <a:prstGeom prst="rect">
            <a:avLst/>
          </a:prstGeom>
          <a:solidFill>
            <a:schemeClr val="accent4">
              <a:lumMod val="20000"/>
              <a:lumOff val="80000"/>
            </a:schemeClr>
          </a:solidFill>
          <a:ln w="28575" cap="rnd">
            <a:no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GB" sz="1100" b="0" i="1" u="none" strike="noStrike" kern="1200" cap="none" spc="0" normalizeH="0" baseline="0" noProof="0">
              <a:ln>
                <a:noFill/>
              </a:ln>
              <a:solidFill>
                <a:srgbClr val="37373A"/>
              </a:solidFill>
              <a:effectLst/>
              <a:uLnTx/>
              <a:uFillTx/>
              <a:latin typeface="Aptos Display" panose="02110004020202020204"/>
              <a:ea typeface="Lato" panose="020F0502020204030203" pitchFamily="34" charset="0"/>
              <a:cs typeface="Lato" panose="020F0502020204030203" pitchFamily="34" charset="0"/>
              <a:sym typeface="Helvetica Neue Medium"/>
            </a:endParaRPr>
          </a:p>
        </p:txBody>
      </p:sp>
      <p:sp>
        <p:nvSpPr>
          <p:cNvPr id="6" name="Rectangle 5">
            <a:extLst>
              <a:ext uri="{FF2B5EF4-FFF2-40B4-BE49-F238E27FC236}">
                <a16:creationId xmlns:a16="http://schemas.microsoft.com/office/drawing/2014/main" id="{0A37A411-9DD4-9547-7E70-2A25A7FA1018}"/>
              </a:ext>
            </a:extLst>
          </p:cNvPr>
          <p:cNvSpPr/>
          <p:nvPr/>
        </p:nvSpPr>
        <p:spPr>
          <a:xfrm>
            <a:off x="0" y="4000292"/>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7" name="Rectangle 6">
            <a:extLst>
              <a:ext uri="{FF2B5EF4-FFF2-40B4-BE49-F238E27FC236}">
                <a16:creationId xmlns:a16="http://schemas.microsoft.com/office/drawing/2014/main" id="{81229949-549E-0179-C50D-2089A0854F40}"/>
              </a:ext>
            </a:extLst>
          </p:cNvPr>
          <p:cNvSpPr/>
          <p:nvPr/>
        </p:nvSpPr>
        <p:spPr>
          <a:xfrm>
            <a:off x="0" y="3750306"/>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Expected Benefit</a:t>
            </a:r>
            <a:endParaRPr kumimoji="0" lang="en-ZA" sz="1200" b="1" i="0"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8" name="TextBox 7">
            <a:extLst>
              <a:ext uri="{FF2B5EF4-FFF2-40B4-BE49-F238E27FC236}">
                <a16:creationId xmlns:a16="http://schemas.microsoft.com/office/drawing/2014/main" id="{905F32E8-7453-3BA7-F79F-BDEB3AA9AE25}"/>
              </a:ext>
            </a:extLst>
          </p:cNvPr>
          <p:cNvSpPr txBox="1"/>
          <p:nvPr/>
        </p:nvSpPr>
        <p:spPr>
          <a:xfrm>
            <a:off x="111464" y="3993412"/>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Reduces time on repetitive triage</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Converts requests into structured data</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Consistent classification and routing</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AI output validated before action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Human approval for high-impact operations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Reusable across IT Support</a:t>
            </a:r>
          </a:p>
        </p:txBody>
      </p:sp>
      <p:sp>
        <p:nvSpPr>
          <p:cNvPr id="9" name="Rectangle 8">
            <a:extLst>
              <a:ext uri="{FF2B5EF4-FFF2-40B4-BE49-F238E27FC236}">
                <a16:creationId xmlns:a16="http://schemas.microsoft.com/office/drawing/2014/main" id="{ED3D5260-5FCD-CE89-B42D-133C22562423}"/>
              </a:ext>
            </a:extLst>
          </p:cNvPr>
          <p:cNvSpPr/>
          <p:nvPr/>
        </p:nvSpPr>
        <p:spPr>
          <a:xfrm>
            <a:off x="4362714" y="4000292"/>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 name="Rectangle 9">
            <a:extLst>
              <a:ext uri="{FF2B5EF4-FFF2-40B4-BE49-F238E27FC236}">
                <a16:creationId xmlns:a16="http://schemas.microsoft.com/office/drawing/2014/main" id="{08E5FA76-EF49-68CD-670E-D44236501BD9}"/>
              </a:ext>
            </a:extLst>
          </p:cNvPr>
          <p:cNvSpPr/>
          <p:nvPr/>
        </p:nvSpPr>
        <p:spPr>
          <a:xfrm>
            <a:off x="4362714" y="3750306"/>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Key Audience</a:t>
            </a:r>
            <a:endParaRPr kumimoji="0" lang="en-ZA" sz="1200" b="1" i="0"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11" name="TextBox 10">
            <a:extLst>
              <a:ext uri="{FF2B5EF4-FFF2-40B4-BE49-F238E27FC236}">
                <a16:creationId xmlns:a16="http://schemas.microsoft.com/office/drawing/2014/main" id="{7DEF7286-FB08-6D45-2D14-EE64FBF4DED2}"/>
              </a:ext>
            </a:extLst>
          </p:cNvPr>
          <p:cNvSpPr txBox="1"/>
          <p:nvPr/>
        </p:nvSpPr>
        <p:spPr>
          <a:xfrm>
            <a:off x="4474178" y="3993412"/>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 Support &amp; Application Support Teams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Service Desk &amp; System Administrators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 Operations &amp; Digital Transformation Teams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Information Security &amp; Governance Teams</a:t>
            </a:r>
          </a:p>
        </p:txBody>
      </p:sp>
      <p:sp>
        <p:nvSpPr>
          <p:cNvPr id="12" name="Rectangle 11">
            <a:extLst>
              <a:ext uri="{FF2B5EF4-FFF2-40B4-BE49-F238E27FC236}">
                <a16:creationId xmlns:a16="http://schemas.microsoft.com/office/drawing/2014/main" id="{3C315958-04D3-6FCE-1225-A3934700D38F}"/>
              </a:ext>
            </a:extLst>
          </p:cNvPr>
          <p:cNvSpPr/>
          <p:nvPr/>
        </p:nvSpPr>
        <p:spPr>
          <a:xfrm>
            <a:off x="0" y="5608604"/>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3" name="Rectangle 12">
            <a:extLst>
              <a:ext uri="{FF2B5EF4-FFF2-40B4-BE49-F238E27FC236}">
                <a16:creationId xmlns:a16="http://schemas.microsoft.com/office/drawing/2014/main" id="{024E56C4-C4EE-84F6-D9A5-2ECEAA616324}"/>
              </a:ext>
            </a:extLst>
          </p:cNvPr>
          <p:cNvSpPr/>
          <p:nvPr/>
        </p:nvSpPr>
        <p:spPr>
          <a:xfrm>
            <a:off x="0" y="5358618"/>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Data Requirement </a:t>
            </a:r>
            <a:r>
              <a:rPr kumimoji="0" lang="en-US" sz="900" b="0" i="1" u="none" strike="noStrike" kern="1200" cap="none" spc="0" normalizeH="0" baseline="0" noProof="0">
                <a:ln>
                  <a:noFill/>
                </a:ln>
                <a:solidFill>
                  <a:prstClr val="white"/>
                </a:solidFill>
                <a:effectLst/>
                <a:uLnTx/>
                <a:uFillTx/>
                <a:latin typeface="Aptos Display" panose="02110004020202020204"/>
                <a:ea typeface="+mn-ea"/>
                <a:cs typeface="+mn-cs"/>
              </a:rPr>
              <a:t>(Data Type)</a:t>
            </a:r>
            <a:endParaRPr kumimoji="0" lang="en-ZA" sz="900" b="0" i="1"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14" name="TextBox 13">
            <a:extLst>
              <a:ext uri="{FF2B5EF4-FFF2-40B4-BE49-F238E27FC236}">
                <a16:creationId xmlns:a16="http://schemas.microsoft.com/office/drawing/2014/main" id="{AA0F9929-F002-F115-19C9-B40320FDE7DE}"/>
              </a:ext>
            </a:extLst>
          </p:cNvPr>
          <p:cNvSpPr txBox="1"/>
          <p:nvPr/>
        </p:nvSpPr>
        <p:spPr>
          <a:xfrm>
            <a:off x="111464" y="5779524"/>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Support request emails and descriptions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User, identity, application &amp; configuration data</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Enterprise reference and master data</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Knowledge base and support documentation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Workflow, approval, ticket &amp; audit records</a:t>
            </a:r>
          </a:p>
        </p:txBody>
      </p:sp>
      <p:sp>
        <p:nvSpPr>
          <p:cNvPr id="15" name="Rectangle 14">
            <a:extLst>
              <a:ext uri="{FF2B5EF4-FFF2-40B4-BE49-F238E27FC236}">
                <a16:creationId xmlns:a16="http://schemas.microsoft.com/office/drawing/2014/main" id="{2409FE7A-88F1-AEF3-53FF-DA2ED2B1B431}"/>
              </a:ext>
            </a:extLst>
          </p:cNvPr>
          <p:cNvSpPr/>
          <p:nvPr/>
        </p:nvSpPr>
        <p:spPr>
          <a:xfrm>
            <a:off x="4362714" y="5608604"/>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6" name="Rectangle 15">
            <a:extLst>
              <a:ext uri="{FF2B5EF4-FFF2-40B4-BE49-F238E27FC236}">
                <a16:creationId xmlns:a16="http://schemas.microsoft.com/office/drawing/2014/main" id="{1F7A0187-735D-FF17-B197-9030CE3A4BE7}"/>
              </a:ext>
            </a:extLst>
          </p:cNvPr>
          <p:cNvSpPr/>
          <p:nvPr/>
        </p:nvSpPr>
        <p:spPr>
          <a:xfrm>
            <a:off x="4362714" y="5358618"/>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prstClr val="white"/>
                </a:solidFill>
                <a:effectLst/>
                <a:uLnTx/>
                <a:uFillTx/>
                <a:latin typeface="Aptos Display" panose="02110004020202020204"/>
                <a:ea typeface="+mn-ea"/>
                <a:cs typeface="+mn-cs"/>
              </a:rPr>
              <a:t>System Dependencies </a:t>
            </a:r>
            <a:r>
              <a:rPr kumimoji="0" lang="pt-BR" sz="900" b="0" i="1" u="none" strike="noStrike" kern="1200" cap="none" spc="0" normalizeH="0" baseline="0" noProof="0">
                <a:ln>
                  <a:noFill/>
                </a:ln>
                <a:solidFill>
                  <a:prstClr val="white"/>
                </a:solidFill>
                <a:effectLst/>
                <a:uLnTx/>
                <a:uFillTx/>
                <a:latin typeface="Aptos Display" panose="02110004020202020204"/>
                <a:ea typeface="+mn-ea"/>
                <a:cs typeface="+mn-cs"/>
              </a:rPr>
              <a:t>(EMR/ERP/ etc)</a:t>
            </a:r>
          </a:p>
        </p:txBody>
      </p:sp>
      <p:sp>
        <p:nvSpPr>
          <p:cNvPr id="17" name="Rectangle 16">
            <a:extLst>
              <a:ext uri="{FF2B5EF4-FFF2-40B4-BE49-F238E27FC236}">
                <a16:creationId xmlns:a16="http://schemas.microsoft.com/office/drawing/2014/main" id="{A0B95D43-1988-2228-5820-5E6B6B9106AD}"/>
              </a:ext>
            </a:extLst>
          </p:cNvPr>
          <p:cNvSpPr/>
          <p:nvPr/>
        </p:nvSpPr>
        <p:spPr>
          <a:xfrm>
            <a:off x="-1" y="2391980"/>
            <a:ext cx="8572981"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8" name="Rectangle 17">
            <a:extLst>
              <a:ext uri="{FF2B5EF4-FFF2-40B4-BE49-F238E27FC236}">
                <a16:creationId xmlns:a16="http://schemas.microsoft.com/office/drawing/2014/main" id="{8E9846AB-B4B6-1E85-BB42-7D265134D88A}"/>
              </a:ext>
            </a:extLst>
          </p:cNvPr>
          <p:cNvSpPr/>
          <p:nvPr/>
        </p:nvSpPr>
        <p:spPr>
          <a:xfrm>
            <a:off x="-1" y="2141994"/>
            <a:ext cx="8572981"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Problem Statement</a:t>
            </a:r>
            <a:endParaRPr kumimoji="0" lang="en-ZA" sz="1200" b="1"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19" name="TextBox 18">
            <a:extLst>
              <a:ext uri="{FF2B5EF4-FFF2-40B4-BE49-F238E27FC236}">
                <a16:creationId xmlns:a16="http://schemas.microsoft.com/office/drawing/2014/main" id="{0CFE59FE-DE5D-4A75-806A-CB2ED3BF7FCF}"/>
              </a:ext>
            </a:extLst>
          </p:cNvPr>
          <p:cNvSpPr txBox="1"/>
          <p:nvPr/>
        </p:nvSpPr>
        <p:spPr>
          <a:xfrm>
            <a:off x="228538" y="2562900"/>
            <a:ext cx="8115903"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 support teams spend significant time manually interpreting unstructured requests, verifying configurations, and preparing technical instructions before ticket creation. This increases resolution time and can cause inconsistent handling. Generative AI serves as an intelligent first layer of support, converting unstructured requests into structured data. Deterministic workflow logic validates AI output against trusted enterprise reference data, and human approval is maintained for privileged or high-impact operations.</a:t>
            </a:r>
          </a:p>
        </p:txBody>
      </p:sp>
      <p:sp>
        <p:nvSpPr>
          <p:cNvPr id="30" name="Lorem Ipsum">
            <a:extLst>
              <a:ext uri="{FF2B5EF4-FFF2-40B4-BE49-F238E27FC236}">
                <a16:creationId xmlns:a16="http://schemas.microsoft.com/office/drawing/2014/main" id="{2E9DD8CA-4E03-C700-965B-38CF9BEFC483}"/>
              </a:ext>
            </a:extLst>
          </p:cNvPr>
          <p:cNvSpPr txBox="1">
            <a:spLocks/>
          </p:cNvSpPr>
          <p:nvPr/>
        </p:nvSpPr>
        <p:spPr>
          <a:xfrm>
            <a:off x="9033207" y="2502916"/>
            <a:ext cx="2699925" cy="279744"/>
          </a:xfrm>
          <a:prstGeom prst="rect">
            <a:avLst/>
          </a:prstGeom>
        </p:spPr>
        <p:txBody>
          <a:bodyPr lIns="0" anchor="t">
            <a:noAutofit/>
          </a:bodyPr>
          <a:lstStyle>
            <a:lvl1pPr marL="0" marR="0" indent="0" algn="l" defTabSz="412750" rtl="0" latinLnBrk="0">
              <a:lnSpc>
                <a:spcPct val="100000"/>
              </a:lnSpc>
              <a:spcBef>
                <a:spcPts val="0"/>
              </a:spcBef>
              <a:spcAft>
                <a:spcPts val="0"/>
              </a:spcAft>
              <a:buClrTx/>
              <a:buSzTx/>
              <a:buFontTx/>
              <a:buNone/>
              <a:tabLst/>
              <a:defRPr sz="2000" b="1" i="0" u="none" strike="noStrike" cap="none" spc="0" baseline="0" dirty="0">
                <a:solidFill>
                  <a:srgbClr val="243780"/>
                </a:solidFill>
                <a:uFillTx/>
                <a:latin typeface="Circular Std Bold" panose="020B0804020101010102" pitchFamily="34" charset="0"/>
                <a:ea typeface="Circular Std Bold" panose="020B0804020101010102" pitchFamily="34" charset="0"/>
                <a:cs typeface="Circular Std Bold" panose="020B0804020101010102" pitchFamily="34" charset="0"/>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ctr" defTabSz="412750" rtl="0" eaLnBrk="1" fontAlgn="auto" latinLnBrk="0" hangingPunct="1">
              <a:lnSpc>
                <a:spcPct val="100000"/>
              </a:lnSpc>
              <a:spcBef>
                <a:spcPts val="0"/>
              </a:spcBef>
              <a:spcAft>
                <a:spcPts val="0"/>
              </a:spcAft>
              <a:buClrTx/>
              <a:buSzTx/>
              <a:buFontTx/>
              <a:buNone/>
              <a:tabLst/>
              <a:defRPr/>
            </a:pPr>
            <a:r>
              <a:rPr kumimoji="0" lang="pl-PL" sz="1600" b="1" i="0" u="none" strike="noStrike" kern="0" cap="none" spc="0" normalizeH="0" baseline="0" noProof="0">
                <a:ln>
                  <a:noFill/>
                </a:ln>
                <a:solidFill>
                  <a:prstClr val="black">
                    <a:lumMod val="75000"/>
                    <a:lumOff val="25000"/>
                  </a:prstClr>
                </a:solidFill>
                <a:effectLst/>
                <a:uLnTx/>
                <a:uFillTx/>
                <a:latin typeface="Aptos Display" panose="02110004020202020204"/>
                <a:sym typeface="Helvetica Neue"/>
              </a:rPr>
              <a:t>Prioritization Outcomes</a:t>
            </a:r>
          </a:p>
        </p:txBody>
      </p:sp>
      <p:grpSp>
        <p:nvGrpSpPr>
          <p:cNvPr id="31" name="Group 30">
            <a:extLst>
              <a:ext uri="{FF2B5EF4-FFF2-40B4-BE49-F238E27FC236}">
                <a16:creationId xmlns:a16="http://schemas.microsoft.com/office/drawing/2014/main" id="{49B0A36D-19A6-A428-A8A5-52249E40BAE3}"/>
              </a:ext>
            </a:extLst>
          </p:cNvPr>
          <p:cNvGrpSpPr/>
          <p:nvPr/>
        </p:nvGrpSpPr>
        <p:grpSpPr>
          <a:xfrm>
            <a:off x="8855985" y="2949624"/>
            <a:ext cx="3510427" cy="426575"/>
            <a:chOff x="8855985" y="2856587"/>
            <a:chExt cx="3510427" cy="426575"/>
          </a:xfrm>
        </p:grpSpPr>
        <p:grpSp>
          <p:nvGrpSpPr>
            <p:cNvPr id="32" name="Group 31">
              <a:extLst>
                <a:ext uri="{FF2B5EF4-FFF2-40B4-BE49-F238E27FC236}">
                  <a16:creationId xmlns:a16="http://schemas.microsoft.com/office/drawing/2014/main" id="{86221D86-4493-A2B8-CCA6-C3053CD4CE62}"/>
                </a:ext>
              </a:extLst>
            </p:cNvPr>
            <p:cNvGrpSpPr/>
            <p:nvPr/>
          </p:nvGrpSpPr>
          <p:grpSpPr>
            <a:xfrm>
              <a:off x="8855985" y="2893604"/>
              <a:ext cx="1728429" cy="352541"/>
              <a:chOff x="8751288" y="2540042"/>
              <a:chExt cx="1728429" cy="352541"/>
            </a:xfrm>
          </p:grpSpPr>
          <p:pic>
            <p:nvPicPr>
              <p:cNvPr id="35" name="Graphic 34" descr="Diamond">
                <a:extLst>
                  <a:ext uri="{FF2B5EF4-FFF2-40B4-BE49-F238E27FC236}">
                    <a16:creationId xmlns:a16="http://schemas.microsoft.com/office/drawing/2014/main" id="{229C0E19-76AD-FEDE-522F-5E3930EC5845}"/>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51288" y="2540042"/>
                <a:ext cx="352541" cy="352541"/>
              </a:xfrm>
              <a:prstGeom prst="rect">
                <a:avLst/>
              </a:prstGeom>
            </p:spPr>
          </p:pic>
          <p:sp>
            <p:nvSpPr>
              <p:cNvPr id="36" name="Text Placeholder 10">
                <a:extLst>
                  <a:ext uri="{FF2B5EF4-FFF2-40B4-BE49-F238E27FC236}">
                    <a16:creationId xmlns:a16="http://schemas.microsoft.com/office/drawing/2014/main" id="{2112C4EA-BA63-E997-357A-CFF4BFF5DB8B}"/>
                  </a:ext>
                </a:extLst>
              </p:cNvPr>
              <p:cNvSpPr txBox="1">
                <a:spLocks/>
              </p:cNvSpPr>
              <p:nvPr/>
            </p:nvSpPr>
            <p:spPr>
              <a:xfrm>
                <a:off x="9153892" y="2608590"/>
                <a:ext cx="1325825" cy="215444"/>
              </a:xfrm>
              <a:prstGeom prst="rect">
                <a:avLst/>
              </a:prstGeom>
              <a:noFill/>
            </p:spPr>
            <p:txBody>
              <a:bodyPr wrap="square" lIns="0" tIns="0" rIns="0" bIns="0" rtlCol="0">
                <a:spAutoFit/>
              </a:bodyPr>
              <a:lstStyle>
                <a:lvl1pPr marL="0" marR="0" indent="0" algn="ctr" defTabSz="412750" rtl="0" latinLnBrk="0">
                  <a:lnSpc>
                    <a:spcPct val="100000"/>
                  </a:lnSpc>
                  <a:spcBef>
                    <a:spcPts val="0"/>
                  </a:spcBef>
                  <a:spcAft>
                    <a:spcPts val="0"/>
                  </a:spcAft>
                  <a:buClrTx/>
                  <a:buSzTx/>
                  <a:buFontTx/>
                  <a:buNone/>
                  <a:tabLst/>
                  <a:defRPr kumimoji="0" lang="en-US" sz="3000" b="1" i="0" u="none" strike="noStrike" cap="none" spc="0" normalizeH="0" baseline="0" dirty="0">
                    <a:ln>
                      <a:noFill/>
                    </a:ln>
                    <a:solidFill>
                      <a:srgbClr val="7030A0"/>
                    </a:solidFill>
                    <a:effectLst/>
                    <a:uFillTx/>
                    <a:latin typeface="Circular Std"/>
                    <a:ea typeface="Helvetica Neue"/>
                    <a:cs typeface="Helvetica Neue"/>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0">
                  <a:lnSpc>
                    <a:spcPct val="100000"/>
                  </a:lnSpc>
                  <a:spcBef>
                    <a:spcPts val="0"/>
                  </a:spcBef>
                  <a:spcAft>
                    <a:spcPts val="0"/>
                  </a:spcAft>
                  <a:buClrTx/>
                  <a:buSzTx/>
                  <a:buFontTx/>
                  <a:buNone/>
                  <a:tabLst/>
                  <a:defRPr/>
                </a:pPr>
                <a:r>
                  <a:rPr kumimoji="0" lang="en-GB" altLang="zh-CN"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rPr>
                  <a:t>Value</a:t>
                </a:r>
                <a:endParaRPr kumimoji="0" lang="en-GB"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endParaRPr>
              </a:p>
            </p:txBody>
          </p:sp>
        </p:grpSp>
        <p:pic>
          <p:nvPicPr>
            <p:cNvPr id="33" name="Graphic 32" descr="Single gear">
              <a:extLst>
                <a:ext uri="{FF2B5EF4-FFF2-40B4-BE49-F238E27FC236}">
                  <a16:creationId xmlns:a16="http://schemas.microsoft.com/office/drawing/2014/main" id="{8BF3D001-F120-93D6-E440-C94BC5113C49}"/>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14840" y="2856587"/>
              <a:ext cx="426575" cy="426575"/>
            </a:xfrm>
            <a:prstGeom prst="rect">
              <a:avLst/>
            </a:prstGeom>
          </p:spPr>
        </p:pic>
        <p:sp>
          <p:nvSpPr>
            <p:cNvPr id="34" name="Text Placeholder 10">
              <a:extLst>
                <a:ext uri="{FF2B5EF4-FFF2-40B4-BE49-F238E27FC236}">
                  <a16:creationId xmlns:a16="http://schemas.microsoft.com/office/drawing/2014/main" id="{4E22C927-008C-6AEF-1171-6F0C4B8623E5}"/>
                </a:ext>
              </a:extLst>
            </p:cNvPr>
            <p:cNvSpPr txBox="1">
              <a:spLocks/>
            </p:cNvSpPr>
            <p:nvPr/>
          </p:nvSpPr>
          <p:spPr>
            <a:xfrm>
              <a:off x="11040587" y="2962152"/>
              <a:ext cx="1325825" cy="215444"/>
            </a:xfrm>
            <a:prstGeom prst="rect">
              <a:avLst/>
            </a:prstGeom>
            <a:noFill/>
          </p:spPr>
          <p:txBody>
            <a:bodyPr wrap="square" lIns="0" tIns="0" rIns="0" bIns="0" rtlCol="0">
              <a:spAutoFit/>
            </a:bodyPr>
            <a:lstStyle>
              <a:lvl1pPr marL="0" marR="0" indent="0" algn="ctr" defTabSz="412750" rtl="0" latinLnBrk="0">
                <a:lnSpc>
                  <a:spcPct val="100000"/>
                </a:lnSpc>
                <a:spcBef>
                  <a:spcPts val="0"/>
                </a:spcBef>
                <a:spcAft>
                  <a:spcPts val="0"/>
                </a:spcAft>
                <a:buClrTx/>
                <a:buSzTx/>
                <a:buFontTx/>
                <a:buNone/>
                <a:tabLst/>
                <a:defRPr kumimoji="0" lang="en-US" sz="3000" b="1" i="0" u="none" strike="noStrike" cap="none" spc="0" normalizeH="0" baseline="0" dirty="0">
                  <a:ln>
                    <a:noFill/>
                  </a:ln>
                  <a:solidFill>
                    <a:srgbClr val="7030A0"/>
                  </a:solidFill>
                  <a:effectLst/>
                  <a:uFillTx/>
                  <a:latin typeface="Circular Std"/>
                  <a:ea typeface="Helvetica Neue"/>
                  <a:cs typeface="Helvetica Neue"/>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0">
                <a:lnSpc>
                  <a:spcPct val="100000"/>
                </a:lnSpc>
                <a:spcBef>
                  <a:spcPts val="0"/>
                </a:spcBef>
                <a:spcAft>
                  <a:spcPts val="0"/>
                </a:spcAft>
                <a:buClrTx/>
                <a:buSzTx/>
                <a:buFontTx/>
                <a:buNone/>
                <a:tabLst/>
                <a:defRPr/>
              </a:pPr>
              <a:r>
                <a:rPr kumimoji="0" lang="pl-PL" altLang="zh-CN"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rPr>
                <a:t>Feasibility</a:t>
              </a:r>
              <a:endParaRPr kumimoji="0" lang="en-GB"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endParaRPr>
            </a:p>
          </p:txBody>
        </p:sp>
      </p:grpSp>
      <p:sp>
        <p:nvSpPr>
          <p:cNvPr id="37" name="Rectangle 36">
            <a:extLst>
              <a:ext uri="{FF2B5EF4-FFF2-40B4-BE49-F238E27FC236}">
                <a16:creationId xmlns:a16="http://schemas.microsoft.com/office/drawing/2014/main" id="{23E0AE76-D866-BED9-CE70-E289877BF672}"/>
              </a:ext>
            </a:extLst>
          </p:cNvPr>
          <p:cNvSpPr/>
          <p:nvPr/>
        </p:nvSpPr>
        <p:spPr>
          <a:xfrm>
            <a:off x="8803430" y="6333805"/>
            <a:ext cx="151253" cy="145349"/>
          </a:xfrm>
          <a:prstGeom prst="rect">
            <a:avLst/>
          </a:prstGeom>
          <a:solidFill>
            <a:schemeClr val="bg1">
              <a:lumMod val="85000"/>
            </a:scheme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E8E8E8">
                  <a:lumMod val="10000"/>
                </a:srgbClr>
              </a:solidFill>
              <a:effectLst/>
              <a:uLnTx/>
              <a:uFillTx/>
              <a:latin typeface="Aptos Display" panose="02110004020202020204"/>
              <a:ea typeface="+mn-ea"/>
              <a:cs typeface="+mn-cs"/>
            </a:endParaRPr>
          </a:p>
        </p:txBody>
      </p:sp>
      <p:sp>
        <p:nvSpPr>
          <p:cNvPr id="38" name="Rectangle 37">
            <a:extLst>
              <a:ext uri="{FF2B5EF4-FFF2-40B4-BE49-F238E27FC236}">
                <a16:creationId xmlns:a16="http://schemas.microsoft.com/office/drawing/2014/main" id="{F466D4BA-DF2E-1120-9352-A1ACBE2AD202}"/>
              </a:ext>
            </a:extLst>
          </p:cNvPr>
          <p:cNvSpPr/>
          <p:nvPr/>
        </p:nvSpPr>
        <p:spPr>
          <a:xfrm>
            <a:off x="8902882"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56082"/>
                </a:solidFill>
                <a:effectLst/>
                <a:uLnTx/>
                <a:uFillTx/>
                <a:latin typeface="Aptos Display" panose="02110004020202020204"/>
                <a:ea typeface="+mn-ea"/>
                <a:cs typeface="+mn-cs"/>
              </a:rPr>
              <a:t>0 – 6  months </a:t>
            </a:r>
          </a:p>
        </p:txBody>
      </p:sp>
      <p:sp>
        <p:nvSpPr>
          <p:cNvPr id="39" name="Rectangle 38">
            <a:extLst>
              <a:ext uri="{FF2B5EF4-FFF2-40B4-BE49-F238E27FC236}">
                <a16:creationId xmlns:a16="http://schemas.microsoft.com/office/drawing/2014/main" id="{EC40CF54-A9D9-D288-3A90-1BA412C2E2B2}"/>
              </a:ext>
            </a:extLst>
          </p:cNvPr>
          <p:cNvSpPr/>
          <p:nvPr/>
        </p:nvSpPr>
        <p:spPr>
          <a:xfrm>
            <a:off x="9850775" y="6333805"/>
            <a:ext cx="151253" cy="145349"/>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33CC99"/>
              </a:solidFill>
              <a:effectLst/>
              <a:uLnTx/>
              <a:uFillTx/>
              <a:latin typeface="Aptos Display" panose="02110004020202020204"/>
              <a:ea typeface="+mn-ea"/>
              <a:cs typeface="+mn-cs"/>
            </a:endParaRPr>
          </a:p>
        </p:txBody>
      </p:sp>
      <p:sp>
        <p:nvSpPr>
          <p:cNvPr id="40" name="Rectangle 39">
            <a:extLst>
              <a:ext uri="{FF2B5EF4-FFF2-40B4-BE49-F238E27FC236}">
                <a16:creationId xmlns:a16="http://schemas.microsoft.com/office/drawing/2014/main" id="{B46428DE-DA9C-47A8-13C9-FF47AB511DD1}"/>
              </a:ext>
            </a:extLst>
          </p:cNvPr>
          <p:cNvSpPr/>
          <p:nvPr/>
        </p:nvSpPr>
        <p:spPr>
          <a:xfrm>
            <a:off x="9950227"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8E8E8">
                    <a:lumMod val="10000"/>
                  </a:srgbClr>
                </a:solidFill>
                <a:effectLst/>
                <a:uLnTx/>
                <a:uFillTx/>
                <a:latin typeface="Aptos Display" panose="02110004020202020204"/>
                <a:ea typeface="+mn-ea"/>
                <a:cs typeface="+mn-cs"/>
              </a:rPr>
              <a:t>6-12 months</a:t>
            </a:r>
          </a:p>
        </p:txBody>
      </p:sp>
      <p:sp>
        <p:nvSpPr>
          <p:cNvPr id="41" name="Rectangle 40">
            <a:extLst>
              <a:ext uri="{FF2B5EF4-FFF2-40B4-BE49-F238E27FC236}">
                <a16:creationId xmlns:a16="http://schemas.microsoft.com/office/drawing/2014/main" id="{26843225-2817-A485-A457-FA6FAEBF693A}"/>
              </a:ext>
            </a:extLst>
          </p:cNvPr>
          <p:cNvSpPr/>
          <p:nvPr/>
        </p:nvSpPr>
        <p:spPr>
          <a:xfrm>
            <a:off x="10901043" y="6333805"/>
            <a:ext cx="151253" cy="145349"/>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33CC99"/>
              </a:solidFill>
              <a:effectLst/>
              <a:uLnTx/>
              <a:uFillTx/>
              <a:latin typeface="Aptos Display" panose="02110004020202020204"/>
              <a:ea typeface="+mn-ea"/>
              <a:cs typeface="+mn-cs"/>
            </a:endParaRPr>
          </a:p>
        </p:txBody>
      </p:sp>
      <p:sp>
        <p:nvSpPr>
          <p:cNvPr id="42" name="Rectangle 41">
            <a:extLst>
              <a:ext uri="{FF2B5EF4-FFF2-40B4-BE49-F238E27FC236}">
                <a16:creationId xmlns:a16="http://schemas.microsoft.com/office/drawing/2014/main" id="{3C45D53E-C8EC-E0BD-2D76-200AE0CC4C21}"/>
              </a:ext>
            </a:extLst>
          </p:cNvPr>
          <p:cNvSpPr/>
          <p:nvPr/>
        </p:nvSpPr>
        <p:spPr>
          <a:xfrm>
            <a:off x="11000495"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8E8E8">
                    <a:lumMod val="10000"/>
                  </a:srgbClr>
                </a:solidFill>
                <a:effectLst/>
                <a:uLnTx/>
                <a:uFillTx/>
                <a:latin typeface="Aptos Display" panose="02110004020202020204"/>
                <a:ea typeface="+mn-ea"/>
                <a:cs typeface="+mn-cs"/>
              </a:rPr>
              <a:t>&gt;12 months</a:t>
            </a:r>
          </a:p>
        </p:txBody>
      </p:sp>
      <p:sp>
        <p:nvSpPr>
          <p:cNvPr id="43" name="Rectangle 42">
            <a:extLst>
              <a:ext uri="{FF2B5EF4-FFF2-40B4-BE49-F238E27FC236}">
                <a16:creationId xmlns:a16="http://schemas.microsoft.com/office/drawing/2014/main" id="{62525520-FED7-E1BC-0D6A-77FADAE57B29}"/>
              </a:ext>
            </a:extLst>
          </p:cNvPr>
          <p:cNvSpPr/>
          <p:nvPr/>
        </p:nvSpPr>
        <p:spPr>
          <a:xfrm>
            <a:off x="8828414" y="3600892"/>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Clinical Impact </a:t>
            </a:r>
          </a:p>
        </p:txBody>
      </p:sp>
      <p:sp>
        <p:nvSpPr>
          <p:cNvPr id="44" name="Rectangle 43">
            <a:extLst>
              <a:ext uri="{FF2B5EF4-FFF2-40B4-BE49-F238E27FC236}">
                <a16:creationId xmlns:a16="http://schemas.microsoft.com/office/drawing/2014/main" id="{4AF2EB77-D051-EFE9-048E-4474C558E26A}"/>
              </a:ext>
            </a:extLst>
          </p:cNvPr>
          <p:cNvSpPr/>
          <p:nvPr/>
        </p:nvSpPr>
        <p:spPr>
          <a:xfrm>
            <a:off x="9719604" y="3753953"/>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5" name="Rectangle 44">
            <a:extLst>
              <a:ext uri="{FF2B5EF4-FFF2-40B4-BE49-F238E27FC236}">
                <a16:creationId xmlns:a16="http://schemas.microsoft.com/office/drawing/2014/main" id="{A8463498-C10A-291F-51B7-2A9C097B0190}"/>
              </a:ext>
            </a:extLst>
          </p:cNvPr>
          <p:cNvSpPr/>
          <p:nvPr/>
        </p:nvSpPr>
        <p:spPr>
          <a:xfrm>
            <a:off x="9718402"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L</a:t>
            </a:r>
          </a:p>
        </p:txBody>
      </p:sp>
      <p:sp>
        <p:nvSpPr>
          <p:cNvPr id="46" name="Rectangle 45">
            <a:extLst>
              <a:ext uri="{FF2B5EF4-FFF2-40B4-BE49-F238E27FC236}">
                <a16:creationId xmlns:a16="http://schemas.microsoft.com/office/drawing/2014/main" id="{EA20F5FB-0B11-8F67-DC2F-0FBDE49ACDE3}"/>
              </a:ext>
            </a:extLst>
          </p:cNvPr>
          <p:cNvSpPr/>
          <p:nvPr/>
        </p:nvSpPr>
        <p:spPr>
          <a:xfrm>
            <a:off x="9883443" y="3655291"/>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7" name="Rectangle 46">
            <a:extLst>
              <a:ext uri="{FF2B5EF4-FFF2-40B4-BE49-F238E27FC236}">
                <a16:creationId xmlns:a16="http://schemas.microsoft.com/office/drawing/2014/main" id="{BEE8B475-1B08-21BB-F428-00EE0E07F4E9}"/>
              </a:ext>
            </a:extLst>
          </p:cNvPr>
          <p:cNvSpPr/>
          <p:nvPr/>
        </p:nvSpPr>
        <p:spPr>
          <a:xfrm>
            <a:off x="9882241"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48" name="Rectangle 47">
            <a:extLst>
              <a:ext uri="{FF2B5EF4-FFF2-40B4-BE49-F238E27FC236}">
                <a16:creationId xmlns:a16="http://schemas.microsoft.com/office/drawing/2014/main" id="{6760311F-B28C-1E02-AC7D-90A662898519}"/>
              </a:ext>
            </a:extLst>
          </p:cNvPr>
          <p:cNvSpPr/>
          <p:nvPr/>
        </p:nvSpPr>
        <p:spPr>
          <a:xfrm>
            <a:off x="10047281" y="3543163"/>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9" name="Rectangle 48">
            <a:extLst>
              <a:ext uri="{FF2B5EF4-FFF2-40B4-BE49-F238E27FC236}">
                <a16:creationId xmlns:a16="http://schemas.microsoft.com/office/drawing/2014/main" id="{C52DA895-F995-3FA4-5101-88FD32BBAC86}"/>
              </a:ext>
            </a:extLst>
          </p:cNvPr>
          <p:cNvSpPr/>
          <p:nvPr/>
        </p:nvSpPr>
        <p:spPr>
          <a:xfrm>
            <a:off x="10046079"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50" name="Rectangle 49">
            <a:extLst>
              <a:ext uri="{FF2B5EF4-FFF2-40B4-BE49-F238E27FC236}">
                <a16:creationId xmlns:a16="http://schemas.microsoft.com/office/drawing/2014/main" id="{ACE39411-3BFB-E9D6-40B7-5D6A8750DD50}"/>
              </a:ext>
            </a:extLst>
          </p:cNvPr>
          <p:cNvSpPr/>
          <p:nvPr/>
        </p:nvSpPr>
        <p:spPr>
          <a:xfrm>
            <a:off x="10322147" y="3600892"/>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Technical Feasibility</a:t>
            </a:r>
          </a:p>
        </p:txBody>
      </p:sp>
      <p:sp>
        <p:nvSpPr>
          <p:cNvPr id="51" name="Rectangle 50">
            <a:extLst>
              <a:ext uri="{FF2B5EF4-FFF2-40B4-BE49-F238E27FC236}">
                <a16:creationId xmlns:a16="http://schemas.microsoft.com/office/drawing/2014/main" id="{5F5F8CF1-83E5-A55D-A303-4BBC5968CD4E}"/>
              </a:ext>
            </a:extLst>
          </p:cNvPr>
          <p:cNvSpPr/>
          <p:nvPr/>
        </p:nvSpPr>
        <p:spPr>
          <a:xfrm>
            <a:off x="11426244" y="3753953"/>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2" name="Rectangle 51">
            <a:extLst>
              <a:ext uri="{FF2B5EF4-FFF2-40B4-BE49-F238E27FC236}">
                <a16:creationId xmlns:a16="http://schemas.microsoft.com/office/drawing/2014/main" id="{2622546B-1A62-C598-58F6-007FA12324EB}"/>
              </a:ext>
            </a:extLst>
          </p:cNvPr>
          <p:cNvSpPr/>
          <p:nvPr/>
        </p:nvSpPr>
        <p:spPr>
          <a:xfrm>
            <a:off x="11425042"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53" name="Rectangle 52">
            <a:extLst>
              <a:ext uri="{FF2B5EF4-FFF2-40B4-BE49-F238E27FC236}">
                <a16:creationId xmlns:a16="http://schemas.microsoft.com/office/drawing/2014/main" id="{4932AFD6-9782-5703-5C85-BBFF0809671A}"/>
              </a:ext>
            </a:extLst>
          </p:cNvPr>
          <p:cNvSpPr/>
          <p:nvPr/>
        </p:nvSpPr>
        <p:spPr>
          <a:xfrm>
            <a:off x="11590083" y="3655291"/>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4" name="Rectangle 53">
            <a:extLst>
              <a:ext uri="{FF2B5EF4-FFF2-40B4-BE49-F238E27FC236}">
                <a16:creationId xmlns:a16="http://schemas.microsoft.com/office/drawing/2014/main" id="{A4EF3908-76D9-FD4F-CE78-8057E70E98BA}"/>
              </a:ext>
            </a:extLst>
          </p:cNvPr>
          <p:cNvSpPr/>
          <p:nvPr/>
        </p:nvSpPr>
        <p:spPr>
          <a:xfrm>
            <a:off x="11588881"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55" name="Rectangle 54">
            <a:extLst>
              <a:ext uri="{FF2B5EF4-FFF2-40B4-BE49-F238E27FC236}">
                <a16:creationId xmlns:a16="http://schemas.microsoft.com/office/drawing/2014/main" id="{95645F8C-F278-3289-7AE0-87DBDD44380A}"/>
              </a:ext>
            </a:extLst>
          </p:cNvPr>
          <p:cNvSpPr/>
          <p:nvPr/>
        </p:nvSpPr>
        <p:spPr>
          <a:xfrm>
            <a:off x="11753921" y="3543163"/>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6" name="Rectangle 55">
            <a:extLst>
              <a:ext uri="{FF2B5EF4-FFF2-40B4-BE49-F238E27FC236}">
                <a16:creationId xmlns:a16="http://schemas.microsoft.com/office/drawing/2014/main" id="{3AEB7464-C2C8-4126-96AF-B66D6D64E6C6}"/>
              </a:ext>
            </a:extLst>
          </p:cNvPr>
          <p:cNvSpPr/>
          <p:nvPr/>
        </p:nvSpPr>
        <p:spPr>
          <a:xfrm>
            <a:off x="11752719"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57" name="Rectangle 56">
            <a:extLst>
              <a:ext uri="{FF2B5EF4-FFF2-40B4-BE49-F238E27FC236}">
                <a16:creationId xmlns:a16="http://schemas.microsoft.com/office/drawing/2014/main" id="{D8E4F83C-AE03-11E9-D4C9-91B0FAC42D65}"/>
              </a:ext>
            </a:extLst>
          </p:cNvPr>
          <p:cNvSpPr/>
          <p:nvPr/>
        </p:nvSpPr>
        <p:spPr>
          <a:xfrm>
            <a:off x="8828414" y="4226373"/>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Business Impact</a:t>
            </a:r>
          </a:p>
        </p:txBody>
      </p:sp>
      <p:sp>
        <p:nvSpPr>
          <p:cNvPr id="58" name="Rectangle 57">
            <a:extLst>
              <a:ext uri="{FF2B5EF4-FFF2-40B4-BE49-F238E27FC236}">
                <a16:creationId xmlns:a16="http://schemas.microsoft.com/office/drawing/2014/main" id="{B9C941F1-94F7-1EC5-B89D-5297D1E1648C}"/>
              </a:ext>
            </a:extLst>
          </p:cNvPr>
          <p:cNvSpPr/>
          <p:nvPr/>
        </p:nvSpPr>
        <p:spPr>
          <a:xfrm>
            <a:off x="9719604" y="4379434"/>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9" name="Rectangle 58">
            <a:extLst>
              <a:ext uri="{FF2B5EF4-FFF2-40B4-BE49-F238E27FC236}">
                <a16:creationId xmlns:a16="http://schemas.microsoft.com/office/drawing/2014/main" id="{C8C56F1B-023B-A87E-AB27-F7626C66F6C5}"/>
              </a:ext>
            </a:extLst>
          </p:cNvPr>
          <p:cNvSpPr/>
          <p:nvPr/>
        </p:nvSpPr>
        <p:spPr>
          <a:xfrm>
            <a:off x="9718402"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60" name="Rectangle 59">
            <a:extLst>
              <a:ext uri="{FF2B5EF4-FFF2-40B4-BE49-F238E27FC236}">
                <a16:creationId xmlns:a16="http://schemas.microsoft.com/office/drawing/2014/main" id="{F94FFA98-AD82-505D-0160-DD203A552B8F}"/>
              </a:ext>
            </a:extLst>
          </p:cNvPr>
          <p:cNvSpPr/>
          <p:nvPr/>
        </p:nvSpPr>
        <p:spPr>
          <a:xfrm>
            <a:off x="9883443" y="4280772"/>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1" name="Rectangle 60">
            <a:extLst>
              <a:ext uri="{FF2B5EF4-FFF2-40B4-BE49-F238E27FC236}">
                <a16:creationId xmlns:a16="http://schemas.microsoft.com/office/drawing/2014/main" id="{FC6636E6-AA96-A03E-30E7-7D0E4EA83878}"/>
              </a:ext>
            </a:extLst>
          </p:cNvPr>
          <p:cNvSpPr/>
          <p:nvPr/>
        </p:nvSpPr>
        <p:spPr>
          <a:xfrm>
            <a:off x="9882241"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62" name="Rectangle 61">
            <a:extLst>
              <a:ext uri="{FF2B5EF4-FFF2-40B4-BE49-F238E27FC236}">
                <a16:creationId xmlns:a16="http://schemas.microsoft.com/office/drawing/2014/main" id="{D658DF67-83C5-F841-3018-027327E1766F}"/>
              </a:ext>
            </a:extLst>
          </p:cNvPr>
          <p:cNvSpPr/>
          <p:nvPr/>
        </p:nvSpPr>
        <p:spPr>
          <a:xfrm>
            <a:off x="10047281" y="4168644"/>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3" name="Rectangle 62">
            <a:extLst>
              <a:ext uri="{FF2B5EF4-FFF2-40B4-BE49-F238E27FC236}">
                <a16:creationId xmlns:a16="http://schemas.microsoft.com/office/drawing/2014/main" id="{49278D8C-A2CA-E6B1-0959-9BB76C1CA994}"/>
              </a:ext>
            </a:extLst>
          </p:cNvPr>
          <p:cNvSpPr/>
          <p:nvPr/>
        </p:nvSpPr>
        <p:spPr>
          <a:xfrm>
            <a:off x="10046079"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H</a:t>
            </a:r>
          </a:p>
        </p:txBody>
      </p:sp>
      <p:sp>
        <p:nvSpPr>
          <p:cNvPr id="64" name="Rectangle 63">
            <a:extLst>
              <a:ext uri="{FF2B5EF4-FFF2-40B4-BE49-F238E27FC236}">
                <a16:creationId xmlns:a16="http://schemas.microsoft.com/office/drawing/2014/main" id="{C8D529CF-BB8E-A6F7-A253-BA15EAF06D63}"/>
              </a:ext>
            </a:extLst>
          </p:cNvPr>
          <p:cNvSpPr/>
          <p:nvPr/>
        </p:nvSpPr>
        <p:spPr>
          <a:xfrm>
            <a:off x="10322147" y="4226373"/>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Organizational Feasibility</a:t>
            </a:r>
          </a:p>
        </p:txBody>
      </p:sp>
      <p:sp>
        <p:nvSpPr>
          <p:cNvPr id="65" name="Rectangle 64">
            <a:extLst>
              <a:ext uri="{FF2B5EF4-FFF2-40B4-BE49-F238E27FC236}">
                <a16:creationId xmlns:a16="http://schemas.microsoft.com/office/drawing/2014/main" id="{398F3108-3201-C62C-2D61-925528633E22}"/>
              </a:ext>
            </a:extLst>
          </p:cNvPr>
          <p:cNvSpPr/>
          <p:nvPr/>
        </p:nvSpPr>
        <p:spPr>
          <a:xfrm>
            <a:off x="11426244" y="4379434"/>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6" name="Rectangle 65">
            <a:extLst>
              <a:ext uri="{FF2B5EF4-FFF2-40B4-BE49-F238E27FC236}">
                <a16:creationId xmlns:a16="http://schemas.microsoft.com/office/drawing/2014/main" id="{55E04679-88B3-6E9A-342D-6A76593E5720}"/>
              </a:ext>
            </a:extLst>
          </p:cNvPr>
          <p:cNvSpPr/>
          <p:nvPr/>
        </p:nvSpPr>
        <p:spPr>
          <a:xfrm>
            <a:off x="11425042"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67" name="Rectangle 66">
            <a:extLst>
              <a:ext uri="{FF2B5EF4-FFF2-40B4-BE49-F238E27FC236}">
                <a16:creationId xmlns:a16="http://schemas.microsoft.com/office/drawing/2014/main" id="{AD7C70B0-EE0F-5923-6C26-945375F996B5}"/>
              </a:ext>
            </a:extLst>
          </p:cNvPr>
          <p:cNvSpPr/>
          <p:nvPr/>
        </p:nvSpPr>
        <p:spPr>
          <a:xfrm>
            <a:off x="11590083" y="4280772"/>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8" name="Rectangle 67">
            <a:extLst>
              <a:ext uri="{FF2B5EF4-FFF2-40B4-BE49-F238E27FC236}">
                <a16:creationId xmlns:a16="http://schemas.microsoft.com/office/drawing/2014/main" id="{3463BCAF-BBAA-E275-7853-32184761B809}"/>
              </a:ext>
            </a:extLst>
          </p:cNvPr>
          <p:cNvSpPr/>
          <p:nvPr/>
        </p:nvSpPr>
        <p:spPr>
          <a:xfrm>
            <a:off x="11588881"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69" name="Rectangle 68">
            <a:extLst>
              <a:ext uri="{FF2B5EF4-FFF2-40B4-BE49-F238E27FC236}">
                <a16:creationId xmlns:a16="http://schemas.microsoft.com/office/drawing/2014/main" id="{B9551A0D-DA16-0575-9CCC-A757EBF1E875}"/>
              </a:ext>
            </a:extLst>
          </p:cNvPr>
          <p:cNvSpPr/>
          <p:nvPr/>
        </p:nvSpPr>
        <p:spPr>
          <a:xfrm>
            <a:off x="11753921" y="4168644"/>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0" name="Rectangle 69">
            <a:extLst>
              <a:ext uri="{FF2B5EF4-FFF2-40B4-BE49-F238E27FC236}">
                <a16:creationId xmlns:a16="http://schemas.microsoft.com/office/drawing/2014/main" id="{E1AFEC15-CFCD-0AA4-83B2-C72271158BCE}"/>
              </a:ext>
            </a:extLst>
          </p:cNvPr>
          <p:cNvSpPr/>
          <p:nvPr/>
        </p:nvSpPr>
        <p:spPr>
          <a:xfrm>
            <a:off x="11752719"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71" name="Rectangle 70">
            <a:extLst>
              <a:ext uri="{FF2B5EF4-FFF2-40B4-BE49-F238E27FC236}">
                <a16:creationId xmlns:a16="http://schemas.microsoft.com/office/drawing/2014/main" id="{CA27EF73-3D72-5A67-3E06-E35E6EA96231}"/>
              </a:ext>
            </a:extLst>
          </p:cNvPr>
          <p:cNvSpPr/>
          <p:nvPr/>
        </p:nvSpPr>
        <p:spPr>
          <a:xfrm>
            <a:off x="8828414" y="4851854"/>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Strategic Alignment</a:t>
            </a:r>
          </a:p>
        </p:txBody>
      </p:sp>
      <p:sp>
        <p:nvSpPr>
          <p:cNvPr id="72" name="Rectangle 71">
            <a:extLst>
              <a:ext uri="{FF2B5EF4-FFF2-40B4-BE49-F238E27FC236}">
                <a16:creationId xmlns:a16="http://schemas.microsoft.com/office/drawing/2014/main" id="{74752DBD-DAA9-9228-D15D-CD542E2C6E2C}"/>
              </a:ext>
            </a:extLst>
          </p:cNvPr>
          <p:cNvSpPr/>
          <p:nvPr/>
        </p:nvSpPr>
        <p:spPr>
          <a:xfrm>
            <a:off x="9719604" y="5004915"/>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3" name="Rectangle 72">
            <a:extLst>
              <a:ext uri="{FF2B5EF4-FFF2-40B4-BE49-F238E27FC236}">
                <a16:creationId xmlns:a16="http://schemas.microsoft.com/office/drawing/2014/main" id="{A1D1D402-8B61-4E68-A677-2E84EE94D4B6}"/>
              </a:ext>
            </a:extLst>
          </p:cNvPr>
          <p:cNvSpPr/>
          <p:nvPr/>
        </p:nvSpPr>
        <p:spPr>
          <a:xfrm>
            <a:off x="9718402"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74" name="Rectangle 73">
            <a:extLst>
              <a:ext uri="{FF2B5EF4-FFF2-40B4-BE49-F238E27FC236}">
                <a16:creationId xmlns:a16="http://schemas.microsoft.com/office/drawing/2014/main" id="{6C02BCC3-4C24-29A7-01CE-F9431373E5D0}"/>
              </a:ext>
            </a:extLst>
          </p:cNvPr>
          <p:cNvSpPr/>
          <p:nvPr/>
        </p:nvSpPr>
        <p:spPr>
          <a:xfrm>
            <a:off x="9883443" y="4906253"/>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5" name="Rectangle 74">
            <a:extLst>
              <a:ext uri="{FF2B5EF4-FFF2-40B4-BE49-F238E27FC236}">
                <a16:creationId xmlns:a16="http://schemas.microsoft.com/office/drawing/2014/main" id="{A3BE1649-2519-0303-3A7F-ED1E46F25FD8}"/>
              </a:ext>
            </a:extLst>
          </p:cNvPr>
          <p:cNvSpPr/>
          <p:nvPr/>
        </p:nvSpPr>
        <p:spPr>
          <a:xfrm>
            <a:off x="9882241"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76" name="Rectangle 75">
            <a:extLst>
              <a:ext uri="{FF2B5EF4-FFF2-40B4-BE49-F238E27FC236}">
                <a16:creationId xmlns:a16="http://schemas.microsoft.com/office/drawing/2014/main" id="{22109F5B-099B-89C8-EA2B-EC0C69E6ACA1}"/>
              </a:ext>
            </a:extLst>
          </p:cNvPr>
          <p:cNvSpPr/>
          <p:nvPr/>
        </p:nvSpPr>
        <p:spPr>
          <a:xfrm>
            <a:off x="10047281" y="4794125"/>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7" name="Rectangle 76">
            <a:extLst>
              <a:ext uri="{FF2B5EF4-FFF2-40B4-BE49-F238E27FC236}">
                <a16:creationId xmlns:a16="http://schemas.microsoft.com/office/drawing/2014/main" id="{98F07B3E-F433-AD0B-0BEF-A31BB5BB02AD}"/>
              </a:ext>
            </a:extLst>
          </p:cNvPr>
          <p:cNvSpPr/>
          <p:nvPr/>
        </p:nvSpPr>
        <p:spPr>
          <a:xfrm>
            <a:off x="10046079"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H</a:t>
            </a:r>
          </a:p>
        </p:txBody>
      </p:sp>
      <p:sp>
        <p:nvSpPr>
          <p:cNvPr id="78" name="Rectangle 77">
            <a:extLst>
              <a:ext uri="{FF2B5EF4-FFF2-40B4-BE49-F238E27FC236}">
                <a16:creationId xmlns:a16="http://schemas.microsoft.com/office/drawing/2014/main" id="{8FFBDEAF-9DFD-CD98-AA6B-1A65643DBC58}"/>
              </a:ext>
            </a:extLst>
          </p:cNvPr>
          <p:cNvSpPr/>
          <p:nvPr/>
        </p:nvSpPr>
        <p:spPr>
          <a:xfrm>
            <a:off x="10322147" y="4851854"/>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Cost </a:t>
            </a: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Feasibility</a:t>
            </a:r>
          </a:p>
        </p:txBody>
      </p:sp>
      <p:sp>
        <p:nvSpPr>
          <p:cNvPr id="79" name="Rectangle 78">
            <a:extLst>
              <a:ext uri="{FF2B5EF4-FFF2-40B4-BE49-F238E27FC236}">
                <a16:creationId xmlns:a16="http://schemas.microsoft.com/office/drawing/2014/main" id="{5CB4C78C-9A65-6F19-48F7-6BBD1535CC9C}"/>
              </a:ext>
            </a:extLst>
          </p:cNvPr>
          <p:cNvSpPr/>
          <p:nvPr/>
        </p:nvSpPr>
        <p:spPr>
          <a:xfrm>
            <a:off x="11426244" y="5004915"/>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0" name="Rectangle 79">
            <a:extLst>
              <a:ext uri="{FF2B5EF4-FFF2-40B4-BE49-F238E27FC236}">
                <a16:creationId xmlns:a16="http://schemas.microsoft.com/office/drawing/2014/main" id="{282B9CC1-7870-92B9-13EF-A756F025855D}"/>
              </a:ext>
            </a:extLst>
          </p:cNvPr>
          <p:cNvSpPr/>
          <p:nvPr/>
        </p:nvSpPr>
        <p:spPr>
          <a:xfrm>
            <a:off x="11425042"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81" name="Rectangle 80">
            <a:extLst>
              <a:ext uri="{FF2B5EF4-FFF2-40B4-BE49-F238E27FC236}">
                <a16:creationId xmlns:a16="http://schemas.microsoft.com/office/drawing/2014/main" id="{29FEA1E3-1064-6856-533A-2FA09F7A5BD8}"/>
              </a:ext>
            </a:extLst>
          </p:cNvPr>
          <p:cNvSpPr/>
          <p:nvPr/>
        </p:nvSpPr>
        <p:spPr>
          <a:xfrm>
            <a:off x="11590083" y="4906253"/>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2" name="Rectangle 81">
            <a:extLst>
              <a:ext uri="{FF2B5EF4-FFF2-40B4-BE49-F238E27FC236}">
                <a16:creationId xmlns:a16="http://schemas.microsoft.com/office/drawing/2014/main" id="{1250A546-277B-4A0B-2E4D-60AB8975D0E9}"/>
              </a:ext>
            </a:extLst>
          </p:cNvPr>
          <p:cNvSpPr/>
          <p:nvPr/>
        </p:nvSpPr>
        <p:spPr>
          <a:xfrm>
            <a:off x="11588881"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83" name="Rectangle 82">
            <a:extLst>
              <a:ext uri="{FF2B5EF4-FFF2-40B4-BE49-F238E27FC236}">
                <a16:creationId xmlns:a16="http://schemas.microsoft.com/office/drawing/2014/main" id="{0C706363-6564-B126-7AC3-1B25D6648839}"/>
              </a:ext>
            </a:extLst>
          </p:cNvPr>
          <p:cNvSpPr/>
          <p:nvPr/>
        </p:nvSpPr>
        <p:spPr>
          <a:xfrm>
            <a:off x="11753921" y="4794125"/>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4" name="Rectangle 83">
            <a:extLst>
              <a:ext uri="{FF2B5EF4-FFF2-40B4-BE49-F238E27FC236}">
                <a16:creationId xmlns:a16="http://schemas.microsoft.com/office/drawing/2014/main" id="{3280B61D-B5FB-B4E1-16B8-EFB16190B8A1}"/>
              </a:ext>
            </a:extLst>
          </p:cNvPr>
          <p:cNvSpPr/>
          <p:nvPr/>
        </p:nvSpPr>
        <p:spPr>
          <a:xfrm>
            <a:off x="11752719"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cxnSp>
        <p:nvCxnSpPr>
          <p:cNvPr id="85" name="Straight Connector 84">
            <a:extLst>
              <a:ext uri="{FF2B5EF4-FFF2-40B4-BE49-F238E27FC236}">
                <a16:creationId xmlns:a16="http://schemas.microsoft.com/office/drawing/2014/main" id="{4A26B469-9DF3-56A9-ECDA-B01BF6F91B39}"/>
              </a:ext>
            </a:extLst>
          </p:cNvPr>
          <p:cNvCxnSpPr>
            <a:cxnSpLocks/>
          </p:cNvCxnSpPr>
          <p:nvPr/>
        </p:nvCxnSpPr>
        <p:spPr>
          <a:xfrm rot="5400000">
            <a:off x="10381544" y="3876457"/>
            <a:ext cx="0" cy="3200400"/>
          </a:xfrm>
          <a:prstGeom prst="line">
            <a:avLst/>
          </a:prstGeom>
          <a:ln w="19050" cap="flat" cmpd="sng" algn="ctr">
            <a:gradFill>
              <a:gsLst>
                <a:gs pos="0">
                  <a:schemeClr val="accent4">
                    <a:lumMod val="20000"/>
                    <a:lumOff val="80000"/>
                  </a:schemeClr>
                </a:gs>
                <a:gs pos="32000">
                  <a:schemeClr val="tx2"/>
                </a:gs>
                <a:gs pos="70000">
                  <a:schemeClr val="accent1"/>
                </a:gs>
                <a:gs pos="100000">
                  <a:schemeClr val="accent4">
                    <a:lumMod val="20000"/>
                    <a:lumOff val="80000"/>
                  </a:schemeClr>
                </a:gs>
              </a:gsLst>
              <a:lin ang="5400000" scaled="1"/>
            </a:gra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86" name="Group 85">
            <a:extLst>
              <a:ext uri="{FF2B5EF4-FFF2-40B4-BE49-F238E27FC236}">
                <a16:creationId xmlns:a16="http://schemas.microsoft.com/office/drawing/2014/main" id="{5C1432BE-A1FC-143E-02E0-5EA81C225D59}"/>
              </a:ext>
            </a:extLst>
          </p:cNvPr>
          <p:cNvGrpSpPr/>
          <p:nvPr/>
        </p:nvGrpSpPr>
        <p:grpSpPr>
          <a:xfrm>
            <a:off x="9401362" y="5704988"/>
            <a:ext cx="1960365" cy="400486"/>
            <a:chOff x="9352965" y="5558314"/>
            <a:chExt cx="1960365" cy="400486"/>
          </a:xfrm>
        </p:grpSpPr>
        <p:sp>
          <p:nvSpPr>
            <p:cNvPr id="87" name="Rectangle 86">
              <a:extLst>
                <a:ext uri="{FF2B5EF4-FFF2-40B4-BE49-F238E27FC236}">
                  <a16:creationId xmlns:a16="http://schemas.microsoft.com/office/drawing/2014/main" id="{8A7AD7FE-76EB-1167-2F3B-3CFB14107CB7}"/>
                </a:ext>
              </a:extLst>
            </p:cNvPr>
            <p:cNvSpPr/>
            <p:nvPr/>
          </p:nvSpPr>
          <p:spPr>
            <a:xfrm>
              <a:off x="9608782" y="5604668"/>
              <a:ext cx="1704548" cy="307777"/>
            </a:xfrm>
            <a:prstGeom prst="rect">
              <a:avLst/>
            </a:prstGeom>
          </p:spPr>
          <p:txBody>
            <a:bodyPr wrap="square" anchor="ctr">
              <a:sp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73370"/>
                  </a:solidFill>
                  <a:effectLst/>
                  <a:uLnTx/>
                  <a:uFillTx/>
                  <a:latin typeface="Aptos Display" panose="02110004020202020204"/>
                  <a:ea typeface="+mn-ea"/>
                  <a:cs typeface="+mn-cs"/>
                  <a:sym typeface="Helvetica Neue Medium"/>
                </a:rPr>
                <a:t>Time to Deploy </a:t>
              </a:r>
            </a:p>
          </p:txBody>
        </p:sp>
        <p:pic>
          <p:nvPicPr>
            <p:cNvPr id="88" name="Graphic 87" descr="Stopwatch 75% with solid fill">
              <a:extLst>
                <a:ext uri="{FF2B5EF4-FFF2-40B4-BE49-F238E27FC236}">
                  <a16:creationId xmlns:a16="http://schemas.microsoft.com/office/drawing/2014/main" id="{337987AC-B45B-547D-BBD9-69746E57B5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52965" y="5558314"/>
              <a:ext cx="400486" cy="400486"/>
            </a:xfrm>
            <a:prstGeom prst="rect">
              <a:avLst/>
            </a:prstGeom>
          </p:spPr>
        </p:pic>
      </p:grpSp>
      <p:sp>
        <p:nvSpPr>
          <p:cNvPr id="90" name="Oval 89">
            <a:extLst>
              <a:ext uri="{FF2B5EF4-FFF2-40B4-BE49-F238E27FC236}">
                <a16:creationId xmlns:a16="http://schemas.microsoft.com/office/drawing/2014/main" id="{2B40313E-5848-3707-DBC8-5A50F56B2740}"/>
              </a:ext>
            </a:extLst>
          </p:cNvPr>
          <p:cNvSpPr>
            <a:spLocks noChangeAspect="1"/>
          </p:cNvSpPr>
          <p:nvPr/>
        </p:nvSpPr>
        <p:spPr>
          <a:xfrm>
            <a:off x="370363" y="575951"/>
            <a:ext cx="989623" cy="989623"/>
          </a:xfrm>
          <a:prstGeom prst="ellipse">
            <a:avLst/>
          </a:prstGeom>
          <a:solidFill>
            <a:srgbClr val="4387BD">
              <a:alpha val="30000"/>
            </a:srgb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Display" panose="02110004020202020204"/>
                <a:ea typeface="+mn-ea"/>
                <a:cs typeface="FS Albert Arabic" panose="020B0503040502020804" pitchFamily="34" charset="-78"/>
                <a:sym typeface="Helvetica Neue Medium"/>
              </a:rPr>
              <a:t>--</a:t>
            </a:r>
          </a:p>
        </p:txBody>
      </p:sp>
      <p:sp>
        <p:nvSpPr>
          <p:cNvPr id="91" name="Lorem Ipsum">
            <a:extLst>
              <a:ext uri="{FF2B5EF4-FFF2-40B4-BE49-F238E27FC236}">
                <a16:creationId xmlns:a16="http://schemas.microsoft.com/office/drawing/2014/main" id="{09663201-2DEE-BD55-A788-BEF4DD2B70D7}"/>
              </a:ext>
            </a:extLst>
          </p:cNvPr>
          <p:cNvSpPr txBox="1">
            <a:spLocks/>
          </p:cNvSpPr>
          <p:nvPr/>
        </p:nvSpPr>
        <p:spPr>
          <a:xfrm>
            <a:off x="1585410" y="509798"/>
            <a:ext cx="10396333" cy="514721"/>
          </a:xfrm>
          <a:prstGeom prst="rect">
            <a:avLst/>
          </a:prstGeom>
        </p:spPr>
        <p:txBody>
          <a:bodyPr wrap="square" lIns="0" tIns="45720" rIns="91440" bIns="45720" anchor="b" anchorCtr="0">
            <a:noAutofit/>
          </a:bodyPr>
          <a:lstStyle>
            <a:lvl1pPr marL="0" marR="0" indent="0" algn="l" defTabSz="412750" rtl="0" latinLnBrk="0">
              <a:lnSpc>
                <a:spcPct val="100000"/>
              </a:lnSpc>
              <a:spcBef>
                <a:spcPts val="0"/>
              </a:spcBef>
              <a:spcAft>
                <a:spcPts val="0"/>
              </a:spcAft>
              <a:buClrTx/>
              <a:buSzTx/>
              <a:buFontTx/>
              <a:buNone/>
              <a:tabLst/>
              <a:defRPr sz="2000" b="1" i="0" u="none" strike="noStrike" cap="none" spc="0" baseline="0" dirty="0">
                <a:solidFill>
                  <a:srgbClr val="243780"/>
                </a:solidFill>
                <a:uFillTx/>
                <a:latin typeface="Circular Std Bold" panose="020B0804020101010102" pitchFamily="34" charset="0"/>
                <a:ea typeface="Circular Std Bold" panose="020B0804020101010102" pitchFamily="34" charset="0"/>
                <a:cs typeface="Circular Std Bold" panose="020B0804020101010102" pitchFamily="34" charset="0"/>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Aptos Display" panose="02110004020202020204"/>
                <a:ea typeface="Lato" panose="020F0502020204030203" pitchFamily="34" charset="0"/>
                <a:cs typeface="FS Albert Arabic" panose="020B0503040502020804" pitchFamily="34" charset="-78"/>
                <a:sym typeface="Helvetica Neue"/>
              </a:rPr>
              <a:t>AI-Powered IT Support Request Automation</a:t>
            </a:r>
          </a:p>
        </p:txBody>
      </p:sp>
      <p:sp>
        <p:nvSpPr>
          <p:cNvPr id="92" name="Rectangle 91">
            <a:extLst>
              <a:ext uri="{FF2B5EF4-FFF2-40B4-BE49-F238E27FC236}">
                <a16:creationId xmlns:a16="http://schemas.microsoft.com/office/drawing/2014/main" id="{17EEAA63-D6FB-FD67-1420-486F56F0C481}"/>
              </a:ext>
            </a:extLst>
          </p:cNvPr>
          <p:cNvSpPr>
            <a:spLocks/>
          </p:cNvSpPr>
          <p:nvPr/>
        </p:nvSpPr>
        <p:spPr>
          <a:xfrm>
            <a:off x="1607645" y="1003500"/>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Production Vision Overview</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93" name="Rectangle 92">
            <a:extLst>
              <a:ext uri="{FF2B5EF4-FFF2-40B4-BE49-F238E27FC236}">
                <a16:creationId xmlns:a16="http://schemas.microsoft.com/office/drawing/2014/main" id="{7082A433-B81E-58E1-EA97-055776D526F4}"/>
              </a:ext>
            </a:extLst>
          </p:cNvPr>
          <p:cNvSpPr>
            <a:spLocks/>
          </p:cNvSpPr>
          <p:nvPr/>
        </p:nvSpPr>
        <p:spPr>
          <a:xfrm>
            <a:off x="1607645" y="1307103"/>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Enterprise production architecture and business case for AI-Powered IT Support Request Automation</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2" name="TextBox 1">
            <a:extLst>
              <a:ext uri="{FF2B5EF4-FFF2-40B4-BE49-F238E27FC236}">
                <a16:creationId xmlns:a16="http://schemas.microsoft.com/office/drawing/2014/main" id="{4903B4B0-061F-E427-1274-9C22A5915FCC}"/>
              </a:ext>
            </a:extLst>
          </p:cNvPr>
          <p:cNvSpPr txBox="1"/>
          <p:nvPr/>
        </p:nvSpPr>
        <p:spPr>
          <a:xfrm>
            <a:off x="4474178" y="5779524"/>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Power Platform, GenAI platform &amp; AI Gateway</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Enterprise systems, APIs &amp; identity services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ITSM &amp; Microsoft 365 collaboration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Security, governance &amp; audit controls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Premium connectors where required</a:t>
            </a:r>
          </a:p>
        </p:txBody>
      </p:sp>
    </p:spTree>
    <p:extLst>
      <p:ext uri="{BB962C8B-B14F-4D97-AF65-F5344CB8AC3E}">
        <p14:creationId xmlns:p14="http://schemas.microsoft.com/office/powerpoint/2010/main" val="2084743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AC0C6-9CD5-625C-A68A-8E736FC05C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2614E11-CB5F-79EE-3640-8B77121D1460}"/>
              </a:ext>
            </a:extLst>
          </p:cNvPr>
          <p:cNvSpPr/>
          <p:nvPr/>
        </p:nvSpPr>
        <p:spPr>
          <a:xfrm>
            <a:off x="0" y="-979"/>
            <a:ext cx="12216384" cy="2121408"/>
          </a:xfrm>
          <a:prstGeom prst="rect">
            <a:avLst/>
          </a:prstGeom>
          <a:blipFill>
            <a:blip r:embed="rId3"/>
            <a:stretch>
              <a:fillRect/>
            </a:stretch>
          </a:blip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Aptos Display" panose="02110004020202020204"/>
              <a:ea typeface="+mn-ea"/>
              <a:cs typeface="+mn-cs"/>
            </a:endParaRPr>
          </a:p>
        </p:txBody>
      </p:sp>
      <p:sp>
        <p:nvSpPr>
          <p:cNvPr id="9" name="Rectangle 8">
            <a:extLst>
              <a:ext uri="{FF2B5EF4-FFF2-40B4-BE49-F238E27FC236}">
                <a16:creationId xmlns:a16="http://schemas.microsoft.com/office/drawing/2014/main" id="{F3C2B0BA-9F44-3BA4-1AF1-1D22AFD718E4}"/>
              </a:ext>
            </a:extLst>
          </p:cNvPr>
          <p:cNvSpPr/>
          <p:nvPr/>
        </p:nvSpPr>
        <p:spPr>
          <a:xfrm>
            <a:off x="471945" y="5520341"/>
            <a:ext cx="4005666" cy="1249396"/>
          </a:xfrm>
          <a:prstGeom prst="rect">
            <a:avLst/>
          </a:prstGeom>
          <a:solidFill>
            <a:srgbClr val="EAF2FA"/>
          </a:soli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dirty="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 name="Rectangle 9">
            <a:extLst>
              <a:ext uri="{FF2B5EF4-FFF2-40B4-BE49-F238E27FC236}">
                <a16:creationId xmlns:a16="http://schemas.microsoft.com/office/drawing/2014/main" id="{8D2B6269-35E1-61D3-C4AA-5C08973FD56A}"/>
              </a:ext>
            </a:extLst>
          </p:cNvPr>
          <p:cNvSpPr/>
          <p:nvPr/>
        </p:nvSpPr>
        <p:spPr>
          <a:xfrm>
            <a:off x="471945" y="5270355"/>
            <a:ext cx="400566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Key B</a:t>
            </a:r>
            <a:r>
              <a:rPr lang="en-US" sz="1200" b="1" dirty="0" err="1">
                <a:solidFill>
                  <a:prstClr val="white"/>
                </a:solidFill>
                <a:latin typeface="Aptos Display" panose="02110004020202020204"/>
              </a:rPr>
              <a:t>enefits</a:t>
            </a:r>
            <a:endParaRPr kumimoji="0" lang="en-ZA" sz="1200" b="1"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11" name="TextBox 10">
            <a:extLst>
              <a:ext uri="{FF2B5EF4-FFF2-40B4-BE49-F238E27FC236}">
                <a16:creationId xmlns:a16="http://schemas.microsoft.com/office/drawing/2014/main" id="{31A38E53-3528-CBC1-9634-5D1C75D462FE}"/>
              </a:ext>
            </a:extLst>
          </p:cNvPr>
          <p:cNvSpPr txBox="1"/>
          <p:nvPr/>
        </p:nvSpPr>
        <p:spPr>
          <a:xfrm>
            <a:off x="578728" y="5593453"/>
            <a:ext cx="379209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Faster request interpretation &amp; classification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Structured extraction from unstructured input</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AI output validated before downstream action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Consistent routing and workflow orchestration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Human approval required for high-impact actions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Reusable framework across IT Support scenarios</a:t>
            </a:r>
          </a:p>
        </p:txBody>
      </p:sp>
      <p:sp>
        <p:nvSpPr>
          <p:cNvPr id="12" name="Rectangle 11">
            <a:extLst>
              <a:ext uri="{FF2B5EF4-FFF2-40B4-BE49-F238E27FC236}">
                <a16:creationId xmlns:a16="http://schemas.microsoft.com/office/drawing/2014/main" id="{BA8B3D47-9586-F318-EBCC-FC1CE0DA3017}"/>
              </a:ext>
            </a:extLst>
          </p:cNvPr>
          <p:cNvSpPr/>
          <p:nvPr/>
        </p:nvSpPr>
        <p:spPr>
          <a:xfrm>
            <a:off x="4604502" y="5509394"/>
            <a:ext cx="3713608" cy="1249396"/>
          </a:xfrm>
          <a:prstGeom prst="rect">
            <a:avLst/>
          </a:prstGeom>
          <a:solidFill>
            <a:srgbClr val="FBEFEF"/>
          </a:solidFill>
          <a:ln w="38100" cap="flat">
            <a:solidFill>
              <a:srgbClr val="FBEFEF"/>
            </a:solid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R="0" lvl="0" algn="l" defTabSz="825500" rtl="0" eaLnBrk="1" fontAlgn="auto" latinLnBrk="0" hangingPunct="0">
              <a:lnSpc>
                <a:spcPct val="100000"/>
              </a:lnSpc>
              <a:spcBef>
                <a:spcPts val="0"/>
              </a:spcBef>
              <a:spcAft>
                <a:spcPts val="400"/>
              </a:spcAft>
              <a:buClrTx/>
              <a:buSzTx/>
              <a:tabLst/>
              <a:defRPr/>
            </a:pPr>
            <a:endParaRPr kumimoji="0" lang="pl-PL" sz="1100" b="0" i="0" u="none" strike="noStrike" kern="1200" cap="none" spc="0" normalizeH="0" baseline="0" noProof="0" dirty="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3" name="Rectangle 12">
            <a:extLst>
              <a:ext uri="{FF2B5EF4-FFF2-40B4-BE49-F238E27FC236}">
                <a16:creationId xmlns:a16="http://schemas.microsoft.com/office/drawing/2014/main" id="{FFA68BC5-A4D6-C458-AB71-77A86B5EEE9A}"/>
              </a:ext>
            </a:extLst>
          </p:cNvPr>
          <p:cNvSpPr/>
          <p:nvPr/>
        </p:nvSpPr>
        <p:spPr>
          <a:xfrm>
            <a:off x="4604502" y="5259408"/>
            <a:ext cx="3713608"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Risks/ Limitation</a:t>
            </a:r>
            <a:endParaRPr kumimoji="0" lang="en-ZA" sz="900" b="0" i="1"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15" name="Rectangle 14">
            <a:extLst>
              <a:ext uri="{FF2B5EF4-FFF2-40B4-BE49-F238E27FC236}">
                <a16:creationId xmlns:a16="http://schemas.microsoft.com/office/drawing/2014/main" id="{8257D77F-675E-8430-6E93-5141B1789A5F}"/>
              </a:ext>
            </a:extLst>
          </p:cNvPr>
          <p:cNvSpPr/>
          <p:nvPr/>
        </p:nvSpPr>
        <p:spPr>
          <a:xfrm>
            <a:off x="8465980" y="5509394"/>
            <a:ext cx="3556297" cy="1249396"/>
          </a:xfrm>
          <a:prstGeom prst="rect">
            <a:avLst/>
          </a:prstGeom>
          <a:solidFill>
            <a:srgbClr val="EFF6F0"/>
          </a:soli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dirty="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6" name="Rectangle 15">
            <a:extLst>
              <a:ext uri="{FF2B5EF4-FFF2-40B4-BE49-F238E27FC236}">
                <a16:creationId xmlns:a16="http://schemas.microsoft.com/office/drawing/2014/main" id="{D4FD4A18-315F-887D-B207-1134CDF381CE}"/>
              </a:ext>
            </a:extLst>
          </p:cNvPr>
          <p:cNvSpPr/>
          <p:nvPr/>
        </p:nvSpPr>
        <p:spPr>
          <a:xfrm>
            <a:off x="8465980" y="5259408"/>
            <a:ext cx="3556297"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dirty="0">
                <a:ln>
                  <a:noFill/>
                </a:ln>
                <a:solidFill>
                  <a:prstClr val="white"/>
                </a:solidFill>
                <a:effectLst/>
                <a:uLnTx/>
                <a:uFillTx/>
                <a:latin typeface="Aptos Display" panose="02110004020202020204"/>
                <a:ea typeface="+mn-ea"/>
                <a:cs typeface="+mn-cs"/>
              </a:rPr>
              <a:t>Recommendation</a:t>
            </a:r>
            <a:endParaRPr kumimoji="0" lang="pt-BR" sz="900" b="0" i="1"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17" name="Rectangle 16">
            <a:extLst>
              <a:ext uri="{FF2B5EF4-FFF2-40B4-BE49-F238E27FC236}">
                <a16:creationId xmlns:a16="http://schemas.microsoft.com/office/drawing/2014/main" id="{FFCCB0C9-58BD-C308-B587-DA81C89E38C0}"/>
              </a:ext>
            </a:extLst>
          </p:cNvPr>
          <p:cNvSpPr/>
          <p:nvPr/>
        </p:nvSpPr>
        <p:spPr>
          <a:xfrm>
            <a:off x="471943" y="2391979"/>
            <a:ext cx="4424521" cy="2833689"/>
          </a:xfrm>
          <a:prstGeom prst="rect">
            <a:avLst/>
          </a:prstGeom>
          <a:solidFill>
            <a:schemeClr val="bg1"/>
          </a:soli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dirty="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8" name="Rectangle 17">
            <a:extLst>
              <a:ext uri="{FF2B5EF4-FFF2-40B4-BE49-F238E27FC236}">
                <a16:creationId xmlns:a16="http://schemas.microsoft.com/office/drawing/2014/main" id="{1273C44B-55DB-678D-5527-47CF56D0AB4F}"/>
              </a:ext>
            </a:extLst>
          </p:cNvPr>
          <p:cNvSpPr/>
          <p:nvPr/>
        </p:nvSpPr>
        <p:spPr>
          <a:xfrm>
            <a:off x="499861" y="2141993"/>
            <a:ext cx="4396603" cy="213167"/>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AI Tool Information</a:t>
            </a:r>
            <a:endParaRPr kumimoji="0" lang="en-ZA" sz="1200" b="1"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90" name="Oval 89">
            <a:extLst>
              <a:ext uri="{FF2B5EF4-FFF2-40B4-BE49-F238E27FC236}">
                <a16:creationId xmlns:a16="http://schemas.microsoft.com/office/drawing/2014/main" id="{3F4D131A-706D-BCAE-3F74-A868906AD925}"/>
              </a:ext>
            </a:extLst>
          </p:cNvPr>
          <p:cNvSpPr>
            <a:spLocks noChangeAspect="1"/>
          </p:cNvSpPr>
          <p:nvPr/>
        </p:nvSpPr>
        <p:spPr>
          <a:xfrm>
            <a:off x="370363" y="575951"/>
            <a:ext cx="989623" cy="989623"/>
          </a:xfrm>
          <a:prstGeom prst="ellipse">
            <a:avLst/>
          </a:prstGeom>
          <a:solidFill>
            <a:srgbClr val="4387BD">
              <a:alpha val="30000"/>
            </a:srgb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Display" panose="02110004020202020204"/>
                <a:ea typeface="+mn-ea"/>
                <a:cs typeface="FS Albert Arabic" panose="020B0503040502020804" pitchFamily="34" charset="-78"/>
                <a:sym typeface="Helvetica Neue Medium"/>
              </a:rPr>
              <a:t>--</a:t>
            </a:r>
          </a:p>
        </p:txBody>
      </p:sp>
      <p:sp>
        <p:nvSpPr>
          <p:cNvPr id="91" name="Lorem Ipsum">
            <a:extLst>
              <a:ext uri="{FF2B5EF4-FFF2-40B4-BE49-F238E27FC236}">
                <a16:creationId xmlns:a16="http://schemas.microsoft.com/office/drawing/2014/main" id="{63CA622A-AAAE-FBE3-CDF7-86F5EA322BC4}"/>
              </a:ext>
            </a:extLst>
          </p:cNvPr>
          <p:cNvSpPr txBox="1">
            <a:spLocks/>
          </p:cNvSpPr>
          <p:nvPr/>
        </p:nvSpPr>
        <p:spPr>
          <a:xfrm>
            <a:off x="1585410" y="509798"/>
            <a:ext cx="10396333" cy="514721"/>
          </a:xfrm>
          <a:prstGeom prst="rect">
            <a:avLst/>
          </a:prstGeom>
        </p:spPr>
        <p:txBody>
          <a:bodyPr wrap="square" lIns="0" tIns="45720" rIns="91440" bIns="45720" anchor="b" anchorCtr="0">
            <a:noAutofit/>
          </a:bodyPr>
          <a:lstStyle>
            <a:lvl1pPr marL="0" marR="0" indent="0" algn="l" defTabSz="412750" rtl="0" latinLnBrk="0">
              <a:lnSpc>
                <a:spcPct val="100000"/>
              </a:lnSpc>
              <a:spcBef>
                <a:spcPts val="0"/>
              </a:spcBef>
              <a:spcAft>
                <a:spcPts val="0"/>
              </a:spcAft>
              <a:buClrTx/>
              <a:buSzTx/>
              <a:buFontTx/>
              <a:buNone/>
              <a:tabLst/>
              <a:defRPr sz="2000" b="1" i="0" u="none" strike="noStrike" cap="none" spc="0" baseline="0" dirty="0">
                <a:solidFill>
                  <a:srgbClr val="243780"/>
                </a:solidFill>
                <a:uFillTx/>
                <a:latin typeface="Circular Std Bold" panose="020B0804020101010102" pitchFamily="34" charset="0"/>
                <a:ea typeface="Circular Std Bold" panose="020B0804020101010102" pitchFamily="34" charset="0"/>
                <a:cs typeface="Circular Std Bold" panose="020B0804020101010102" pitchFamily="34" charset="0"/>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Aptos Display" panose="02110004020202020204"/>
                <a:ea typeface="Lato" panose="020F0502020204030203" pitchFamily="34" charset="0"/>
                <a:cs typeface="FS Albert Arabic" panose="020B0503040502020804" pitchFamily="34" charset="-78"/>
                <a:sym typeface="Helvetica Neue"/>
              </a:rPr>
              <a:t>AI-Powered IT Support Request Automation</a:t>
            </a:r>
          </a:p>
        </p:txBody>
      </p:sp>
      <p:sp>
        <p:nvSpPr>
          <p:cNvPr id="92" name="Rectangle 91">
            <a:extLst>
              <a:ext uri="{FF2B5EF4-FFF2-40B4-BE49-F238E27FC236}">
                <a16:creationId xmlns:a16="http://schemas.microsoft.com/office/drawing/2014/main" id="{E8E4A182-8912-69B1-8B70-72E768A89F0C}"/>
              </a:ext>
            </a:extLst>
          </p:cNvPr>
          <p:cNvSpPr>
            <a:spLocks/>
          </p:cNvSpPr>
          <p:nvPr/>
        </p:nvSpPr>
        <p:spPr>
          <a:xfrm>
            <a:off x="1607645" y="1003500"/>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Production Use Case Summary</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93" name="Rectangle 92">
            <a:extLst>
              <a:ext uri="{FF2B5EF4-FFF2-40B4-BE49-F238E27FC236}">
                <a16:creationId xmlns:a16="http://schemas.microsoft.com/office/drawing/2014/main" id="{6F9C7C63-C88B-6926-2BB3-FCBA07978867}"/>
              </a:ext>
            </a:extLst>
          </p:cNvPr>
          <p:cNvSpPr>
            <a:spLocks/>
          </p:cNvSpPr>
          <p:nvPr/>
        </p:nvSpPr>
        <p:spPr>
          <a:xfrm>
            <a:off x="1607645" y="1307103"/>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Enterprise production architecture for AI-Powered IT Support Request Automation across multiple IT Support scenarios</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2" name="TextBox 1">
            <a:extLst>
              <a:ext uri="{FF2B5EF4-FFF2-40B4-BE49-F238E27FC236}">
                <a16:creationId xmlns:a16="http://schemas.microsoft.com/office/drawing/2014/main" id="{A4BA618B-FE56-667A-19F1-6CE32D1D491B}"/>
              </a:ext>
            </a:extLst>
          </p:cNvPr>
          <p:cNvSpPr txBox="1"/>
          <p:nvPr/>
        </p:nvSpPr>
        <p:spPr>
          <a:xfrm>
            <a:off x="8480994" y="5680314"/>
            <a:ext cx="336668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Proceed with a phased implementation targeting up to 90% reduction in request preparation time (POC-demonstrated), subject to Enterprise Architecture, Information Security, AI Governance, and licensing approval.</a:t>
            </a:r>
          </a:p>
        </p:txBody>
      </p:sp>
      <p:sp>
        <p:nvSpPr>
          <p:cNvPr id="3" name="Rectangle 2">
            <a:extLst>
              <a:ext uri="{FF2B5EF4-FFF2-40B4-BE49-F238E27FC236}">
                <a16:creationId xmlns:a16="http://schemas.microsoft.com/office/drawing/2014/main" id="{E936B217-BABD-944E-5546-244F780C98F7}"/>
              </a:ext>
            </a:extLst>
          </p:cNvPr>
          <p:cNvSpPr/>
          <p:nvPr/>
        </p:nvSpPr>
        <p:spPr>
          <a:xfrm>
            <a:off x="4812225" y="2391980"/>
            <a:ext cx="6811619" cy="1728477"/>
          </a:xfrm>
          <a:prstGeom prst="rect">
            <a:avLst/>
          </a:prstGeom>
          <a:no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20" name="Rectangle 19">
            <a:extLst>
              <a:ext uri="{FF2B5EF4-FFF2-40B4-BE49-F238E27FC236}">
                <a16:creationId xmlns:a16="http://schemas.microsoft.com/office/drawing/2014/main" id="{11E6F743-0C8B-2167-D28F-D9E5C2C79C49}"/>
              </a:ext>
            </a:extLst>
          </p:cNvPr>
          <p:cNvSpPr/>
          <p:nvPr/>
        </p:nvSpPr>
        <p:spPr>
          <a:xfrm>
            <a:off x="5002653" y="2141993"/>
            <a:ext cx="6621191" cy="287841"/>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Process Impact</a:t>
            </a:r>
            <a:endParaRPr kumimoji="0" lang="en-ZA" sz="1200" b="1"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21" name="TextBox 20">
            <a:extLst>
              <a:ext uri="{FF2B5EF4-FFF2-40B4-BE49-F238E27FC236}">
                <a16:creationId xmlns:a16="http://schemas.microsoft.com/office/drawing/2014/main" id="{371D338D-9EA8-6A69-8ECB-DC179D72123D}"/>
              </a:ext>
            </a:extLst>
          </p:cNvPr>
          <p:cNvSpPr txBox="1"/>
          <p:nvPr/>
        </p:nvSpPr>
        <p:spPr>
          <a:xfrm>
            <a:off x="5127024" y="2601063"/>
            <a:ext cx="1374055" cy="430887"/>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Manual Process</a:t>
            </a: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sym typeface="Helvetica Neue Medium"/>
              </a:rPr>
              <a:t> Before AI</a:t>
            </a:r>
            <a:endPar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89" name="TextBox 88">
            <a:extLst>
              <a:ext uri="{FF2B5EF4-FFF2-40B4-BE49-F238E27FC236}">
                <a16:creationId xmlns:a16="http://schemas.microsoft.com/office/drawing/2014/main" id="{DAB939BA-39DD-C736-6E5D-6FC331F35557}"/>
              </a:ext>
            </a:extLst>
          </p:cNvPr>
          <p:cNvSpPr txBox="1"/>
          <p:nvPr/>
        </p:nvSpPr>
        <p:spPr>
          <a:xfrm>
            <a:off x="2176861" y="2539956"/>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Approved Generative AI Platform via governed AI Gateway</a:t>
            </a:r>
          </a:p>
        </p:txBody>
      </p:sp>
      <p:sp>
        <p:nvSpPr>
          <p:cNvPr id="97" name="TextBox 96">
            <a:extLst>
              <a:ext uri="{FF2B5EF4-FFF2-40B4-BE49-F238E27FC236}">
                <a16:creationId xmlns:a16="http://schemas.microsoft.com/office/drawing/2014/main" id="{EABC6977-510C-FE80-E033-96EDE34EAA80}"/>
              </a:ext>
            </a:extLst>
          </p:cNvPr>
          <p:cNvSpPr txBox="1"/>
          <p:nvPr/>
        </p:nvSpPr>
        <p:spPr>
          <a:xfrm>
            <a:off x="2176861" y="2979341"/>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Interprets and classifies unstructured IT support requests</a:t>
            </a:r>
          </a:p>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98" name="TextBox 97">
            <a:extLst>
              <a:ext uri="{FF2B5EF4-FFF2-40B4-BE49-F238E27FC236}">
                <a16:creationId xmlns:a16="http://schemas.microsoft.com/office/drawing/2014/main" id="{7F0713DB-E2B6-BDE8-1BA1-E5B5BBD9C553}"/>
              </a:ext>
            </a:extLst>
          </p:cNvPr>
          <p:cNvSpPr txBox="1"/>
          <p:nvPr/>
        </p:nvSpPr>
        <p:spPr>
          <a:xfrm>
            <a:off x="2176861" y="3417756"/>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Yes</a:t>
            </a:r>
          </a:p>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99" name="TextBox 98">
            <a:extLst>
              <a:ext uri="{FF2B5EF4-FFF2-40B4-BE49-F238E27FC236}">
                <a16:creationId xmlns:a16="http://schemas.microsoft.com/office/drawing/2014/main" id="{3D9F61DF-5D32-21F3-337C-77E8A6A4D8B9}"/>
              </a:ext>
            </a:extLst>
          </p:cNvPr>
          <p:cNvSpPr txBox="1"/>
          <p:nvPr/>
        </p:nvSpPr>
        <p:spPr>
          <a:xfrm>
            <a:off x="2176861" y="3858152"/>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Enterprise subscription with required Power Platform licensing</a:t>
            </a:r>
          </a:p>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0" name="TextBox 99">
            <a:extLst>
              <a:ext uri="{FF2B5EF4-FFF2-40B4-BE49-F238E27FC236}">
                <a16:creationId xmlns:a16="http://schemas.microsoft.com/office/drawing/2014/main" id="{8F645731-3048-4E95-9FF8-D167128970C6}"/>
              </a:ext>
            </a:extLst>
          </p:cNvPr>
          <p:cNvSpPr txBox="1"/>
          <p:nvPr/>
        </p:nvSpPr>
        <p:spPr>
          <a:xfrm>
            <a:off x="2169783" y="4299065"/>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Subject to AI Platform selection, governance &amp; licensing approval</a:t>
            </a:r>
          </a:p>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1" name="TextBox 100">
            <a:extLst>
              <a:ext uri="{FF2B5EF4-FFF2-40B4-BE49-F238E27FC236}">
                <a16:creationId xmlns:a16="http://schemas.microsoft.com/office/drawing/2014/main" id="{59A109B9-80CE-D803-FDB7-6BD6541EBE26}"/>
              </a:ext>
            </a:extLst>
          </p:cNvPr>
          <p:cNvSpPr txBox="1"/>
          <p:nvPr/>
        </p:nvSpPr>
        <p:spPr>
          <a:xfrm>
            <a:off x="2176861" y="4740343"/>
            <a:ext cx="2630205" cy="430887"/>
          </a:xfrm>
          <a:prstGeom prst="rect">
            <a:avLst/>
          </a:prstGeom>
          <a:solidFill>
            <a:srgbClr val="F0F7FC"/>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Yes — Power Platform, AI Gateway, Identity &amp; Data Services</a:t>
            </a:r>
          </a:p>
          <a:p>
            <a:pPr marL="0" marR="0" lvl="0" indent="0" algn="l" defTabSz="825500" rtl="0" eaLnBrk="1" fontAlgn="auto" latinLnBrk="0" hangingPunct="0">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4" name="Rectangle 103">
            <a:extLst>
              <a:ext uri="{FF2B5EF4-FFF2-40B4-BE49-F238E27FC236}">
                <a16:creationId xmlns:a16="http://schemas.microsoft.com/office/drawing/2014/main" id="{B37AF5C2-1860-5BA1-32B0-5FA87493973D}"/>
              </a:ext>
            </a:extLst>
          </p:cNvPr>
          <p:cNvSpPr/>
          <p:nvPr/>
        </p:nvSpPr>
        <p:spPr>
          <a:xfrm>
            <a:off x="576697" y="2544038"/>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AI Tool Used</a:t>
            </a:r>
          </a:p>
        </p:txBody>
      </p:sp>
      <p:sp>
        <p:nvSpPr>
          <p:cNvPr id="105" name="Rectangle 104">
            <a:extLst>
              <a:ext uri="{FF2B5EF4-FFF2-40B4-BE49-F238E27FC236}">
                <a16:creationId xmlns:a16="http://schemas.microsoft.com/office/drawing/2014/main" id="{36A293D3-3542-8C00-9187-CCF2ACC1EA65}"/>
              </a:ext>
            </a:extLst>
          </p:cNvPr>
          <p:cNvSpPr/>
          <p:nvPr/>
        </p:nvSpPr>
        <p:spPr>
          <a:xfrm>
            <a:off x="575231" y="3418210"/>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825500" hangingPunct="0">
              <a:defRPr/>
            </a:pPr>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Subscription Required</a:t>
            </a:r>
          </a:p>
        </p:txBody>
      </p:sp>
      <p:sp>
        <p:nvSpPr>
          <p:cNvPr id="106" name="Rectangle 105">
            <a:extLst>
              <a:ext uri="{FF2B5EF4-FFF2-40B4-BE49-F238E27FC236}">
                <a16:creationId xmlns:a16="http://schemas.microsoft.com/office/drawing/2014/main" id="{A4DCE125-78A4-0F52-7BB6-DA8E147AEE5A}"/>
              </a:ext>
            </a:extLst>
          </p:cNvPr>
          <p:cNvSpPr/>
          <p:nvPr/>
        </p:nvSpPr>
        <p:spPr>
          <a:xfrm>
            <a:off x="575232" y="2978852"/>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Purpose of Tool</a:t>
            </a:r>
          </a:p>
        </p:txBody>
      </p:sp>
      <p:sp>
        <p:nvSpPr>
          <p:cNvPr id="108" name="Rectangle 107">
            <a:extLst>
              <a:ext uri="{FF2B5EF4-FFF2-40B4-BE49-F238E27FC236}">
                <a16:creationId xmlns:a16="http://schemas.microsoft.com/office/drawing/2014/main" id="{2BF7E89E-7996-B0C9-E776-02C8034C22D1}"/>
              </a:ext>
            </a:extLst>
          </p:cNvPr>
          <p:cNvSpPr/>
          <p:nvPr/>
        </p:nvSpPr>
        <p:spPr>
          <a:xfrm>
            <a:off x="575231" y="3860565"/>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825500" hangingPunct="0">
              <a:defRPr/>
            </a:pPr>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Subscription Type</a:t>
            </a:r>
          </a:p>
        </p:txBody>
      </p:sp>
      <p:sp>
        <p:nvSpPr>
          <p:cNvPr id="109" name="Rectangle 108">
            <a:extLst>
              <a:ext uri="{FF2B5EF4-FFF2-40B4-BE49-F238E27FC236}">
                <a16:creationId xmlns:a16="http://schemas.microsoft.com/office/drawing/2014/main" id="{96FCCFB3-8302-A4EB-5214-53FBD471A67A}"/>
              </a:ext>
            </a:extLst>
          </p:cNvPr>
          <p:cNvSpPr/>
          <p:nvPr/>
        </p:nvSpPr>
        <p:spPr>
          <a:xfrm>
            <a:off x="575230" y="4304630"/>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825500" hangingPunct="0">
              <a:defRPr/>
            </a:pPr>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Estimated Cost</a:t>
            </a:r>
          </a:p>
        </p:txBody>
      </p:sp>
      <p:sp>
        <p:nvSpPr>
          <p:cNvPr id="110" name="Rectangle 109">
            <a:extLst>
              <a:ext uri="{FF2B5EF4-FFF2-40B4-BE49-F238E27FC236}">
                <a16:creationId xmlns:a16="http://schemas.microsoft.com/office/drawing/2014/main" id="{B05CDB87-D7F2-FD4C-8650-82DB59DA7EFF}"/>
              </a:ext>
            </a:extLst>
          </p:cNvPr>
          <p:cNvSpPr/>
          <p:nvPr/>
        </p:nvSpPr>
        <p:spPr>
          <a:xfrm>
            <a:off x="572548" y="4743061"/>
            <a:ext cx="1594554" cy="430887"/>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825500" hangingPunct="0">
              <a:defRPr/>
            </a:pPr>
            <a:r>
              <a:rPr lang="en-US" sz="1100" dirty="0">
                <a:solidFill>
                  <a:srgbClr val="E8E8E8">
                    <a:lumMod val="10000"/>
                  </a:srgbClr>
                </a:solidFill>
                <a:latin typeface="Aptos Display" panose="02110004020202020204"/>
                <a:ea typeface="Lato" panose="020F0502020204030203" pitchFamily="34" charset="0"/>
                <a:cs typeface="DIN Next LT Arabic" panose="020B0503020203050203" pitchFamily="34" charset="-78"/>
                <a:sym typeface="Helvetica Neue Medium"/>
              </a:rPr>
              <a:t>     Integration Required</a:t>
            </a:r>
          </a:p>
        </p:txBody>
      </p:sp>
      <p:pic>
        <p:nvPicPr>
          <p:cNvPr id="112" name="Picture 111"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2BEF79C9-9069-7BF9-17CE-DD94C863C16B}"/>
              </a:ext>
            </a:extLst>
          </p:cNvPr>
          <p:cNvPicPr>
            <a:picLocks noChangeAspect="1"/>
          </p:cNvPicPr>
          <p:nvPr/>
        </p:nvPicPr>
        <p:blipFill>
          <a:blip r:embed="rId4">
            <a:extLst>
              <a:ext uri="{28A0092B-C50C-407E-A947-70E740481C1C}">
                <a14:useLocalDpi xmlns:a14="http://schemas.microsoft.com/office/drawing/2010/main" val="0"/>
              </a:ext>
            </a:extLst>
          </a:blip>
          <a:srcRect t="2067" b="84274"/>
          <a:stretch>
            <a:fillRect/>
          </a:stretch>
        </p:blipFill>
        <p:spPr>
          <a:xfrm flipH="1">
            <a:off x="571086" y="2645686"/>
            <a:ext cx="255655" cy="219865"/>
          </a:xfrm>
          <a:prstGeom prst="rect">
            <a:avLst/>
          </a:prstGeom>
        </p:spPr>
      </p:pic>
      <p:pic>
        <p:nvPicPr>
          <p:cNvPr id="115" name="Picture 114"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7BE1993D-D408-083A-B2D7-9499267E470A}"/>
              </a:ext>
            </a:extLst>
          </p:cNvPr>
          <p:cNvPicPr>
            <a:picLocks noChangeAspect="1"/>
          </p:cNvPicPr>
          <p:nvPr/>
        </p:nvPicPr>
        <p:blipFill>
          <a:blip r:embed="rId4">
            <a:extLst>
              <a:ext uri="{28A0092B-C50C-407E-A947-70E740481C1C}">
                <a14:useLocalDpi xmlns:a14="http://schemas.microsoft.com/office/drawing/2010/main" val="0"/>
              </a:ext>
            </a:extLst>
          </a:blip>
          <a:srcRect l="3" t="20787" r="-3" b="65757"/>
          <a:stretch>
            <a:fillRect/>
          </a:stretch>
        </p:blipFill>
        <p:spPr>
          <a:xfrm flipH="1">
            <a:off x="568156" y="3100283"/>
            <a:ext cx="244982" cy="207559"/>
          </a:xfrm>
          <a:prstGeom prst="rect">
            <a:avLst/>
          </a:prstGeom>
        </p:spPr>
      </p:pic>
      <p:pic>
        <p:nvPicPr>
          <p:cNvPr id="117" name="Picture 116"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EE6B214E-52FB-008B-9BA8-BFC92402884D}"/>
              </a:ext>
            </a:extLst>
          </p:cNvPr>
          <p:cNvPicPr>
            <a:picLocks noChangeAspect="1"/>
          </p:cNvPicPr>
          <p:nvPr/>
        </p:nvPicPr>
        <p:blipFill>
          <a:blip r:embed="rId4">
            <a:extLst>
              <a:ext uri="{28A0092B-C50C-407E-A947-70E740481C1C}">
                <a14:useLocalDpi xmlns:a14="http://schemas.microsoft.com/office/drawing/2010/main" val="0"/>
              </a:ext>
            </a:extLst>
          </a:blip>
          <a:srcRect l="8425" t="38500" r="18327" b="50127"/>
          <a:stretch>
            <a:fillRect/>
          </a:stretch>
        </p:blipFill>
        <p:spPr>
          <a:xfrm flipH="1">
            <a:off x="605746" y="3540483"/>
            <a:ext cx="207392" cy="202759"/>
          </a:xfrm>
          <a:prstGeom prst="rect">
            <a:avLst/>
          </a:prstGeom>
        </p:spPr>
      </p:pic>
      <p:pic>
        <p:nvPicPr>
          <p:cNvPr id="118" name="Picture 117"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B81D2DF2-C98C-4E76-318B-0D80391192E7}"/>
              </a:ext>
            </a:extLst>
          </p:cNvPr>
          <p:cNvPicPr>
            <a:picLocks noChangeAspect="1"/>
          </p:cNvPicPr>
          <p:nvPr/>
        </p:nvPicPr>
        <p:blipFill>
          <a:blip r:embed="rId4">
            <a:extLst>
              <a:ext uri="{28A0092B-C50C-407E-A947-70E740481C1C}">
                <a14:useLocalDpi xmlns:a14="http://schemas.microsoft.com/office/drawing/2010/main" val="0"/>
              </a:ext>
            </a:extLst>
          </a:blip>
          <a:srcRect l="10436" t="53646" r="14675" b="32602"/>
          <a:stretch>
            <a:fillRect/>
          </a:stretch>
        </p:blipFill>
        <p:spPr>
          <a:xfrm flipH="1">
            <a:off x="575229" y="3934350"/>
            <a:ext cx="237883" cy="275047"/>
          </a:xfrm>
          <a:prstGeom prst="rect">
            <a:avLst/>
          </a:prstGeom>
        </p:spPr>
      </p:pic>
      <p:pic>
        <p:nvPicPr>
          <p:cNvPr id="120" name="Picture 119"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86871790-F269-2076-E617-CE5560BA7D59}"/>
              </a:ext>
            </a:extLst>
          </p:cNvPr>
          <p:cNvPicPr>
            <a:picLocks noChangeAspect="1"/>
          </p:cNvPicPr>
          <p:nvPr/>
        </p:nvPicPr>
        <p:blipFill>
          <a:blip r:embed="rId4">
            <a:extLst>
              <a:ext uri="{28A0092B-C50C-407E-A947-70E740481C1C}">
                <a14:useLocalDpi xmlns:a14="http://schemas.microsoft.com/office/drawing/2010/main" val="0"/>
              </a:ext>
            </a:extLst>
          </a:blip>
          <a:srcRect l="10438" t="71034" r="18814" b="16848"/>
          <a:stretch>
            <a:fillRect/>
          </a:stretch>
        </p:blipFill>
        <p:spPr>
          <a:xfrm flipH="1">
            <a:off x="600319" y="4394824"/>
            <a:ext cx="224727" cy="242382"/>
          </a:xfrm>
          <a:prstGeom prst="rect">
            <a:avLst/>
          </a:prstGeom>
        </p:spPr>
      </p:pic>
      <p:pic>
        <p:nvPicPr>
          <p:cNvPr id="121" name="Picture 120" descr="The image shows a simple, monochrome representation of a robot, a star icon, a circle, and a dollar sign, arranged in a horizontal sequence.&#10;&#10;AI-generated content may be incorrect.">
            <a:extLst>
              <a:ext uri="{FF2B5EF4-FFF2-40B4-BE49-F238E27FC236}">
                <a16:creationId xmlns:a16="http://schemas.microsoft.com/office/drawing/2014/main" id="{5F35632C-B5DC-9F94-FFC9-82206CA6F082}"/>
              </a:ext>
            </a:extLst>
          </p:cNvPr>
          <p:cNvPicPr>
            <a:picLocks noChangeAspect="1"/>
          </p:cNvPicPr>
          <p:nvPr/>
        </p:nvPicPr>
        <p:blipFill>
          <a:blip r:embed="rId4">
            <a:extLst>
              <a:ext uri="{28A0092B-C50C-407E-A947-70E740481C1C}">
                <a14:useLocalDpi xmlns:a14="http://schemas.microsoft.com/office/drawing/2010/main" val="0"/>
              </a:ext>
            </a:extLst>
          </a:blip>
          <a:srcRect l="8720" t="88534" r="18814"/>
          <a:stretch>
            <a:fillRect/>
          </a:stretch>
        </p:blipFill>
        <p:spPr>
          <a:xfrm flipH="1">
            <a:off x="600319" y="4838889"/>
            <a:ext cx="230184" cy="229347"/>
          </a:xfrm>
          <a:prstGeom prst="rect">
            <a:avLst/>
          </a:prstGeom>
        </p:spPr>
      </p:pic>
      <p:sp>
        <p:nvSpPr>
          <p:cNvPr id="122" name="TextBox 121">
            <a:extLst>
              <a:ext uri="{FF2B5EF4-FFF2-40B4-BE49-F238E27FC236}">
                <a16:creationId xmlns:a16="http://schemas.microsoft.com/office/drawing/2014/main" id="{A3D54FB8-4CD1-4474-B28B-BDE52A38A485}"/>
              </a:ext>
            </a:extLst>
          </p:cNvPr>
          <p:cNvSpPr txBox="1"/>
          <p:nvPr/>
        </p:nvSpPr>
        <p:spPr>
          <a:xfrm>
            <a:off x="6895841" y="2627054"/>
            <a:ext cx="123345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Process</a:t>
            </a: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sym typeface="Helvetica Neue Medium"/>
              </a:rPr>
              <a:t> Before AI</a:t>
            </a:r>
            <a:endPar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cxnSp>
        <p:nvCxnSpPr>
          <p:cNvPr id="124" name="Straight Connector 123">
            <a:extLst>
              <a:ext uri="{FF2B5EF4-FFF2-40B4-BE49-F238E27FC236}">
                <a16:creationId xmlns:a16="http://schemas.microsoft.com/office/drawing/2014/main" id="{FFF886C4-1AA9-1BB9-7E69-4DF419C8C6AF}"/>
              </a:ext>
            </a:extLst>
          </p:cNvPr>
          <p:cNvCxnSpPr>
            <a:cxnSpLocks/>
          </p:cNvCxnSpPr>
          <p:nvPr/>
        </p:nvCxnSpPr>
        <p:spPr>
          <a:xfrm>
            <a:off x="6619065" y="2698784"/>
            <a:ext cx="0" cy="1849421"/>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pic>
        <p:nvPicPr>
          <p:cNvPr id="126" name="Picture 125" descr="The diagram depicts a circular flowchart with a clock icon and a percentage increase, illustrating a process or progression over time.&#10;&#10;AI-generated content may be incorrect.">
            <a:extLst>
              <a:ext uri="{FF2B5EF4-FFF2-40B4-BE49-F238E27FC236}">
                <a16:creationId xmlns:a16="http://schemas.microsoft.com/office/drawing/2014/main" id="{10598265-71E3-2F8C-CF9C-3FC25F74975F}"/>
              </a:ext>
            </a:extLst>
          </p:cNvPr>
          <p:cNvPicPr>
            <a:picLocks noChangeAspect="1"/>
          </p:cNvPicPr>
          <p:nvPr/>
        </p:nvPicPr>
        <p:blipFill>
          <a:blip r:embed="rId5">
            <a:extLst>
              <a:ext uri="{28A0092B-C50C-407E-A947-70E740481C1C}">
                <a14:useLocalDpi xmlns:a14="http://schemas.microsoft.com/office/drawing/2010/main" val="0"/>
              </a:ext>
            </a:extLst>
          </a:blip>
          <a:srcRect l="881" t="7033" r="83840" b="4189"/>
          <a:stretch>
            <a:fillRect/>
          </a:stretch>
        </p:blipFill>
        <p:spPr>
          <a:xfrm>
            <a:off x="5484956" y="3213302"/>
            <a:ext cx="642567" cy="633670"/>
          </a:xfrm>
          <a:prstGeom prst="rect">
            <a:avLst/>
          </a:prstGeom>
        </p:spPr>
      </p:pic>
      <p:sp>
        <p:nvSpPr>
          <p:cNvPr id="129" name="Rectangle 128">
            <a:extLst>
              <a:ext uri="{FF2B5EF4-FFF2-40B4-BE49-F238E27FC236}">
                <a16:creationId xmlns:a16="http://schemas.microsoft.com/office/drawing/2014/main" id="{1F702B77-3F30-77A2-1934-26629EC17D8C}"/>
              </a:ext>
            </a:extLst>
          </p:cNvPr>
          <p:cNvSpPr/>
          <p:nvPr/>
        </p:nvSpPr>
        <p:spPr>
          <a:xfrm>
            <a:off x="5287115" y="4161481"/>
            <a:ext cx="1087129" cy="287841"/>
          </a:xfrm>
          <a:prstGeom prst="rect">
            <a:avLst/>
          </a:prstGeom>
          <a:solidFill>
            <a:srgbClr val="EB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rPr>
              <a:t>~15+ min</a:t>
            </a:r>
          </a:p>
        </p:txBody>
      </p:sp>
      <p:sp>
        <p:nvSpPr>
          <p:cNvPr id="130" name="Rectangle 129">
            <a:extLst>
              <a:ext uri="{FF2B5EF4-FFF2-40B4-BE49-F238E27FC236}">
                <a16:creationId xmlns:a16="http://schemas.microsoft.com/office/drawing/2014/main" id="{40681EA9-6D03-B830-50D8-6C198B560384}"/>
              </a:ext>
            </a:extLst>
          </p:cNvPr>
          <p:cNvSpPr/>
          <p:nvPr/>
        </p:nvSpPr>
        <p:spPr>
          <a:xfrm>
            <a:off x="6921808" y="4161480"/>
            <a:ext cx="1087129" cy="287841"/>
          </a:xfrm>
          <a:prstGeom prst="rect">
            <a:avLst/>
          </a:prstGeom>
          <a:solidFill>
            <a:srgbClr val="EB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rPr>
              <a:t>~1 min</a:t>
            </a:r>
          </a:p>
        </p:txBody>
      </p:sp>
      <p:sp>
        <p:nvSpPr>
          <p:cNvPr id="131" name="Rectangle 130">
            <a:extLst>
              <a:ext uri="{FF2B5EF4-FFF2-40B4-BE49-F238E27FC236}">
                <a16:creationId xmlns:a16="http://schemas.microsoft.com/office/drawing/2014/main" id="{F4C571C9-D328-F578-955F-950A1F23062A}"/>
              </a:ext>
            </a:extLst>
          </p:cNvPr>
          <p:cNvSpPr/>
          <p:nvPr/>
        </p:nvSpPr>
        <p:spPr>
          <a:xfrm>
            <a:off x="8678349" y="4161480"/>
            <a:ext cx="1087129" cy="287841"/>
          </a:xfrm>
          <a:prstGeom prst="rect">
            <a:avLst/>
          </a:prstGeom>
          <a:solidFill>
            <a:srgbClr val="EB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rPr>
              <a:t>~90%+</a:t>
            </a:r>
          </a:p>
        </p:txBody>
      </p:sp>
      <p:sp>
        <p:nvSpPr>
          <p:cNvPr id="132" name="Rectangle 131">
            <a:extLst>
              <a:ext uri="{FF2B5EF4-FFF2-40B4-BE49-F238E27FC236}">
                <a16:creationId xmlns:a16="http://schemas.microsoft.com/office/drawing/2014/main" id="{2880D60F-3664-1E3D-9426-6F6C8769B5F9}"/>
              </a:ext>
            </a:extLst>
          </p:cNvPr>
          <p:cNvSpPr/>
          <p:nvPr/>
        </p:nvSpPr>
        <p:spPr>
          <a:xfrm>
            <a:off x="10348907" y="4171613"/>
            <a:ext cx="1087129" cy="287841"/>
          </a:xfrm>
          <a:prstGeom prst="rect">
            <a:avLst/>
          </a:prstGeom>
          <a:solidFill>
            <a:srgbClr val="EBF3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153D58"/>
                </a:solidFill>
                <a:latin typeface="Aptos Display" panose="02110004020202020204"/>
                <a:ea typeface="Lato" panose="020F0502020204030203" pitchFamily="34" charset="0"/>
                <a:cs typeface="DIN Next LT Arabic" panose="020B0503020203050203" pitchFamily="34" charset="-78"/>
              </a:rPr>
              <a:t>IT &amp; Ops Teams</a:t>
            </a:r>
          </a:p>
        </p:txBody>
      </p:sp>
      <p:pic>
        <p:nvPicPr>
          <p:cNvPr id="134" name="Picture 133" descr="The diagram depicts a circular flowchart with a clock icon and a percentage increase, illustrating a process or progression over time.&#10;&#10;AI-generated content may be incorrect.">
            <a:extLst>
              <a:ext uri="{FF2B5EF4-FFF2-40B4-BE49-F238E27FC236}">
                <a16:creationId xmlns:a16="http://schemas.microsoft.com/office/drawing/2014/main" id="{F02B4125-E9A3-63B2-24BF-9E7E75F1991D}"/>
              </a:ext>
            </a:extLst>
          </p:cNvPr>
          <p:cNvPicPr>
            <a:picLocks noChangeAspect="1"/>
          </p:cNvPicPr>
          <p:nvPr/>
        </p:nvPicPr>
        <p:blipFill>
          <a:blip r:embed="rId5">
            <a:extLst>
              <a:ext uri="{28A0092B-C50C-407E-A947-70E740481C1C}">
                <a14:useLocalDpi xmlns:a14="http://schemas.microsoft.com/office/drawing/2010/main" val="0"/>
              </a:ext>
            </a:extLst>
          </a:blip>
          <a:srcRect l="26806" t="7421" r="57647" b="5373"/>
          <a:stretch>
            <a:fillRect/>
          </a:stretch>
        </p:blipFill>
        <p:spPr>
          <a:xfrm>
            <a:off x="7129715" y="3198684"/>
            <a:ext cx="617903" cy="588256"/>
          </a:xfrm>
          <a:prstGeom prst="rect">
            <a:avLst/>
          </a:prstGeom>
        </p:spPr>
      </p:pic>
      <p:pic>
        <p:nvPicPr>
          <p:cNvPr id="135" name="Picture 134">
            <a:extLst>
              <a:ext uri="{FF2B5EF4-FFF2-40B4-BE49-F238E27FC236}">
                <a16:creationId xmlns:a16="http://schemas.microsoft.com/office/drawing/2014/main" id="{A7C6C9A5-E268-FA5D-F8C0-9B6F4E9402A3}"/>
              </a:ext>
            </a:extLst>
          </p:cNvPr>
          <p:cNvPicPr>
            <a:picLocks noChangeAspect="1"/>
          </p:cNvPicPr>
          <p:nvPr/>
        </p:nvPicPr>
        <p:blipFill>
          <a:blip r:embed="rId5">
            <a:extLst>
              <a:ext uri="{28A0092B-C50C-407E-A947-70E740481C1C}">
                <a14:useLocalDpi xmlns:a14="http://schemas.microsoft.com/office/drawing/2010/main" val="0"/>
              </a:ext>
            </a:extLst>
          </a:blip>
          <a:srcRect l="54152" t="4829" r="30941" b="1"/>
          <a:stretch>
            <a:fillRect/>
          </a:stretch>
        </p:blipFill>
        <p:spPr>
          <a:xfrm>
            <a:off x="8867276" y="3170510"/>
            <a:ext cx="558484" cy="605123"/>
          </a:xfrm>
          <a:prstGeom prst="rect">
            <a:avLst/>
          </a:prstGeom>
        </p:spPr>
      </p:pic>
      <p:cxnSp>
        <p:nvCxnSpPr>
          <p:cNvPr id="136" name="Straight Connector 135">
            <a:extLst>
              <a:ext uri="{FF2B5EF4-FFF2-40B4-BE49-F238E27FC236}">
                <a16:creationId xmlns:a16="http://schemas.microsoft.com/office/drawing/2014/main" id="{0EF47845-F8FF-048D-6AB0-965EE5EFD02C}"/>
              </a:ext>
            </a:extLst>
          </p:cNvPr>
          <p:cNvCxnSpPr>
            <a:cxnSpLocks/>
          </p:cNvCxnSpPr>
          <p:nvPr/>
        </p:nvCxnSpPr>
        <p:spPr>
          <a:xfrm>
            <a:off x="8358391" y="2698784"/>
            <a:ext cx="0" cy="1849421"/>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pic>
        <p:nvPicPr>
          <p:cNvPr id="137" name="Picture 136">
            <a:extLst>
              <a:ext uri="{FF2B5EF4-FFF2-40B4-BE49-F238E27FC236}">
                <a16:creationId xmlns:a16="http://schemas.microsoft.com/office/drawing/2014/main" id="{A92FEE27-266E-2337-4AE7-CA553FC087F8}"/>
              </a:ext>
            </a:extLst>
          </p:cNvPr>
          <p:cNvPicPr>
            <a:picLocks noChangeAspect="1"/>
          </p:cNvPicPr>
          <p:nvPr/>
        </p:nvPicPr>
        <p:blipFill>
          <a:blip r:embed="rId5">
            <a:extLst>
              <a:ext uri="{28A0092B-C50C-407E-A947-70E740481C1C}">
                <a14:useLocalDpi xmlns:a14="http://schemas.microsoft.com/office/drawing/2010/main" val="0"/>
              </a:ext>
            </a:extLst>
          </a:blip>
          <a:srcRect l="80099" t="5180" r="3748"/>
          <a:stretch>
            <a:fillRect/>
          </a:stretch>
        </p:blipFill>
        <p:spPr>
          <a:xfrm>
            <a:off x="10578385" y="3157135"/>
            <a:ext cx="632158" cy="629805"/>
          </a:xfrm>
          <a:prstGeom prst="rect">
            <a:avLst/>
          </a:prstGeom>
        </p:spPr>
      </p:pic>
      <p:sp>
        <p:nvSpPr>
          <p:cNvPr id="138" name="TextBox 137">
            <a:extLst>
              <a:ext uri="{FF2B5EF4-FFF2-40B4-BE49-F238E27FC236}">
                <a16:creationId xmlns:a16="http://schemas.microsoft.com/office/drawing/2014/main" id="{27DA3FAC-7206-144D-27BE-80CD76958B29}"/>
              </a:ext>
            </a:extLst>
          </p:cNvPr>
          <p:cNvSpPr txBox="1"/>
          <p:nvPr/>
        </p:nvSpPr>
        <p:spPr>
          <a:xfrm>
            <a:off x="8529789" y="2646048"/>
            <a:ext cx="123345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Time Saved</a:t>
            </a:r>
          </a:p>
        </p:txBody>
      </p:sp>
      <p:cxnSp>
        <p:nvCxnSpPr>
          <p:cNvPr id="139" name="Straight Connector 138">
            <a:extLst>
              <a:ext uri="{FF2B5EF4-FFF2-40B4-BE49-F238E27FC236}">
                <a16:creationId xmlns:a16="http://schemas.microsoft.com/office/drawing/2014/main" id="{BD62D52C-D9BB-6507-EE96-647FA8107111}"/>
              </a:ext>
            </a:extLst>
          </p:cNvPr>
          <p:cNvCxnSpPr>
            <a:cxnSpLocks/>
          </p:cNvCxnSpPr>
          <p:nvPr/>
        </p:nvCxnSpPr>
        <p:spPr>
          <a:xfrm>
            <a:off x="10026925" y="2698784"/>
            <a:ext cx="0" cy="190861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sp>
        <p:nvSpPr>
          <p:cNvPr id="140" name="TextBox 139">
            <a:extLst>
              <a:ext uri="{FF2B5EF4-FFF2-40B4-BE49-F238E27FC236}">
                <a16:creationId xmlns:a16="http://schemas.microsoft.com/office/drawing/2014/main" id="{A2CF9C71-1483-502C-CBE6-C1B2ED2E7D9C}"/>
              </a:ext>
            </a:extLst>
          </p:cNvPr>
          <p:cNvSpPr txBox="1"/>
          <p:nvPr/>
        </p:nvSpPr>
        <p:spPr>
          <a:xfrm>
            <a:off x="10226359" y="2627054"/>
            <a:ext cx="123345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53D58"/>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Expected Users</a:t>
            </a:r>
          </a:p>
        </p:txBody>
      </p:sp>
      <p:sp>
        <p:nvSpPr>
          <p:cNvPr id="37" name="TextBox 36">
            <a:extLst>
              <a:ext uri="{FF2B5EF4-FFF2-40B4-BE49-F238E27FC236}">
                <a16:creationId xmlns:a16="http://schemas.microsoft.com/office/drawing/2014/main" id="{A4FDF9A3-BAED-EBEE-306C-75B530D6099E}"/>
              </a:ext>
            </a:extLst>
          </p:cNvPr>
          <p:cNvSpPr txBox="1"/>
          <p:nvPr/>
        </p:nvSpPr>
        <p:spPr>
          <a:xfrm>
            <a:off x="4674698" y="5680314"/>
            <a:ext cx="3366689"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Requires business-rule validation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Layered controls for prompt injection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Data minimization &amp; residency required</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Depends on approved integrations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Architecture &amp; licensing require approval</a:t>
            </a:r>
          </a:p>
        </p:txBody>
      </p:sp>
    </p:spTree>
    <p:extLst>
      <p:ext uri="{BB962C8B-B14F-4D97-AF65-F5344CB8AC3E}">
        <p14:creationId xmlns:p14="http://schemas.microsoft.com/office/powerpoint/2010/main" val="19655454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EAFD-F627-9981-9B4E-21AC76D4608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BFE3E04-621C-C04E-B403-AE0B051D03A3}"/>
              </a:ext>
            </a:extLst>
          </p:cNvPr>
          <p:cNvSpPr/>
          <p:nvPr/>
        </p:nvSpPr>
        <p:spPr>
          <a:xfrm>
            <a:off x="0" y="-979"/>
            <a:ext cx="12216384" cy="2121408"/>
          </a:xfrm>
          <a:prstGeom prst="rect">
            <a:avLst/>
          </a:prstGeom>
          <a:blipFill>
            <a:blip r:embed="rId3"/>
            <a:stretch>
              <a:fillRect/>
            </a:stretch>
          </a:blip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err="1">
              <a:ln>
                <a:noFill/>
              </a:ln>
              <a:solidFill>
                <a:srgbClr val="FFFFFF"/>
              </a:solidFill>
              <a:effectLst/>
              <a:uLnTx/>
              <a:uFillTx/>
              <a:latin typeface="Aptos Display" panose="02110004020202020204"/>
              <a:ea typeface="+mn-ea"/>
              <a:cs typeface="+mn-cs"/>
            </a:endParaRPr>
          </a:p>
        </p:txBody>
      </p:sp>
      <p:sp>
        <p:nvSpPr>
          <p:cNvPr id="5" name="Rectangle 4">
            <a:extLst>
              <a:ext uri="{FF2B5EF4-FFF2-40B4-BE49-F238E27FC236}">
                <a16:creationId xmlns:a16="http://schemas.microsoft.com/office/drawing/2014/main" id="{CF04BE40-B3F2-C2B2-10A9-B1C6FED40F2E}"/>
              </a:ext>
            </a:extLst>
          </p:cNvPr>
          <p:cNvSpPr/>
          <p:nvPr/>
        </p:nvSpPr>
        <p:spPr>
          <a:xfrm>
            <a:off x="8572981" y="2124071"/>
            <a:ext cx="3617126" cy="4733929"/>
          </a:xfrm>
          <a:prstGeom prst="rect">
            <a:avLst/>
          </a:prstGeom>
          <a:solidFill>
            <a:schemeClr val="accent4">
              <a:lumMod val="20000"/>
              <a:lumOff val="80000"/>
            </a:schemeClr>
          </a:solidFill>
          <a:ln w="28575" cap="rnd">
            <a:noFill/>
            <a:prstDash val="sysDot"/>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endParaRPr kumimoji="0" lang="en-GB" sz="1100" b="0" i="1" u="none" strike="noStrike" kern="1200" cap="none" spc="0" normalizeH="0" baseline="0" noProof="0">
              <a:ln>
                <a:noFill/>
              </a:ln>
              <a:solidFill>
                <a:srgbClr val="37373A"/>
              </a:solidFill>
              <a:effectLst/>
              <a:uLnTx/>
              <a:uFillTx/>
              <a:latin typeface="Aptos Display" panose="02110004020202020204"/>
              <a:ea typeface="Lato" panose="020F0502020204030203" pitchFamily="34" charset="0"/>
              <a:cs typeface="Lato" panose="020F0502020204030203" pitchFamily="34" charset="0"/>
              <a:sym typeface="Helvetica Neue Medium"/>
            </a:endParaRPr>
          </a:p>
        </p:txBody>
      </p:sp>
      <p:sp>
        <p:nvSpPr>
          <p:cNvPr id="6" name="Rectangle 5">
            <a:extLst>
              <a:ext uri="{FF2B5EF4-FFF2-40B4-BE49-F238E27FC236}">
                <a16:creationId xmlns:a16="http://schemas.microsoft.com/office/drawing/2014/main" id="{0A37A411-9DD4-9547-7E70-2A25A7FA1018}"/>
              </a:ext>
            </a:extLst>
          </p:cNvPr>
          <p:cNvSpPr/>
          <p:nvPr/>
        </p:nvSpPr>
        <p:spPr>
          <a:xfrm>
            <a:off x="0" y="4000292"/>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7" name="Rectangle 6">
            <a:extLst>
              <a:ext uri="{FF2B5EF4-FFF2-40B4-BE49-F238E27FC236}">
                <a16:creationId xmlns:a16="http://schemas.microsoft.com/office/drawing/2014/main" id="{81229949-549E-0179-C50D-2089A0854F40}"/>
              </a:ext>
            </a:extLst>
          </p:cNvPr>
          <p:cNvSpPr/>
          <p:nvPr/>
        </p:nvSpPr>
        <p:spPr>
          <a:xfrm>
            <a:off x="0" y="3750306"/>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Expected Benefit</a:t>
            </a:r>
            <a:endParaRPr kumimoji="0" lang="en-ZA" sz="1200" b="1" i="0"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8" name="TextBox 7">
            <a:extLst>
              <a:ext uri="{FF2B5EF4-FFF2-40B4-BE49-F238E27FC236}">
                <a16:creationId xmlns:a16="http://schemas.microsoft.com/office/drawing/2014/main" id="{905F32E8-7453-3BA7-F79F-BDEB3AA9AE25}"/>
              </a:ext>
            </a:extLst>
          </p:cNvPr>
          <p:cNvSpPr txBox="1"/>
          <p:nvPr/>
        </p:nvSpPr>
        <p:spPr>
          <a:xfrm>
            <a:off x="111464" y="3993412"/>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End-to-end handling, from intake to ticket creation</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Extracts &amp; classifies permission requests from emails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Validated against trusted SharePoint reference data</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Scripts generated for review, not auto-executed</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Human approval required before execution</a:t>
            </a:r>
          </a:p>
        </p:txBody>
      </p:sp>
      <p:sp>
        <p:nvSpPr>
          <p:cNvPr id="9" name="Rectangle 8">
            <a:extLst>
              <a:ext uri="{FF2B5EF4-FFF2-40B4-BE49-F238E27FC236}">
                <a16:creationId xmlns:a16="http://schemas.microsoft.com/office/drawing/2014/main" id="{ED3D5260-5FCD-CE89-B42D-133C22562423}"/>
              </a:ext>
            </a:extLst>
          </p:cNvPr>
          <p:cNvSpPr/>
          <p:nvPr/>
        </p:nvSpPr>
        <p:spPr>
          <a:xfrm>
            <a:off x="4362714" y="4000292"/>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0" name="Rectangle 9">
            <a:extLst>
              <a:ext uri="{FF2B5EF4-FFF2-40B4-BE49-F238E27FC236}">
                <a16:creationId xmlns:a16="http://schemas.microsoft.com/office/drawing/2014/main" id="{08E5FA76-EF49-68CD-670E-D44236501BD9}"/>
              </a:ext>
            </a:extLst>
          </p:cNvPr>
          <p:cNvSpPr/>
          <p:nvPr/>
        </p:nvSpPr>
        <p:spPr>
          <a:xfrm>
            <a:off x="4362714" y="3750306"/>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Key Audience</a:t>
            </a:r>
            <a:endParaRPr kumimoji="0" lang="en-ZA" sz="1200" b="1" i="0"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11" name="TextBox 10">
            <a:extLst>
              <a:ext uri="{FF2B5EF4-FFF2-40B4-BE49-F238E27FC236}">
                <a16:creationId xmlns:a16="http://schemas.microsoft.com/office/drawing/2014/main" id="{7DEF7286-FB08-6D45-2D14-EE64FBF4DED2}"/>
              </a:ext>
            </a:extLst>
          </p:cNvPr>
          <p:cNvSpPr txBox="1"/>
          <p:nvPr/>
        </p:nvSpPr>
        <p:spPr>
          <a:xfrm>
            <a:off x="4474178" y="3993412"/>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 Support &amp; Application Support Teams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Service Desk &amp; System Administrators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 Operations &amp; Digital Transformation Teams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Information Security &amp; Governance Teams</a:t>
            </a:r>
          </a:p>
        </p:txBody>
      </p:sp>
      <p:sp>
        <p:nvSpPr>
          <p:cNvPr id="12" name="Rectangle 11">
            <a:extLst>
              <a:ext uri="{FF2B5EF4-FFF2-40B4-BE49-F238E27FC236}">
                <a16:creationId xmlns:a16="http://schemas.microsoft.com/office/drawing/2014/main" id="{3C315958-04D3-6FCE-1225-A3934700D38F}"/>
              </a:ext>
            </a:extLst>
          </p:cNvPr>
          <p:cNvSpPr/>
          <p:nvPr/>
        </p:nvSpPr>
        <p:spPr>
          <a:xfrm>
            <a:off x="0" y="5608604"/>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3" name="Rectangle 12">
            <a:extLst>
              <a:ext uri="{FF2B5EF4-FFF2-40B4-BE49-F238E27FC236}">
                <a16:creationId xmlns:a16="http://schemas.microsoft.com/office/drawing/2014/main" id="{024E56C4-C4EE-84F6-D9A5-2ECEAA616324}"/>
              </a:ext>
            </a:extLst>
          </p:cNvPr>
          <p:cNvSpPr/>
          <p:nvPr/>
        </p:nvSpPr>
        <p:spPr>
          <a:xfrm>
            <a:off x="0" y="5358618"/>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Display" panose="02110004020202020204"/>
                <a:ea typeface="+mn-ea"/>
                <a:cs typeface="+mn-cs"/>
              </a:rPr>
              <a:t>Data Requirement </a:t>
            </a:r>
            <a:r>
              <a:rPr kumimoji="0" lang="en-US" sz="900" b="0" i="1" u="none" strike="noStrike" kern="1200" cap="none" spc="0" normalizeH="0" baseline="0" noProof="0">
                <a:ln>
                  <a:noFill/>
                </a:ln>
                <a:solidFill>
                  <a:prstClr val="white"/>
                </a:solidFill>
                <a:effectLst/>
                <a:uLnTx/>
                <a:uFillTx/>
                <a:latin typeface="Aptos Display" panose="02110004020202020204"/>
                <a:ea typeface="+mn-ea"/>
                <a:cs typeface="+mn-cs"/>
              </a:rPr>
              <a:t>(Data Type)</a:t>
            </a:r>
            <a:endParaRPr kumimoji="0" lang="en-ZA" sz="900" b="0" i="1" u="none" strike="noStrike" kern="1200" cap="none" spc="0" normalizeH="0" baseline="0" noProof="0">
              <a:ln>
                <a:noFill/>
              </a:ln>
              <a:solidFill>
                <a:prstClr val="white"/>
              </a:solidFill>
              <a:effectLst/>
              <a:uLnTx/>
              <a:uFillTx/>
              <a:latin typeface="Aptos Display" panose="02110004020202020204"/>
              <a:ea typeface="+mn-ea"/>
              <a:cs typeface="+mn-cs"/>
            </a:endParaRPr>
          </a:p>
        </p:txBody>
      </p:sp>
      <p:sp>
        <p:nvSpPr>
          <p:cNvPr id="14" name="TextBox 13">
            <a:extLst>
              <a:ext uri="{FF2B5EF4-FFF2-40B4-BE49-F238E27FC236}">
                <a16:creationId xmlns:a16="http://schemas.microsoft.com/office/drawing/2014/main" id="{AA0F9929-F002-F115-19C9-B40320FDE7DE}"/>
              </a:ext>
            </a:extLst>
          </p:cNvPr>
          <p:cNvSpPr txBox="1"/>
          <p:nvPr/>
        </p:nvSpPr>
        <p:spPr>
          <a:xfrm>
            <a:off x="111464" y="5779524"/>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Support request emails (permission/access requests)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SharePoint reference data: roles, facilities, specialties, mappings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Historical requests and Teams notification records</a:t>
            </a:r>
          </a:p>
        </p:txBody>
      </p:sp>
      <p:sp>
        <p:nvSpPr>
          <p:cNvPr id="15" name="Rectangle 14">
            <a:extLst>
              <a:ext uri="{FF2B5EF4-FFF2-40B4-BE49-F238E27FC236}">
                <a16:creationId xmlns:a16="http://schemas.microsoft.com/office/drawing/2014/main" id="{2409FE7A-88F1-AEF3-53FF-DA2ED2B1B431}"/>
              </a:ext>
            </a:extLst>
          </p:cNvPr>
          <p:cNvSpPr/>
          <p:nvPr/>
        </p:nvSpPr>
        <p:spPr>
          <a:xfrm>
            <a:off x="4362714" y="5608604"/>
            <a:ext cx="4181246"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6" name="Rectangle 15">
            <a:extLst>
              <a:ext uri="{FF2B5EF4-FFF2-40B4-BE49-F238E27FC236}">
                <a16:creationId xmlns:a16="http://schemas.microsoft.com/office/drawing/2014/main" id="{1F7A0187-735D-FF17-B197-9030CE3A4BE7}"/>
              </a:ext>
            </a:extLst>
          </p:cNvPr>
          <p:cNvSpPr/>
          <p:nvPr/>
        </p:nvSpPr>
        <p:spPr>
          <a:xfrm>
            <a:off x="4362714" y="5358618"/>
            <a:ext cx="4181246"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200" b="1" i="0" u="none" strike="noStrike" kern="1200" cap="none" spc="0" normalizeH="0" baseline="0" noProof="0">
                <a:ln>
                  <a:noFill/>
                </a:ln>
                <a:solidFill>
                  <a:prstClr val="white"/>
                </a:solidFill>
                <a:effectLst/>
                <a:uLnTx/>
                <a:uFillTx/>
                <a:latin typeface="Aptos Display" panose="02110004020202020204"/>
                <a:ea typeface="+mn-ea"/>
                <a:cs typeface="+mn-cs"/>
              </a:rPr>
              <a:t>System Dependencies </a:t>
            </a:r>
            <a:r>
              <a:rPr kumimoji="0" lang="pt-BR" sz="900" b="0" i="1" u="none" strike="noStrike" kern="1200" cap="none" spc="0" normalizeH="0" baseline="0" noProof="0">
                <a:ln>
                  <a:noFill/>
                </a:ln>
                <a:solidFill>
                  <a:prstClr val="white"/>
                </a:solidFill>
                <a:effectLst/>
                <a:uLnTx/>
                <a:uFillTx/>
                <a:latin typeface="Aptos Display" panose="02110004020202020204"/>
                <a:ea typeface="+mn-ea"/>
                <a:cs typeface="+mn-cs"/>
              </a:rPr>
              <a:t>(EMR/ERP/ etc)</a:t>
            </a:r>
          </a:p>
        </p:txBody>
      </p:sp>
      <p:sp>
        <p:nvSpPr>
          <p:cNvPr id="17" name="Rectangle 16">
            <a:extLst>
              <a:ext uri="{FF2B5EF4-FFF2-40B4-BE49-F238E27FC236}">
                <a16:creationId xmlns:a16="http://schemas.microsoft.com/office/drawing/2014/main" id="{A0B95D43-1988-2228-5820-5E6B6B9106AD}"/>
              </a:ext>
            </a:extLst>
          </p:cNvPr>
          <p:cNvSpPr/>
          <p:nvPr/>
        </p:nvSpPr>
        <p:spPr>
          <a:xfrm>
            <a:off x="-1" y="2391980"/>
            <a:ext cx="8572981" cy="1249396"/>
          </a:xfrm>
          <a:prstGeom prst="rect">
            <a:avLst/>
          </a:prstGeom>
          <a:gradFill>
            <a:gsLst>
              <a:gs pos="0">
                <a:schemeClr val="bg1">
                  <a:lumMod val="95000"/>
                </a:schemeClr>
              </a:gs>
              <a:gs pos="100000">
                <a:schemeClr val="bg1"/>
              </a:gs>
            </a:gsLst>
            <a:lin ang="5400000" scaled="1"/>
          </a:gradFill>
          <a:ln w="38100" cap="flat">
            <a:noFill/>
            <a:miter lim="400000"/>
          </a:ln>
          <a:effectLst>
            <a:outerShdw blurRad="50800" dist="38100" dir="2700000" algn="tl" rotWithShape="0">
              <a:prstClr val="black">
                <a:alpha val="40000"/>
              </a:prst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274320" rIns="91440" bIns="91440" numCol="1" spcCol="38100" rtlCol="0" anchor="t">
            <a:noAutofit/>
          </a:bodyPr>
          <a:lstStyle/>
          <a:p>
            <a:pPr marL="171450" marR="0" lvl="0" indent="-171450" algn="l" defTabSz="825500" rtl="0" eaLnBrk="1" fontAlgn="auto" latinLnBrk="0" hangingPunct="0">
              <a:lnSpc>
                <a:spcPct val="100000"/>
              </a:lnSpc>
              <a:spcBef>
                <a:spcPts val="0"/>
              </a:spcBef>
              <a:spcAft>
                <a:spcPts val="400"/>
              </a:spcAft>
              <a:buClrTx/>
              <a:buSzTx/>
              <a:buFont typeface="Wingdings" panose="05000000000000000000" pitchFamily="2" charset="2"/>
              <a:buChar char="§"/>
              <a:tabLst/>
              <a:defRPr/>
            </a:pPr>
            <a:endParaRPr kumimoji="0" lang="pl-PL" sz="1100" b="0" i="0" u="none" strike="noStrike" kern="1200" cap="none" spc="0" normalizeH="0" baseline="0" noProof="0">
              <a:ln>
                <a:noFill/>
              </a:ln>
              <a:solidFill>
                <a:srgbClr val="696969">
                  <a:lumMod val="50000"/>
                  <a:lumOff val="5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endParaRPr>
          </a:p>
        </p:txBody>
      </p:sp>
      <p:sp>
        <p:nvSpPr>
          <p:cNvPr id="18" name="Rectangle 17">
            <a:extLst>
              <a:ext uri="{FF2B5EF4-FFF2-40B4-BE49-F238E27FC236}">
                <a16:creationId xmlns:a16="http://schemas.microsoft.com/office/drawing/2014/main" id="{8E9846AB-B4B6-1E85-BB42-7D265134D88A}"/>
              </a:ext>
            </a:extLst>
          </p:cNvPr>
          <p:cNvSpPr/>
          <p:nvPr/>
        </p:nvSpPr>
        <p:spPr>
          <a:xfrm>
            <a:off x="-1" y="2141994"/>
            <a:ext cx="8572981" cy="198420"/>
          </a:xfrm>
          <a:prstGeom prst="rect">
            <a:avLst/>
          </a:prstGeom>
          <a:solidFill>
            <a:schemeClr val="accent4">
              <a:lumMod val="50000"/>
            </a:schemeClr>
          </a:solidFill>
          <a:ln w="9525" cap="rnd" cmpd="sng" algn="ctr">
            <a:noFill/>
            <a:prstDash val="solid"/>
            <a:round/>
            <a:headEnd type="none" w="med" len="med"/>
            <a:tailEnd type="none"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Display" panose="02110004020202020204"/>
                <a:ea typeface="+mn-ea"/>
                <a:cs typeface="+mn-cs"/>
              </a:rPr>
              <a:t>Problem Statement</a:t>
            </a:r>
            <a:endParaRPr kumimoji="0" lang="en-ZA" sz="1200" b="1"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19" name="TextBox 18">
            <a:extLst>
              <a:ext uri="{FF2B5EF4-FFF2-40B4-BE49-F238E27FC236}">
                <a16:creationId xmlns:a16="http://schemas.microsoft.com/office/drawing/2014/main" id="{0CFE59FE-DE5D-4A75-806A-CB2ED3BF7FCF}"/>
              </a:ext>
            </a:extLst>
          </p:cNvPr>
          <p:cNvSpPr txBox="1"/>
          <p:nvPr/>
        </p:nvSpPr>
        <p:spPr>
          <a:xfrm>
            <a:off x="228538" y="2562900"/>
            <a:ext cx="8115903"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The implemented POC demonstrates that Generative AI can understand and extract information from unstructured access and permission requests. Deterministic workflow logic validates the AI-generated output against trusted enterprise reference data before any downstream action, and human approval is mandatory prior to execution. The same architecture is reusable across multiple IT Support scenarios.</a:t>
            </a:r>
          </a:p>
        </p:txBody>
      </p:sp>
      <p:sp>
        <p:nvSpPr>
          <p:cNvPr id="30" name="Lorem Ipsum">
            <a:extLst>
              <a:ext uri="{FF2B5EF4-FFF2-40B4-BE49-F238E27FC236}">
                <a16:creationId xmlns:a16="http://schemas.microsoft.com/office/drawing/2014/main" id="{2E9DD8CA-4E03-C700-965B-38CF9BEFC483}"/>
              </a:ext>
            </a:extLst>
          </p:cNvPr>
          <p:cNvSpPr txBox="1">
            <a:spLocks/>
          </p:cNvSpPr>
          <p:nvPr/>
        </p:nvSpPr>
        <p:spPr>
          <a:xfrm>
            <a:off x="9033207" y="2502916"/>
            <a:ext cx="2699925" cy="279744"/>
          </a:xfrm>
          <a:prstGeom prst="rect">
            <a:avLst/>
          </a:prstGeom>
        </p:spPr>
        <p:txBody>
          <a:bodyPr lIns="0" anchor="t">
            <a:noAutofit/>
          </a:bodyPr>
          <a:lstStyle>
            <a:lvl1pPr marL="0" marR="0" indent="0" algn="l" defTabSz="412750" rtl="0" latinLnBrk="0">
              <a:lnSpc>
                <a:spcPct val="100000"/>
              </a:lnSpc>
              <a:spcBef>
                <a:spcPts val="0"/>
              </a:spcBef>
              <a:spcAft>
                <a:spcPts val="0"/>
              </a:spcAft>
              <a:buClrTx/>
              <a:buSzTx/>
              <a:buFontTx/>
              <a:buNone/>
              <a:tabLst/>
              <a:defRPr sz="2000" b="1" i="0" u="none" strike="noStrike" cap="none" spc="0" baseline="0" dirty="0">
                <a:solidFill>
                  <a:srgbClr val="243780"/>
                </a:solidFill>
                <a:uFillTx/>
                <a:latin typeface="Circular Std Bold" panose="020B0804020101010102" pitchFamily="34" charset="0"/>
                <a:ea typeface="Circular Std Bold" panose="020B0804020101010102" pitchFamily="34" charset="0"/>
                <a:cs typeface="Circular Std Bold" panose="020B0804020101010102" pitchFamily="34" charset="0"/>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ctr" defTabSz="412750" rtl="0" eaLnBrk="1" fontAlgn="auto" latinLnBrk="0" hangingPunct="1">
              <a:lnSpc>
                <a:spcPct val="100000"/>
              </a:lnSpc>
              <a:spcBef>
                <a:spcPts val="0"/>
              </a:spcBef>
              <a:spcAft>
                <a:spcPts val="0"/>
              </a:spcAft>
              <a:buClrTx/>
              <a:buSzTx/>
              <a:buFontTx/>
              <a:buNone/>
              <a:tabLst/>
              <a:defRPr/>
            </a:pPr>
            <a:r>
              <a:rPr kumimoji="0" lang="pl-PL" sz="1600" b="1" i="0" u="none" strike="noStrike" kern="0" cap="none" spc="0" normalizeH="0" baseline="0" noProof="0">
                <a:ln>
                  <a:noFill/>
                </a:ln>
                <a:solidFill>
                  <a:prstClr val="black">
                    <a:lumMod val="75000"/>
                    <a:lumOff val="25000"/>
                  </a:prstClr>
                </a:solidFill>
                <a:effectLst/>
                <a:uLnTx/>
                <a:uFillTx/>
                <a:latin typeface="Aptos Display" panose="02110004020202020204"/>
                <a:sym typeface="Helvetica Neue"/>
              </a:rPr>
              <a:t>Prioritization Outcomes</a:t>
            </a:r>
          </a:p>
        </p:txBody>
      </p:sp>
      <p:grpSp>
        <p:nvGrpSpPr>
          <p:cNvPr id="31" name="Group 30">
            <a:extLst>
              <a:ext uri="{FF2B5EF4-FFF2-40B4-BE49-F238E27FC236}">
                <a16:creationId xmlns:a16="http://schemas.microsoft.com/office/drawing/2014/main" id="{49B0A36D-19A6-A428-A8A5-52249E40BAE3}"/>
              </a:ext>
            </a:extLst>
          </p:cNvPr>
          <p:cNvGrpSpPr/>
          <p:nvPr/>
        </p:nvGrpSpPr>
        <p:grpSpPr>
          <a:xfrm>
            <a:off x="8855985" y="2949624"/>
            <a:ext cx="3510427" cy="426575"/>
            <a:chOff x="8855985" y="2856587"/>
            <a:chExt cx="3510427" cy="426575"/>
          </a:xfrm>
        </p:grpSpPr>
        <p:grpSp>
          <p:nvGrpSpPr>
            <p:cNvPr id="32" name="Group 31">
              <a:extLst>
                <a:ext uri="{FF2B5EF4-FFF2-40B4-BE49-F238E27FC236}">
                  <a16:creationId xmlns:a16="http://schemas.microsoft.com/office/drawing/2014/main" id="{86221D86-4493-A2B8-CCA6-C3053CD4CE62}"/>
                </a:ext>
              </a:extLst>
            </p:cNvPr>
            <p:cNvGrpSpPr/>
            <p:nvPr/>
          </p:nvGrpSpPr>
          <p:grpSpPr>
            <a:xfrm>
              <a:off x="8855985" y="2893604"/>
              <a:ext cx="1728429" cy="352541"/>
              <a:chOff x="8751288" y="2540042"/>
              <a:chExt cx="1728429" cy="352541"/>
            </a:xfrm>
          </p:grpSpPr>
          <p:pic>
            <p:nvPicPr>
              <p:cNvPr id="35" name="Graphic 34" descr="Diamond">
                <a:extLst>
                  <a:ext uri="{FF2B5EF4-FFF2-40B4-BE49-F238E27FC236}">
                    <a16:creationId xmlns:a16="http://schemas.microsoft.com/office/drawing/2014/main" id="{229C0E19-76AD-FEDE-522F-5E3930EC5845}"/>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51288" y="2540042"/>
                <a:ext cx="352541" cy="352541"/>
              </a:xfrm>
              <a:prstGeom prst="rect">
                <a:avLst/>
              </a:prstGeom>
            </p:spPr>
          </p:pic>
          <p:sp>
            <p:nvSpPr>
              <p:cNvPr id="36" name="Text Placeholder 10">
                <a:extLst>
                  <a:ext uri="{FF2B5EF4-FFF2-40B4-BE49-F238E27FC236}">
                    <a16:creationId xmlns:a16="http://schemas.microsoft.com/office/drawing/2014/main" id="{2112C4EA-BA63-E997-357A-CFF4BFF5DB8B}"/>
                  </a:ext>
                </a:extLst>
              </p:cNvPr>
              <p:cNvSpPr txBox="1">
                <a:spLocks/>
              </p:cNvSpPr>
              <p:nvPr/>
            </p:nvSpPr>
            <p:spPr>
              <a:xfrm>
                <a:off x="9153892" y="2608590"/>
                <a:ext cx="1325825" cy="215444"/>
              </a:xfrm>
              <a:prstGeom prst="rect">
                <a:avLst/>
              </a:prstGeom>
              <a:noFill/>
            </p:spPr>
            <p:txBody>
              <a:bodyPr wrap="square" lIns="0" tIns="0" rIns="0" bIns="0" rtlCol="0">
                <a:spAutoFit/>
              </a:bodyPr>
              <a:lstStyle>
                <a:lvl1pPr marL="0" marR="0" indent="0" algn="ctr" defTabSz="412750" rtl="0" latinLnBrk="0">
                  <a:lnSpc>
                    <a:spcPct val="100000"/>
                  </a:lnSpc>
                  <a:spcBef>
                    <a:spcPts val="0"/>
                  </a:spcBef>
                  <a:spcAft>
                    <a:spcPts val="0"/>
                  </a:spcAft>
                  <a:buClrTx/>
                  <a:buSzTx/>
                  <a:buFontTx/>
                  <a:buNone/>
                  <a:tabLst/>
                  <a:defRPr kumimoji="0" lang="en-US" sz="3000" b="1" i="0" u="none" strike="noStrike" cap="none" spc="0" normalizeH="0" baseline="0" dirty="0">
                    <a:ln>
                      <a:noFill/>
                    </a:ln>
                    <a:solidFill>
                      <a:srgbClr val="7030A0"/>
                    </a:solidFill>
                    <a:effectLst/>
                    <a:uFillTx/>
                    <a:latin typeface="Circular Std"/>
                    <a:ea typeface="Helvetica Neue"/>
                    <a:cs typeface="Helvetica Neue"/>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0">
                  <a:lnSpc>
                    <a:spcPct val="100000"/>
                  </a:lnSpc>
                  <a:spcBef>
                    <a:spcPts val="0"/>
                  </a:spcBef>
                  <a:spcAft>
                    <a:spcPts val="0"/>
                  </a:spcAft>
                  <a:buClrTx/>
                  <a:buSzTx/>
                  <a:buFontTx/>
                  <a:buNone/>
                  <a:tabLst/>
                  <a:defRPr/>
                </a:pPr>
                <a:r>
                  <a:rPr kumimoji="0" lang="en-GB" altLang="zh-CN"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rPr>
                  <a:t>Value</a:t>
                </a:r>
                <a:endParaRPr kumimoji="0" lang="en-GB"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endParaRPr>
              </a:p>
            </p:txBody>
          </p:sp>
        </p:grpSp>
        <p:pic>
          <p:nvPicPr>
            <p:cNvPr id="33" name="Graphic 32" descr="Single gear">
              <a:extLst>
                <a:ext uri="{FF2B5EF4-FFF2-40B4-BE49-F238E27FC236}">
                  <a16:creationId xmlns:a16="http://schemas.microsoft.com/office/drawing/2014/main" id="{8BF3D001-F120-93D6-E440-C94BC5113C49}"/>
                </a:ext>
              </a:extLst>
            </p:cNvPr>
            <p:cNvPicPr>
              <a:picLocks noChangeAspect="1"/>
            </p:cNvPicPr>
            <p:nvPr/>
          </p:nvPicPr>
          <p:blipFill>
            <a:blip cstate="email">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14840" y="2856587"/>
              <a:ext cx="426575" cy="426575"/>
            </a:xfrm>
            <a:prstGeom prst="rect">
              <a:avLst/>
            </a:prstGeom>
          </p:spPr>
        </p:pic>
        <p:sp>
          <p:nvSpPr>
            <p:cNvPr id="34" name="Text Placeholder 10">
              <a:extLst>
                <a:ext uri="{FF2B5EF4-FFF2-40B4-BE49-F238E27FC236}">
                  <a16:creationId xmlns:a16="http://schemas.microsoft.com/office/drawing/2014/main" id="{4E22C927-008C-6AEF-1171-6F0C4B8623E5}"/>
                </a:ext>
              </a:extLst>
            </p:cNvPr>
            <p:cNvSpPr txBox="1">
              <a:spLocks/>
            </p:cNvSpPr>
            <p:nvPr/>
          </p:nvSpPr>
          <p:spPr>
            <a:xfrm>
              <a:off x="11040587" y="2962152"/>
              <a:ext cx="1325825" cy="215444"/>
            </a:xfrm>
            <a:prstGeom prst="rect">
              <a:avLst/>
            </a:prstGeom>
            <a:noFill/>
          </p:spPr>
          <p:txBody>
            <a:bodyPr wrap="square" lIns="0" tIns="0" rIns="0" bIns="0" rtlCol="0">
              <a:spAutoFit/>
            </a:bodyPr>
            <a:lstStyle>
              <a:lvl1pPr marL="0" marR="0" indent="0" algn="ctr" defTabSz="412750" rtl="0" latinLnBrk="0">
                <a:lnSpc>
                  <a:spcPct val="100000"/>
                </a:lnSpc>
                <a:spcBef>
                  <a:spcPts val="0"/>
                </a:spcBef>
                <a:spcAft>
                  <a:spcPts val="0"/>
                </a:spcAft>
                <a:buClrTx/>
                <a:buSzTx/>
                <a:buFontTx/>
                <a:buNone/>
                <a:tabLst/>
                <a:defRPr kumimoji="0" lang="en-US" sz="3000" b="1" i="0" u="none" strike="noStrike" cap="none" spc="0" normalizeH="0" baseline="0" dirty="0">
                  <a:ln>
                    <a:noFill/>
                  </a:ln>
                  <a:solidFill>
                    <a:srgbClr val="7030A0"/>
                  </a:solidFill>
                  <a:effectLst/>
                  <a:uFillTx/>
                  <a:latin typeface="Circular Std"/>
                  <a:ea typeface="Helvetica Neue"/>
                  <a:cs typeface="Helvetica Neue"/>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0">
                <a:lnSpc>
                  <a:spcPct val="100000"/>
                </a:lnSpc>
                <a:spcBef>
                  <a:spcPts val="0"/>
                </a:spcBef>
                <a:spcAft>
                  <a:spcPts val="0"/>
                </a:spcAft>
                <a:buClrTx/>
                <a:buSzTx/>
                <a:buFontTx/>
                <a:buNone/>
                <a:tabLst/>
                <a:defRPr/>
              </a:pPr>
              <a:r>
                <a:rPr kumimoji="0" lang="pl-PL" altLang="zh-CN"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rPr>
                <a:t>Feasibility</a:t>
              </a:r>
              <a:endParaRPr kumimoji="0" lang="en-GB" sz="1400" b="1" i="0" u="none" strike="noStrike" kern="0" cap="none" spc="0" normalizeH="0" baseline="0" noProof="0">
                <a:ln>
                  <a:noFill/>
                </a:ln>
                <a:solidFill>
                  <a:srgbClr val="273370"/>
                </a:solidFill>
                <a:effectLst/>
                <a:uLnTx/>
                <a:uFillTx/>
                <a:latin typeface="Aptos Display" panose="02110004020202020204"/>
                <a:ea typeface="Helvetica Neue"/>
                <a:cs typeface="Helvetica Neue"/>
                <a:sym typeface="Helvetica Neue"/>
              </a:endParaRPr>
            </a:p>
          </p:txBody>
        </p:sp>
      </p:grpSp>
      <p:sp>
        <p:nvSpPr>
          <p:cNvPr id="37" name="Rectangle 36">
            <a:extLst>
              <a:ext uri="{FF2B5EF4-FFF2-40B4-BE49-F238E27FC236}">
                <a16:creationId xmlns:a16="http://schemas.microsoft.com/office/drawing/2014/main" id="{23E0AE76-D866-BED9-CE70-E289877BF672}"/>
              </a:ext>
            </a:extLst>
          </p:cNvPr>
          <p:cNvSpPr/>
          <p:nvPr/>
        </p:nvSpPr>
        <p:spPr>
          <a:xfrm>
            <a:off x="8803430" y="6333805"/>
            <a:ext cx="151253" cy="145349"/>
          </a:xfrm>
          <a:prstGeom prst="rect">
            <a:avLst/>
          </a:prstGeom>
          <a:solidFill>
            <a:schemeClr val="bg1">
              <a:lumMod val="85000"/>
            </a:scheme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E8E8E8">
                  <a:lumMod val="10000"/>
                </a:srgbClr>
              </a:solidFill>
              <a:effectLst/>
              <a:uLnTx/>
              <a:uFillTx/>
              <a:latin typeface="Aptos Display" panose="02110004020202020204"/>
              <a:ea typeface="+mn-ea"/>
              <a:cs typeface="+mn-cs"/>
            </a:endParaRPr>
          </a:p>
        </p:txBody>
      </p:sp>
      <p:sp>
        <p:nvSpPr>
          <p:cNvPr id="38" name="Rectangle 37">
            <a:extLst>
              <a:ext uri="{FF2B5EF4-FFF2-40B4-BE49-F238E27FC236}">
                <a16:creationId xmlns:a16="http://schemas.microsoft.com/office/drawing/2014/main" id="{F466D4BA-DF2E-1120-9352-A1ACBE2AD202}"/>
              </a:ext>
            </a:extLst>
          </p:cNvPr>
          <p:cNvSpPr/>
          <p:nvPr/>
        </p:nvSpPr>
        <p:spPr>
          <a:xfrm>
            <a:off x="8902882"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56082"/>
                </a:solidFill>
                <a:effectLst/>
                <a:uLnTx/>
                <a:uFillTx/>
                <a:latin typeface="Aptos Display" panose="02110004020202020204"/>
                <a:ea typeface="+mn-ea"/>
                <a:cs typeface="+mn-cs"/>
              </a:rPr>
              <a:t>0 – 6  months </a:t>
            </a:r>
          </a:p>
        </p:txBody>
      </p:sp>
      <p:sp>
        <p:nvSpPr>
          <p:cNvPr id="39" name="Rectangle 38">
            <a:extLst>
              <a:ext uri="{FF2B5EF4-FFF2-40B4-BE49-F238E27FC236}">
                <a16:creationId xmlns:a16="http://schemas.microsoft.com/office/drawing/2014/main" id="{EC40CF54-A9D9-D288-3A90-1BA412C2E2B2}"/>
              </a:ext>
            </a:extLst>
          </p:cNvPr>
          <p:cNvSpPr/>
          <p:nvPr/>
        </p:nvSpPr>
        <p:spPr>
          <a:xfrm>
            <a:off x="9850775" y="6333805"/>
            <a:ext cx="151253" cy="145349"/>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33CC99"/>
              </a:solidFill>
              <a:effectLst/>
              <a:uLnTx/>
              <a:uFillTx/>
              <a:latin typeface="Aptos Display" panose="02110004020202020204"/>
              <a:ea typeface="+mn-ea"/>
              <a:cs typeface="+mn-cs"/>
            </a:endParaRPr>
          </a:p>
        </p:txBody>
      </p:sp>
      <p:sp>
        <p:nvSpPr>
          <p:cNvPr id="40" name="Rectangle 39">
            <a:extLst>
              <a:ext uri="{FF2B5EF4-FFF2-40B4-BE49-F238E27FC236}">
                <a16:creationId xmlns:a16="http://schemas.microsoft.com/office/drawing/2014/main" id="{B46428DE-DA9C-47A8-13C9-FF47AB511DD1}"/>
              </a:ext>
            </a:extLst>
          </p:cNvPr>
          <p:cNvSpPr/>
          <p:nvPr/>
        </p:nvSpPr>
        <p:spPr>
          <a:xfrm>
            <a:off x="9950227"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8E8E8">
                    <a:lumMod val="10000"/>
                  </a:srgbClr>
                </a:solidFill>
                <a:effectLst/>
                <a:uLnTx/>
                <a:uFillTx/>
                <a:latin typeface="Aptos Display" panose="02110004020202020204"/>
                <a:ea typeface="+mn-ea"/>
                <a:cs typeface="+mn-cs"/>
              </a:rPr>
              <a:t>6-12 months</a:t>
            </a:r>
          </a:p>
        </p:txBody>
      </p:sp>
      <p:sp>
        <p:nvSpPr>
          <p:cNvPr id="41" name="Rectangle 40">
            <a:extLst>
              <a:ext uri="{FF2B5EF4-FFF2-40B4-BE49-F238E27FC236}">
                <a16:creationId xmlns:a16="http://schemas.microsoft.com/office/drawing/2014/main" id="{26843225-2817-A485-A457-FA6FAEBF693A}"/>
              </a:ext>
            </a:extLst>
          </p:cNvPr>
          <p:cNvSpPr/>
          <p:nvPr/>
        </p:nvSpPr>
        <p:spPr>
          <a:xfrm>
            <a:off x="10901043" y="6333805"/>
            <a:ext cx="151253" cy="145349"/>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US" sz="1000" b="0" i="0" u="none" strike="noStrike" kern="1200" cap="none" spc="0" normalizeH="0" baseline="0" noProof="0" err="1">
              <a:ln>
                <a:noFill/>
              </a:ln>
              <a:solidFill>
                <a:srgbClr val="33CC99"/>
              </a:solidFill>
              <a:effectLst/>
              <a:uLnTx/>
              <a:uFillTx/>
              <a:latin typeface="Aptos Display" panose="02110004020202020204"/>
              <a:ea typeface="+mn-ea"/>
              <a:cs typeface="+mn-cs"/>
            </a:endParaRPr>
          </a:p>
        </p:txBody>
      </p:sp>
      <p:sp>
        <p:nvSpPr>
          <p:cNvPr id="42" name="Rectangle 41">
            <a:extLst>
              <a:ext uri="{FF2B5EF4-FFF2-40B4-BE49-F238E27FC236}">
                <a16:creationId xmlns:a16="http://schemas.microsoft.com/office/drawing/2014/main" id="{3C45D53E-C8EC-E0BD-2D76-200AE0CC4C21}"/>
              </a:ext>
            </a:extLst>
          </p:cNvPr>
          <p:cNvSpPr/>
          <p:nvPr/>
        </p:nvSpPr>
        <p:spPr>
          <a:xfrm>
            <a:off x="11000495" y="6333805"/>
            <a:ext cx="959164" cy="14534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E8E8E8">
                    <a:lumMod val="10000"/>
                  </a:srgbClr>
                </a:solidFill>
                <a:effectLst/>
                <a:uLnTx/>
                <a:uFillTx/>
                <a:latin typeface="Aptos Display" panose="02110004020202020204"/>
                <a:ea typeface="+mn-ea"/>
                <a:cs typeface="+mn-cs"/>
              </a:rPr>
              <a:t>&gt;12 months</a:t>
            </a:r>
          </a:p>
        </p:txBody>
      </p:sp>
      <p:sp>
        <p:nvSpPr>
          <p:cNvPr id="43" name="Rectangle 42">
            <a:extLst>
              <a:ext uri="{FF2B5EF4-FFF2-40B4-BE49-F238E27FC236}">
                <a16:creationId xmlns:a16="http://schemas.microsoft.com/office/drawing/2014/main" id="{62525520-FED7-E1BC-0D6A-77FADAE57B29}"/>
              </a:ext>
            </a:extLst>
          </p:cNvPr>
          <p:cNvSpPr/>
          <p:nvPr/>
        </p:nvSpPr>
        <p:spPr>
          <a:xfrm>
            <a:off x="8828414" y="3600892"/>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Clinical Impact </a:t>
            </a:r>
          </a:p>
        </p:txBody>
      </p:sp>
      <p:sp>
        <p:nvSpPr>
          <p:cNvPr id="44" name="Rectangle 43">
            <a:extLst>
              <a:ext uri="{FF2B5EF4-FFF2-40B4-BE49-F238E27FC236}">
                <a16:creationId xmlns:a16="http://schemas.microsoft.com/office/drawing/2014/main" id="{4AF2EB77-D051-EFE9-048E-4474C558E26A}"/>
              </a:ext>
            </a:extLst>
          </p:cNvPr>
          <p:cNvSpPr/>
          <p:nvPr/>
        </p:nvSpPr>
        <p:spPr>
          <a:xfrm>
            <a:off x="9719604" y="3753953"/>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5" name="Rectangle 44">
            <a:extLst>
              <a:ext uri="{FF2B5EF4-FFF2-40B4-BE49-F238E27FC236}">
                <a16:creationId xmlns:a16="http://schemas.microsoft.com/office/drawing/2014/main" id="{A8463498-C10A-291F-51B7-2A9C097B0190}"/>
              </a:ext>
            </a:extLst>
          </p:cNvPr>
          <p:cNvSpPr/>
          <p:nvPr/>
        </p:nvSpPr>
        <p:spPr>
          <a:xfrm>
            <a:off x="9718402"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L</a:t>
            </a:r>
          </a:p>
        </p:txBody>
      </p:sp>
      <p:sp>
        <p:nvSpPr>
          <p:cNvPr id="46" name="Rectangle 45">
            <a:extLst>
              <a:ext uri="{FF2B5EF4-FFF2-40B4-BE49-F238E27FC236}">
                <a16:creationId xmlns:a16="http://schemas.microsoft.com/office/drawing/2014/main" id="{EA20F5FB-0B11-8F67-DC2F-0FBDE49ACDE3}"/>
              </a:ext>
            </a:extLst>
          </p:cNvPr>
          <p:cNvSpPr/>
          <p:nvPr/>
        </p:nvSpPr>
        <p:spPr>
          <a:xfrm>
            <a:off x="9883443" y="3655291"/>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7" name="Rectangle 46">
            <a:extLst>
              <a:ext uri="{FF2B5EF4-FFF2-40B4-BE49-F238E27FC236}">
                <a16:creationId xmlns:a16="http://schemas.microsoft.com/office/drawing/2014/main" id="{BEE8B475-1B08-21BB-F428-00EE0E07F4E9}"/>
              </a:ext>
            </a:extLst>
          </p:cNvPr>
          <p:cNvSpPr/>
          <p:nvPr/>
        </p:nvSpPr>
        <p:spPr>
          <a:xfrm>
            <a:off x="9882241"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48" name="Rectangle 47">
            <a:extLst>
              <a:ext uri="{FF2B5EF4-FFF2-40B4-BE49-F238E27FC236}">
                <a16:creationId xmlns:a16="http://schemas.microsoft.com/office/drawing/2014/main" id="{6760311F-B28C-1E02-AC7D-90A662898519}"/>
              </a:ext>
            </a:extLst>
          </p:cNvPr>
          <p:cNvSpPr/>
          <p:nvPr/>
        </p:nvSpPr>
        <p:spPr>
          <a:xfrm>
            <a:off x="10047281" y="3543163"/>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49" name="Rectangle 48">
            <a:extLst>
              <a:ext uri="{FF2B5EF4-FFF2-40B4-BE49-F238E27FC236}">
                <a16:creationId xmlns:a16="http://schemas.microsoft.com/office/drawing/2014/main" id="{C52DA895-F995-3FA4-5101-88FD32BBAC86}"/>
              </a:ext>
            </a:extLst>
          </p:cNvPr>
          <p:cNvSpPr/>
          <p:nvPr/>
        </p:nvSpPr>
        <p:spPr>
          <a:xfrm>
            <a:off x="10046079"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50" name="Rectangle 49">
            <a:extLst>
              <a:ext uri="{FF2B5EF4-FFF2-40B4-BE49-F238E27FC236}">
                <a16:creationId xmlns:a16="http://schemas.microsoft.com/office/drawing/2014/main" id="{ACE39411-3BFB-E9D6-40B7-5D6A8750DD50}"/>
              </a:ext>
            </a:extLst>
          </p:cNvPr>
          <p:cNvSpPr/>
          <p:nvPr/>
        </p:nvSpPr>
        <p:spPr>
          <a:xfrm>
            <a:off x="10322147" y="3600892"/>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Technical Feasibility</a:t>
            </a:r>
          </a:p>
        </p:txBody>
      </p:sp>
      <p:sp>
        <p:nvSpPr>
          <p:cNvPr id="51" name="Rectangle 50">
            <a:extLst>
              <a:ext uri="{FF2B5EF4-FFF2-40B4-BE49-F238E27FC236}">
                <a16:creationId xmlns:a16="http://schemas.microsoft.com/office/drawing/2014/main" id="{5F5F8CF1-83E5-A55D-A303-4BBC5968CD4E}"/>
              </a:ext>
            </a:extLst>
          </p:cNvPr>
          <p:cNvSpPr/>
          <p:nvPr/>
        </p:nvSpPr>
        <p:spPr>
          <a:xfrm>
            <a:off x="11426244" y="3753953"/>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2" name="Rectangle 51">
            <a:extLst>
              <a:ext uri="{FF2B5EF4-FFF2-40B4-BE49-F238E27FC236}">
                <a16:creationId xmlns:a16="http://schemas.microsoft.com/office/drawing/2014/main" id="{2622546B-1A62-C598-58F6-007FA12324EB}"/>
              </a:ext>
            </a:extLst>
          </p:cNvPr>
          <p:cNvSpPr/>
          <p:nvPr/>
        </p:nvSpPr>
        <p:spPr>
          <a:xfrm>
            <a:off x="11425042"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53" name="Rectangle 52">
            <a:extLst>
              <a:ext uri="{FF2B5EF4-FFF2-40B4-BE49-F238E27FC236}">
                <a16:creationId xmlns:a16="http://schemas.microsoft.com/office/drawing/2014/main" id="{4932AFD6-9782-5703-5C85-BBFF0809671A}"/>
              </a:ext>
            </a:extLst>
          </p:cNvPr>
          <p:cNvSpPr/>
          <p:nvPr/>
        </p:nvSpPr>
        <p:spPr>
          <a:xfrm>
            <a:off x="11590083" y="3655291"/>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4" name="Rectangle 53">
            <a:extLst>
              <a:ext uri="{FF2B5EF4-FFF2-40B4-BE49-F238E27FC236}">
                <a16:creationId xmlns:a16="http://schemas.microsoft.com/office/drawing/2014/main" id="{A4EF3908-76D9-FD4F-CE78-8057E70E98BA}"/>
              </a:ext>
            </a:extLst>
          </p:cNvPr>
          <p:cNvSpPr/>
          <p:nvPr/>
        </p:nvSpPr>
        <p:spPr>
          <a:xfrm>
            <a:off x="11588881"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55" name="Rectangle 54">
            <a:extLst>
              <a:ext uri="{FF2B5EF4-FFF2-40B4-BE49-F238E27FC236}">
                <a16:creationId xmlns:a16="http://schemas.microsoft.com/office/drawing/2014/main" id="{95645F8C-F278-3289-7AE0-87DBDD44380A}"/>
              </a:ext>
            </a:extLst>
          </p:cNvPr>
          <p:cNvSpPr/>
          <p:nvPr/>
        </p:nvSpPr>
        <p:spPr>
          <a:xfrm>
            <a:off x="11753921" y="3543163"/>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6" name="Rectangle 55">
            <a:extLst>
              <a:ext uri="{FF2B5EF4-FFF2-40B4-BE49-F238E27FC236}">
                <a16:creationId xmlns:a16="http://schemas.microsoft.com/office/drawing/2014/main" id="{3AEB7464-C2C8-4126-96AF-B66D6D64E6C6}"/>
              </a:ext>
            </a:extLst>
          </p:cNvPr>
          <p:cNvSpPr/>
          <p:nvPr/>
        </p:nvSpPr>
        <p:spPr>
          <a:xfrm>
            <a:off x="11752719" y="3843287"/>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57" name="Rectangle 56">
            <a:extLst>
              <a:ext uri="{FF2B5EF4-FFF2-40B4-BE49-F238E27FC236}">
                <a16:creationId xmlns:a16="http://schemas.microsoft.com/office/drawing/2014/main" id="{D8E4F83C-AE03-11E9-D4C9-91B0FAC42D65}"/>
              </a:ext>
            </a:extLst>
          </p:cNvPr>
          <p:cNvSpPr/>
          <p:nvPr/>
        </p:nvSpPr>
        <p:spPr>
          <a:xfrm>
            <a:off x="8828414" y="4226373"/>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Business Impact</a:t>
            </a:r>
          </a:p>
        </p:txBody>
      </p:sp>
      <p:sp>
        <p:nvSpPr>
          <p:cNvPr id="58" name="Rectangle 57">
            <a:extLst>
              <a:ext uri="{FF2B5EF4-FFF2-40B4-BE49-F238E27FC236}">
                <a16:creationId xmlns:a16="http://schemas.microsoft.com/office/drawing/2014/main" id="{B9C941F1-94F7-1EC5-B89D-5297D1E1648C}"/>
              </a:ext>
            </a:extLst>
          </p:cNvPr>
          <p:cNvSpPr/>
          <p:nvPr/>
        </p:nvSpPr>
        <p:spPr>
          <a:xfrm>
            <a:off x="9719604" y="4379434"/>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59" name="Rectangle 58">
            <a:extLst>
              <a:ext uri="{FF2B5EF4-FFF2-40B4-BE49-F238E27FC236}">
                <a16:creationId xmlns:a16="http://schemas.microsoft.com/office/drawing/2014/main" id="{C8C56F1B-023B-A87E-AB27-F7626C66F6C5}"/>
              </a:ext>
            </a:extLst>
          </p:cNvPr>
          <p:cNvSpPr/>
          <p:nvPr/>
        </p:nvSpPr>
        <p:spPr>
          <a:xfrm>
            <a:off x="9718402"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60" name="Rectangle 59">
            <a:extLst>
              <a:ext uri="{FF2B5EF4-FFF2-40B4-BE49-F238E27FC236}">
                <a16:creationId xmlns:a16="http://schemas.microsoft.com/office/drawing/2014/main" id="{F94FFA98-AD82-505D-0160-DD203A552B8F}"/>
              </a:ext>
            </a:extLst>
          </p:cNvPr>
          <p:cNvSpPr/>
          <p:nvPr/>
        </p:nvSpPr>
        <p:spPr>
          <a:xfrm>
            <a:off x="9883443" y="4280772"/>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1" name="Rectangle 60">
            <a:extLst>
              <a:ext uri="{FF2B5EF4-FFF2-40B4-BE49-F238E27FC236}">
                <a16:creationId xmlns:a16="http://schemas.microsoft.com/office/drawing/2014/main" id="{FC6636E6-AA96-A03E-30E7-7D0E4EA83878}"/>
              </a:ext>
            </a:extLst>
          </p:cNvPr>
          <p:cNvSpPr/>
          <p:nvPr/>
        </p:nvSpPr>
        <p:spPr>
          <a:xfrm>
            <a:off x="9882241"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62" name="Rectangle 61">
            <a:extLst>
              <a:ext uri="{FF2B5EF4-FFF2-40B4-BE49-F238E27FC236}">
                <a16:creationId xmlns:a16="http://schemas.microsoft.com/office/drawing/2014/main" id="{D658DF67-83C5-F841-3018-027327E1766F}"/>
              </a:ext>
            </a:extLst>
          </p:cNvPr>
          <p:cNvSpPr/>
          <p:nvPr/>
        </p:nvSpPr>
        <p:spPr>
          <a:xfrm>
            <a:off x="10047281" y="4168644"/>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3" name="Rectangle 62">
            <a:extLst>
              <a:ext uri="{FF2B5EF4-FFF2-40B4-BE49-F238E27FC236}">
                <a16:creationId xmlns:a16="http://schemas.microsoft.com/office/drawing/2014/main" id="{49278D8C-A2CA-E6B1-0959-9BB76C1CA994}"/>
              </a:ext>
            </a:extLst>
          </p:cNvPr>
          <p:cNvSpPr/>
          <p:nvPr/>
        </p:nvSpPr>
        <p:spPr>
          <a:xfrm>
            <a:off x="10046079"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H</a:t>
            </a:r>
          </a:p>
        </p:txBody>
      </p:sp>
      <p:sp>
        <p:nvSpPr>
          <p:cNvPr id="64" name="Rectangle 63">
            <a:extLst>
              <a:ext uri="{FF2B5EF4-FFF2-40B4-BE49-F238E27FC236}">
                <a16:creationId xmlns:a16="http://schemas.microsoft.com/office/drawing/2014/main" id="{C8D529CF-BB8E-A6F7-A253-BA15EAF06D63}"/>
              </a:ext>
            </a:extLst>
          </p:cNvPr>
          <p:cNvSpPr/>
          <p:nvPr/>
        </p:nvSpPr>
        <p:spPr>
          <a:xfrm>
            <a:off x="10322147" y="4226373"/>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Organizational Feasibility</a:t>
            </a:r>
          </a:p>
        </p:txBody>
      </p:sp>
      <p:sp>
        <p:nvSpPr>
          <p:cNvPr id="65" name="Rectangle 64">
            <a:extLst>
              <a:ext uri="{FF2B5EF4-FFF2-40B4-BE49-F238E27FC236}">
                <a16:creationId xmlns:a16="http://schemas.microsoft.com/office/drawing/2014/main" id="{398F3108-3201-C62C-2D61-925528633E22}"/>
              </a:ext>
            </a:extLst>
          </p:cNvPr>
          <p:cNvSpPr/>
          <p:nvPr/>
        </p:nvSpPr>
        <p:spPr>
          <a:xfrm>
            <a:off x="11426244" y="4379434"/>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6" name="Rectangle 65">
            <a:extLst>
              <a:ext uri="{FF2B5EF4-FFF2-40B4-BE49-F238E27FC236}">
                <a16:creationId xmlns:a16="http://schemas.microsoft.com/office/drawing/2014/main" id="{55E04679-88B3-6E9A-342D-6A76593E5720}"/>
              </a:ext>
            </a:extLst>
          </p:cNvPr>
          <p:cNvSpPr/>
          <p:nvPr/>
        </p:nvSpPr>
        <p:spPr>
          <a:xfrm>
            <a:off x="11425042"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67" name="Rectangle 66">
            <a:extLst>
              <a:ext uri="{FF2B5EF4-FFF2-40B4-BE49-F238E27FC236}">
                <a16:creationId xmlns:a16="http://schemas.microsoft.com/office/drawing/2014/main" id="{AD7C70B0-EE0F-5923-6C26-945375F996B5}"/>
              </a:ext>
            </a:extLst>
          </p:cNvPr>
          <p:cNvSpPr/>
          <p:nvPr/>
        </p:nvSpPr>
        <p:spPr>
          <a:xfrm>
            <a:off x="11590083" y="4280772"/>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68" name="Rectangle 67">
            <a:extLst>
              <a:ext uri="{FF2B5EF4-FFF2-40B4-BE49-F238E27FC236}">
                <a16:creationId xmlns:a16="http://schemas.microsoft.com/office/drawing/2014/main" id="{3463BCAF-BBAA-E275-7853-32184761B809}"/>
              </a:ext>
            </a:extLst>
          </p:cNvPr>
          <p:cNvSpPr/>
          <p:nvPr/>
        </p:nvSpPr>
        <p:spPr>
          <a:xfrm>
            <a:off x="11588881"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69" name="Rectangle 68">
            <a:extLst>
              <a:ext uri="{FF2B5EF4-FFF2-40B4-BE49-F238E27FC236}">
                <a16:creationId xmlns:a16="http://schemas.microsoft.com/office/drawing/2014/main" id="{B9551A0D-DA16-0575-9CCC-A757EBF1E875}"/>
              </a:ext>
            </a:extLst>
          </p:cNvPr>
          <p:cNvSpPr/>
          <p:nvPr/>
        </p:nvSpPr>
        <p:spPr>
          <a:xfrm>
            <a:off x="11753921" y="4168644"/>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0" name="Rectangle 69">
            <a:extLst>
              <a:ext uri="{FF2B5EF4-FFF2-40B4-BE49-F238E27FC236}">
                <a16:creationId xmlns:a16="http://schemas.microsoft.com/office/drawing/2014/main" id="{E1AFEC15-CFCD-0AA4-83B2-C72271158BCE}"/>
              </a:ext>
            </a:extLst>
          </p:cNvPr>
          <p:cNvSpPr/>
          <p:nvPr/>
        </p:nvSpPr>
        <p:spPr>
          <a:xfrm>
            <a:off x="11752719" y="4468768"/>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sp>
        <p:nvSpPr>
          <p:cNvPr id="71" name="Rectangle 70">
            <a:extLst>
              <a:ext uri="{FF2B5EF4-FFF2-40B4-BE49-F238E27FC236}">
                <a16:creationId xmlns:a16="http://schemas.microsoft.com/office/drawing/2014/main" id="{CA27EF73-3D72-5A67-3E06-E35E6EA96231}"/>
              </a:ext>
            </a:extLst>
          </p:cNvPr>
          <p:cNvSpPr/>
          <p:nvPr/>
        </p:nvSpPr>
        <p:spPr>
          <a:xfrm>
            <a:off x="8828414" y="4851854"/>
            <a:ext cx="904296"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Strategic Alignment</a:t>
            </a:r>
          </a:p>
        </p:txBody>
      </p:sp>
      <p:sp>
        <p:nvSpPr>
          <p:cNvPr id="72" name="Rectangle 71">
            <a:extLst>
              <a:ext uri="{FF2B5EF4-FFF2-40B4-BE49-F238E27FC236}">
                <a16:creationId xmlns:a16="http://schemas.microsoft.com/office/drawing/2014/main" id="{74752DBD-DAA9-9228-D15D-CD542E2C6E2C}"/>
              </a:ext>
            </a:extLst>
          </p:cNvPr>
          <p:cNvSpPr/>
          <p:nvPr/>
        </p:nvSpPr>
        <p:spPr>
          <a:xfrm>
            <a:off x="9719604" y="5004915"/>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3" name="Rectangle 72">
            <a:extLst>
              <a:ext uri="{FF2B5EF4-FFF2-40B4-BE49-F238E27FC236}">
                <a16:creationId xmlns:a16="http://schemas.microsoft.com/office/drawing/2014/main" id="{A1D1D402-8B61-4E68-A677-2E84EE94D4B6}"/>
              </a:ext>
            </a:extLst>
          </p:cNvPr>
          <p:cNvSpPr/>
          <p:nvPr/>
        </p:nvSpPr>
        <p:spPr>
          <a:xfrm>
            <a:off x="9718402"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74" name="Rectangle 73">
            <a:extLst>
              <a:ext uri="{FF2B5EF4-FFF2-40B4-BE49-F238E27FC236}">
                <a16:creationId xmlns:a16="http://schemas.microsoft.com/office/drawing/2014/main" id="{6C02BCC3-4C24-29A7-01CE-F9431373E5D0}"/>
              </a:ext>
            </a:extLst>
          </p:cNvPr>
          <p:cNvSpPr/>
          <p:nvPr/>
        </p:nvSpPr>
        <p:spPr>
          <a:xfrm>
            <a:off x="9883443" y="4906253"/>
            <a:ext cx="124133" cy="210056"/>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5" name="Rectangle 74">
            <a:extLst>
              <a:ext uri="{FF2B5EF4-FFF2-40B4-BE49-F238E27FC236}">
                <a16:creationId xmlns:a16="http://schemas.microsoft.com/office/drawing/2014/main" id="{A3BE1649-2519-0303-3A7F-ED1E46F25FD8}"/>
              </a:ext>
            </a:extLst>
          </p:cNvPr>
          <p:cNvSpPr/>
          <p:nvPr/>
        </p:nvSpPr>
        <p:spPr>
          <a:xfrm>
            <a:off x="9882241"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M</a:t>
            </a:r>
          </a:p>
        </p:txBody>
      </p:sp>
      <p:sp>
        <p:nvSpPr>
          <p:cNvPr id="76" name="Rectangle 75">
            <a:extLst>
              <a:ext uri="{FF2B5EF4-FFF2-40B4-BE49-F238E27FC236}">
                <a16:creationId xmlns:a16="http://schemas.microsoft.com/office/drawing/2014/main" id="{22109F5B-099B-89C8-EA2B-EC0C69E6ACA1}"/>
              </a:ext>
            </a:extLst>
          </p:cNvPr>
          <p:cNvSpPr/>
          <p:nvPr/>
        </p:nvSpPr>
        <p:spPr>
          <a:xfrm>
            <a:off x="10047281" y="4794125"/>
            <a:ext cx="124133" cy="322184"/>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77" name="Rectangle 76">
            <a:extLst>
              <a:ext uri="{FF2B5EF4-FFF2-40B4-BE49-F238E27FC236}">
                <a16:creationId xmlns:a16="http://schemas.microsoft.com/office/drawing/2014/main" id="{98F07B3E-F433-AD0B-0BEF-A31BB5BB02AD}"/>
              </a:ext>
            </a:extLst>
          </p:cNvPr>
          <p:cNvSpPr/>
          <p:nvPr/>
        </p:nvSpPr>
        <p:spPr>
          <a:xfrm>
            <a:off x="10046079"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H</a:t>
            </a:r>
          </a:p>
        </p:txBody>
      </p:sp>
      <p:sp>
        <p:nvSpPr>
          <p:cNvPr id="78" name="Rectangle 77">
            <a:extLst>
              <a:ext uri="{FF2B5EF4-FFF2-40B4-BE49-F238E27FC236}">
                <a16:creationId xmlns:a16="http://schemas.microsoft.com/office/drawing/2014/main" id="{8FFBDEAF-9DFD-CD98-AA6B-1A65643DBC58}"/>
              </a:ext>
            </a:extLst>
          </p:cNvPr>
          <p:cNvSpPr/>
          <p:nvPr/>
        </p:nvSpPr>
        <p:spPr>
          <a:xfrm>
            <a:off x="10322147" y="4851854"/>
            <a:ext cx="1131833" cy="400110"/>
          </a:xfrm>
          <a:prstGeom prst="rect">
            <a:avLst/>
          </a:prstGeom>
        </p:spPr>
        <p:txBody>
          <a:bodyPr wrap="square">
            <a:sp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Cost </a:t>
            </a:r>
          </a:p>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10000"/>
                  </a:srgbClr>
                </a:solidFill>
                <a:effectLst/>
                <a:uLnTx/>
                <a:uFillTx/>
                <a:latin typeface="Aptos Display" panose="02110004020202020204"/>
                <a:ea typeface="+mn-ea"/>
                <a:cs typeface="+mn-cs"/>
                <a:sym typeface="Helvetica Neue Medium"/>
              </a:rPr>
              <a:t>Feasibility</a:t>
            </a:r>
          </a:p>
        </p:txBody>
      </p:sp>
      <p:sp>
        <p:nvSpPr>
          <p:cNvPr id="79" name="Rectangle 78">
            <a:extLst>
              <a:ext uri="{FF2B5EF4-FFF2-40B4-BE49-F238E27FC236}">
                <a16:creationId xmlns:a16="http://schemas.microsoft.com/office/drawing/2014/main" id="{5CB4C78C-9A65-6F19-48F7-6BBD1535CC9C}"/>
              </a:ext>
            </a:extLst>
          </p:cNvPr>
          <p:cNvSpPr/>
          <p:nvPr/>
        </p:nvSpPr>
        <p:spPr>
          <a:xfrm>
            <a:off x="11426244" y="5004915"/>
            <a:ext cx="124133" cy="11139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0" name="Rectangle 79">
            <a:extLst>
              <a:ext uri="{FF2B5EF4-FFF2-40B4-BE49-F238E27FC236}">
                <a16:creationId xmlns:a16="http://schemas.microsoft.com/office/drawing/2014/main" id="{282B9CC1-7870-92B9-13EF-A756F025855D}"/>
              </a:ext>
            </a:extLst>
          </p:cNvPr>
          <p:cNvSpPr/>
          <p:nvPr/>
        </p:nvSpPr>
        <p:spPr>
          <a:xfrm>
            <a:off x="11425042"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L</a:t>
            </a:r>
          </a:p>
        </p:txBody>
      </p:sp>
      <p:sp>
        <p:nvSpPr>
          <p:cNvPr id="81" name="Rectangle 80">
            <a:extLst>
              <a:ext uri="{FF2B5EF4-FFF2-40B4-BE49-F238E27FC236}">
                <a16:creationId xmlns:a16="http://schemas.microsoft.com/office/drawing/2014/main" id="{29FEA1E3-1064-6856-533A-2FA09F7A5BD8}"/>
              </a:ext>
            </a:extLst>
          </p:cNvPr>
          <p:cNvSpPr/>
          <p:nvPr/>
        </p:nvSpPr>
        <p:spPr>
          <a:xfrm>
            <a:off x="11590083" y="4906253"/>
            <a:ext cx="124133" cy="210056"/>
          </a:xfrm>
          <a:prstGeom prst="rect">
            <a:avLst/>
          </a:prstGeom>
          <a:solidFill>
            <a:schemeClr val="accent1"/>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2" name="Rectangle 81">
            <a:extLst>
              <a:ext uri="{FF2B5EF4-FFF2-40B4-BE49-F238E27FC236}">
                <a16:creationId xmlns:a16="http://schemas.microsoft.com/office/drawing/2014/main" id="{1250A546-277B-4A0B-2E4D-60AB8975D0E9}"/>
              </a:ext>
            </a:extLst>
          </p:cNvPr>
          <p:cNvSpPr/>
          <p:nvPr/>
        </p:nvSpPr>
        <p:spPr>
          <a:xfrm>
            <a:off x="11588881"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156082"/>
                </a:solidFill>
                <a:effectLst/>
                <a:uLnTx/>
                <a:uFillTx/>
                <a:latin typeface="Aptos Display" panose="02110004020202020204"/>
                <a:ea typeface="+mn-ea"/>
                <a:cs typeface="+mn-cs"/>
                <a:sym typeface="Helvetica Neue Medium"/>
              </a:rPr>
              <a:t>M</a:t>
            </a:r>
          </a:p>
        </p:txBody>
      </p:sp>
      <p:sp>
        <p:nvSpPr>
          <p:cNvPr id="83" name="Rectangle 82">
            <a:extLst>
              <a:ext uri="{FF2B5EF4-FFF2-40B4-BE49-F238E27FC236}">
                <a16:creationId xmlns:a16="http://schemas.microsoft.com/office/drawing/2014/main" id="{0C706363-6564-B126-7AC3-1B25D6648839}"/>
              </a:ext>
            </a:extLst>
          </p:cNvPr>
          <p:cNvSpPr/>
          <p:nvPr/>
        </p:nvSpPr>
        <p:spPr>
          <a:xfrm>
            <a:off x="11753921" y="4794125"/>
            <a:ext cx="124133" cy="322184"/>
          </a:xfrm>
          <a:prstGeom prst="rect">
            <a:avLst/>
          </a:prstGeom>
          <a:solidFill>
            <a:schemeClr val="bg1">
              <a:lumMod val="85000"/>
            </a:scheme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srgbClr val="33CC99"/>
              </a:solidFill>
              <a:effectLst/>
              <a:uLnTx/>
              <a:uFillTx/>
              <a:latin typeface="Aptos Display" panose="02110004020202020204"/>
              <a:ea typeface="+mn-ea"/>
              <a:cs typeface="+mn-cs"/>
              <a:sym typeface="Helvetica Neue Medium"/>
            </a:endParaRPr>
          </a:p>
        </p:txBody>
      </p:sp>
      <p:sp>
        <p:nvSpPr>
          <p:cNvPr id="84" name="Rectangle 83">
            <a:extLst>
              <a:ext uri="{FF2B5EF4-FFF2-40B4-BE49-F238E27FC236}">
                <a16:creationId xmlns:a16="http://schemas.microsoft.com/office/drawing/2014/main" id="{3280B61D-B5FB-B4E1-16B8-EFB16190B8A1}"/>
              </a:ext>
            </a:extLst>
          </p:cNvPr>
          <p:cNvSpPr/>
          <p:nvPr/>
        </p:nvSpPr>
        <p:spPr>
          <a:xfrm>
            <a:off x="11752719" y="5094249"/>
            <a:ext cx="126536" cy="215444"/>
          </a:xfrm>
          <a:prstGeom prst="rect">
            <a:avLst/>
          </a:prstGeom>
        </p:spPr>
        <p:txBody>
          <a:bodyPr wrap="square">
            <a:sp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696969">
                    <a:lumMod val="75000"/>
                  </a:srgbClr>
                </a:solidFill>
                <a:effectLst/>
                <a:uLnTx/>
                <a:uFillTx/>
                <a:latin typeface="Aptos Display" panose="02110004020202020204"/>
                <a:ea typeface="+mn-ea"/>
                <a:cs typeface="+mn-cs"/>
                <a:sym typeface="Helvetica Neue Medium"/>
              </a:rPr>
              <a:t>H</a:t>
            </a:r>
          </a:p>
        </p:txBody>
      </p:sp>
      <p:cxnSp>
        <p:nvCxnSpPr>
          <p:cNvPr id="85" name="Straight Connector 84">
            <a:extLst>
              <a:ext uri="{FF2B5EF4-FFF2-40B4-BE49-F238E27FC236}">
                <a16:creationId xmlns:a16="http://schemas.microsoft.com/office/drawing/2014/main" id="{4A26B469-9DF3-56A9-ECDA-B01BF6F91B39}"/>
              </a:ext>
            </a:extLst>
          </p:cNvPr>
          <p:cNvCxnSpPr>
            <a:cxnSpLocks/>
          </p:cNvCxnSpPr>
          <p:nvPr/>
        </p:nvCxnSpPr>
        <p:spPr>
          <a:xfrm rot="5400000">
            <a:off x="10381544" y="3876457"/>
            <a:ext cx="0" cy="3200400"/>
          </a:xfrm>
          <a:prstGeom prst="line">
            <a:avLst/>
          </a:prstGeom>
          <a:ln w="19050" cap="flat" cmpd="sng" algn="ctr">
            <a:gradFill>
              <a:gsLst>
                <a:gs pos="0">
                  <a:schemeClr val="accent4">
                    <a:lumMod val="20000"/>
                    <a:lumOff val="80000"/>
                  </a:schemeClr>
                </a:gs>
                <a:gs pos="32000">
                  <a:schemeClr val="tx2"/>
                </a:gs>
                <a:gs pos="70000">
                  <a:schemeClr val="accent1"/>
                </a:gs>
                <a:gs pos="100000">
                  <a:schemeClr val="accent4">
                    <a:lumMod val="20000"/>
                    <a:lumOff val="80000"/>
                  </a:schemeClr>
                </a:gs>
              </a:gsLst>
              <a:lin ang="5400000" scaled="1"/>
            </a:gra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nvGrpSpPr>
          <p:cNvPr id="86" name="Group 85">
            <a:extLst>
              <a:ext uri="{FF2B5EF4-FFF2-40B4-BE49-F238E27FC236}">
                <a16:creationId xmlns:a16="http://schemas.microsoft.com/office/drawing/2014/main" id="{5C1432BE-A1FC-143E-02E0-5EA81C225D59}"/>
              </a:ext>
            </a:extLst>
          </p:cNvPr>
          <p:cNvGrpSpPr/>
          <p:nvPr/>
        </p:nvGrpSpPr>
        <p:grpSpPr>
          <a:xfrm>
            <a:off x="9401362" y="5704988"/>
            <a:ext cx="1960365" cy="400486"/>
            <a:chOff x="9352965" y="5558314"/>
            <a:chExt cx="1960365" cy="400486"/>
          </a:xfrm>
        </p:grpSpPr>
        <p:sp>
          <p:nvSpPr>
            <p:cNvPr id="87" name="Rectangle 86">
              <a:extLst>
                <a:ext uri="{FF2B5EF4-FFF2-40B4-BE49-F238E27FC236}">
                  <a16:creationId xmlns:a16="http://schemas.microsoft.com/office/drawing/2014/main" id="{8A7AD7FE-76EB-1167-2F3B-3CFB14107CB7}"/>
                </a:ext>
              </a:extLst>
            </p:cNvPr>
            <p:cNvSpPr/>
            <p:nvPr/>
          </p:nvSpPr>
          <p:spPr>
            <a:xfrm>
              <a:off x="9608782" y="5604668"/>
              <a:ext cx="1704548" cy="307777"/>
            </a:xfrm>
            <a:prstGeom prst="rect">
              <a:avLst/>
            </a:prstGeom>
          </p:spPr>
          <p:txBody>
            <a:bodyPr wrap="square" anchor="ctr">
              <a:sp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273370"/>
                  </a:solidFill>
                  <a:effectLst/>
                  <a:uLnTx/>
                  <a:uFillTx/>
                  <a:latin typeface="Aptos Display" panose="02110004020202020204"/>
                  <a:ea typeface="+mn-ea"/>
                  <a:cs typeface="+mn-cs"/>
                  <a:sym typeface="Helvetica Neue Medium"/>
                </a:rPr>
                <a:t>Time to Deploy </a:t>
              </a:r>
            </a:p>
          </p:txBody>
        </p:sp>
        <p:pic>
          <p:nvPicPr>
            <p:cNvPr id="88" name="Graphic 87" descr="Stopwatch 75% with solid fill">
              <a:extLst>
                <a:ext uri="{FF2B5EF4-FFF2-40B4-BE49-F238E27FC236}">
                  <a16:creationId xmlns:a16="http://schemas.microsoft.com/office/drawing/2014/main" id="{337987AC-B45B-547D-BBD9-69746E57B50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52965" y="5558314"/>
              <a:ext cx="400486" cy="400486"/>
            </a:xfrm>
            <a:prstGeom prst="rect">
              <a:avLst/>
            </a:prstGeom>
          </p:spPr>
        </p:pic>
      </p:grpSp>
      <p:sp>
        <p:nvSpPr>
          <p:cNvPr id="90" name="Oval 89">
            <a:extLst>
              <a:ext uri="{FF2B5EF4-FFF2-40B4-BE49-F238E27FC236}">
                <a16:creationId xmlns:a16="http://schemas.microsoft.com/office/drawing/2014/main" id="{2B40313E-5848-3707-DBC8-5A50F56B2740}"/>
              </a:ext>
            </a:extLst>
          </p:cNvPr>
          <p:cNvSpPr>
            <a:spLocks noChangeAspect="1"/>
          </p:cNvSpPr>
          <p:nvPr/>
        </p:nvSpPr>
        <p:spPr>
          <a:xfrm>
            <a:off x="370363" y="575951"/>
            <a:ext cx="989623" cy="989623"/>
          </a:xfrm>
          <a:prstGeom prst="ellipse">
            <a:avLst/>
          </a:prstGeom>
          <a:solidFill>
            <a:srgbClr val="4387BD">
              <a:alpha val="30000"/>
            </a:srgbClr>
          </a:solidFill>
          <a:ln w="381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40" tIns="91440" rIns="91440" bIns="91440" numCol="1" spcCol="38100" rtlCol="0" anchor="ctr">
            <a:noAutofit/>
          </a:bodyPr>
          <a:lstStyle/>
          <a:p>
            <a:pPr marL="0" marR="0" lvl="0" indent="0" algn="ctr" defTabSz="825500" rtl="0" eaLnBrk="1" fontAlgn="auto" latinLnBrk="0" hangingPunct="0">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white"/>
                </a:solidFill>
                <a:effectLst/>
                <a:uLnTx/>
                <a:uFillTx/>
                <a:latin typeface="Aptos Display" panose="02110004020202020204"/>
                <a:ea typeface="+mn-ea"/>
                <a:cs typeface="FS Albert Arabic" panose="020B0503040502020804" pitchFamily="34" charset="-78"/>
                <a:sym typeface="Helvetica Neue Medium"/>
              </a:rPr>
              <a:t>--</a:t>
            </a:r>
          </a:p>
        </p:txBody>
      </p:sp>
      <p:sp>
        <p:nvSpPr>
          <p:cNvPr id="91" name="Lorem Ipsum">
            <a:extLst>
              <a:ext uri="{FF2B5EF4-FFF2-40B4-BE49-F238E27FC236}">
                <a16:creationId xmlns:a16="http://schemas.microsoft.com/office/drawing/2014/main" id="{09663201-2DEE-BD55-A788-BEF4DD2B70D7}"/>
              </a:ext>
            </a:extLst>
          </p:cNvPr>
          <p:cNvSpPr txBox="1">
            <a:spLocks/>
          </p:cNvSpPr>
          <p:nvPr/>
        </p:nvSpPr>
        <p:spPr>
          <a:xfrm>
            <a:off x="1585410" y="509798"/>
            <a:ext cx="10396333" cy="514721"/>
          </a:xfrm>
          <a:prstGeom prst="rect">
            <a:avLst/>
          </a:prstGeom>
        </p:spPr>
        <p:txBody>
          <a:bodyPr wrap="square" lIns="0" tIns="45720" rIns="91440" bIns="45720" anchor="b" anchorCtr="0">
            <a:noAutofit/>
          </a:bodyPr>
          <a:lstStyle>
            <a:lvl1pPr marL="0" marR="0" indent="0" algn="l" defTabSz="412750" rtl="0" latinLnBrk="0">
              <a:lnSpc>
                <a:spcPct val="100000"/>
              </a:lnSpc>
              <a:spcBef>
                <a:spcPts val="0"/>
              </a:spcBef>
              <a:spcAft>
                <a:spcPts val="0"/>
              </a:spcAft>
              <a:buClrTx/>
              <a:buSzTx/>
              <a:buFontTx/>
              <a:buNone/>
              <a:tabLst/>
              <a:defRPr sz="2000" b="1" i="0" u="none" strike="noStrike" cap="none" spc="0" baseline="0" dirty="0">
                <a:solidFill>
                  <a:srgbClr val="243780"/>
                </a:solidFill>
                <a:uFillTx/>
                <a:latin typeface="Circular Std Bold" panose="020B0804020101010102" pitchFamily="34" charset="0"/>
                <a:ea typeface="Circular Std Bold" panose="020B0804020101010102" pitchFamily="34" charset="0"/>
                <a:cs typeface="Circular Std Bold" panose="020B0804020101010102" pitchFamily="34" charset="0"/>
                <a:sym typeface="Helvetica Neue"/>
              </a:defRPr>
            </a:lvl1pPr>
            <a:lvl2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2pPr>
            <a:lvl3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3pPr>
            <a:lvl4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4pPr>
            <a:lvl5pPr marL="0" marR="0" indent="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5pPr>
            <a:lvl6pPr marL="0" marR="0" indent="1778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6pPr>
            <a:lvl7pPr marL="0" marR="0" indent="3556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7pPr>
            <a:lvl8pPr marL="0" marR="0" indent="5334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8pPr>
            <a:lvl9pPr marL="0" marR="0" indent="711200" algn="ctr" defTabSz="412750" rtl="0" latinLnBrk="0">
              <a:lnSpc>
                <a:spcPct val="100000"/>
              </a:lnSpc>
              <a:spcBef>
                <a:spcPts val="0"/>
              </a:spcBef>
              <a:spcAft>
                <a:spcPts val="0"/>
              </a:spcAft>
              <a:buClrTx/>
              <a:buSzTx/>
              <a:buFontTx/>
              <a:buNone/>
              <a:tabLst/>
              <a:defRPr sz="2700" b="0" i="0" u="none" strike="noStrike" cap="none" spc="0" baseline="0">
                <a:solidFill>
                  <a:srgbClr val="000000"/>
                </a:solidFill>
                <a:uFillTx/>
                <a:latin typeface="Helvetica Neue"/>
                <a:ea typeface="Helvetica Neue"/>
                <a:cs typeface="Helvetica Neue"/>
                <a:sym typeface="Helvetica Neue"/>
              </a:defRPr>
            </a:lvl9pPr>
          </a:lstStyle>
          <a:p>
            <a:pPr marL="0" marR="0" lvl="0" indent="0" algn="l" defTabSz="412750" rtl="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Aptos Display" panose="02110004020202020204"/>
                <a:ea typeface="Lato" panose="020F0502020204030203" pitchFamily="34" charset="0"/>
                <a:cs typeface="FS Albert Arabic" panose="020B0503040502020804" pitchFamily="34" charset="-78"/>
                <a:sym typeface="Helvetica Neue"/>
              </a:rPr>
              <a:t>AI-Powered IT Support Request Automation</a:t>
            </a:r>
          </a:p>
        </p:txBody>
      </p:sp>
      <p:sp>
        <p:nvSpPr>
          <p:cNvPr id="92" name="Rectangle 91">
            <a:extLst>
              <a:ext uri="{FF2B5EF4-FFF2-40B4-BE49-F238E27FC236}">
                <a16:creationId xmlns:a16="http://schemas.microsoft.com/office/drawing/2014/main" id="{17EEAA63-D6FB-FD67-1420-486F56F0C481}"/>
              </a:ext>
            </a:extLst>
          </p:cNvPr>
          <p:cNvSpPr>
            <a:spLocks/>
          </p:cNvSpPr>
          <p:nvPr/>
        </p:nvSpPr>
        <p:spPr>
          <a:xfrm>
            <a:off x="1607645" y="1003500"/>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Appendix A: Implemented Proof of Concept (POC) – User Access &amp; Permission Requests</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93" name="Rectangle 92">
            <a:extLst>
              <a:ext uri="{FF2B5EF4-FFF2-40B4-BE49-F238E27FC236}">
                <a16:creationId xmlns:a16="http://schemas.microsoft.com/office/drawing/2014/main" id="{7082A433-B81E-58E1-EA97-055776D526F4}"/>
              </a:ext>
            </a:extLst>
          </p:cNvPr>
          <p:cNvSpPr>
            <a:spLocks/>
          </p:cNvSpPr>
          <p:nvPr/>
        </p:nvSpPr>
        <p:spPr>
          <a:xfrm>
            <a:off x="1607645" y="1307103"/>
            <a:ext cx="10123862" cy="324623"/>
          </a:xfrm>
          <a:prstGeom prst="rect">
            <a:avLst/>
          </a:prstGeom>
        </p:spPr>
        <p:txBody>
          <a:bodyPr wrap="square" lIns="0" tIns="45720" rIns="91440" bIns="45720" anchor="t" anchorCtr="0">
            <a:noAutofit/>
          </a:bodyPr>
          <a:lstStyle/>
          <a:p>
            <a:pPr marL="0" marR="0" lvl="0" indent="0" algn="l" defTabSz="825500" rtl="0" eaLnBrk="1" fontAlgn="auto" latinLnBrk="0" hangingPunct="0">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ptos Display" panose="02110004020202020204"/>
                <a:ea typeface="Lato Black" panose="020F0502020204030203" pitchFamily="34" charset="0"/>
                <a:cs typeface="FS Albert Arabic" panose="020B0503040502020804" pitchFamily="34" charset="-78"/>
                <a:sym typeface="Helvetica Neue Medium"/>
              </a:rPr>
              <a:t>Implemented Proof of Concept validating the reusable AI-assisted IT Support automation architecture</a:t>
            </a:r>
            <a:endParaRPr kumimoji="0" lang="en-US" sz="1200" b="0" i="0" u="none" strike="noStrike" kern="1200" cap="none" spc="0" normalizeH="0" baseline="0" noProof="0" dirty="0">
              <a:ln>
                <a:noFill/>
              </a:ln>
              <a:solidFill>
                <a:prstClr val="white"/>
              </a:solidFill>
              <a:effectLst/>
              <a:uLnTx/>
              <a:uFillTx/>
              <a:latin typeface="Aptos Display" panose="02110004020202020204"/>
              <a:ea typeface="+mn-ea"/>
              <a:cs typeface="+mn-cs"/>
            </a:endParaRPr>
          </a:p>
        </p:txBody>
      </p:sp>
      <p:sp>
        <p:nvSpPr>
          <p:cNvPr id="2" name="TextBox 1">
            <a:extLst>
              <a:ext uri="{FF2B5EF4-FFF2-40B4-BE49-F238E27FC236}">
                <a16:creationId xmlns:a16="http://schemas.microsoft.com/office/drawing/2014/main" id="{4903B4B0-061F-E427-1274-9C22A5915FCC}"/>
              </a:ext>
            </a:extLst>
          </p:cNvPr>
          <p:cNvSpPr txBox="1"/>
          <p:nvPr/>
        </p:nvSpPr>
        <p:spPr>
          <a:xfrm>
            <a:off x="4474178" y="5779524"/>
            <a:ext cx="3958318" cy="261610"/>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Microsoft Power Automate (Run a prompt capability)</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Microsoft SharePoint — POC reference data</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Microsoft Teams &amp; Approvals</a:t>
            </a:r>
          </a:p>
          <a:p>
            <a:pPr marL="171450" marR="0" lvl="0" indent="-171450" algn="l" defTabSz="825500" rtl="0" eaLnBrk="1" fontAlgn="auto" latinLnBrk="0" hangingPunct="0">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E8E8E8">
                    <a:lumMod val="10000"/>
                  </a:srgbClr>
                </a:solidFill>
                <a:effectLst/>
                <a:uLnTx/>
                <a:uFillTx/>
                <a:latin typeface="Aptos Display" panose="02110004020202020204"/>
                <a:ea typeface="Lato" panose="020F0502020204030203" pitchFamily="34" charset="0"/>
                <a:cs typeface="DIN Next LT Arabic" panose="020B0503020203050203" pitchFamily="34" charset="-78"/>
                <a:sym typeface="Helvetica Neue Medium"/>
              </a:rPr>
              <a:t>ITSM ticketing (human-approved)</a:t>
            </a:r>
          </a:p>
        </p:txBody>
      </p:sp>
    </p:spTree>
    <p:extLst>
      <p:ext uri="{BB962C8B-B14F-4D97-AF65-F5344CB8AC3E}">
        <p14:creationId xmlns:p14="http://schemas.microsoft.com/office/powerpoint/2010/main" val="2084743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765</TotalTime>
  <Words>185</Words>
  <Application>Microsoft Office PowerPoint</Application>
  <PresentationFormat>Widescreen</PresentationFormat>
  <Paragraphs>80</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Calibri</vt:lpstr>
      <vt:lpstr>Wingdings</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Hend Majed AlAbbar</dc:creator>
  <cp:lastModifiedBy>Safaa Abdel Hamid Soliman</cp:lastModifiedBy>
  <cp:revision>40</cp:revision>
  <dcterms:created xsi:type="dcterms:W3CDTF">2026-04-07T09:52:47Z</dcterms:created>
  <dcterms:modified xsi:type="dcterms:W3CDTF">2026-07-15T19:13:28Z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d427607-ff6b-482e-86cf-85fc569e58cd_Enabled">
    <vt:lpwstr>true</vt:lpwstr>
  </property>
  <property fmtid="{D5CDD505-2E9C-101B-9397-08002B2CF9AE}" pid="3" name="MSIP_Label_bd427607-ff6b-482e-86cf-85fc569e58cd_SetDate">
    <vt:lpwstr>2026-04-07T09:53:14Z</vt:lpwstr>
  </property>
  <property fmtid="{D5CDD505-2E9C-101B-9397-08002B2CF9AE}" pid="4" name="MSIP_Label_bd427607-ff6b-482e-86cf-85fc569e58cd_Method">
    <vt:lpwstr>Standard</vt:lpwstr>
  </property>
  <property fmtid="{D5CDD505-2E9C-101B-9397-08002B2CF9AE}" pid="5" name="MSIP_Label_bd427607-ff6b-482e-86cf-85fc569e58cd_Name">
    <vt:lpwstr>Dubai Health-Confidential</vt:lpwstr>
  </property>
  <property fmtid="{D5CDD505-2E9C-101B-9397-08002B2CF9AE}" pid="6" name="MSIP_Label_bd427607-ff6b-482e-86cf-85fc569e58cd_SiteId">
    <vt:lpwstr>2498e482-d486-4e8f-a0d8-bd97124de46e</vt:lpwstr>
  </property>
  <property fmtid="{D5CDD505-2E9C-101B-9397-08002B2CF9AE}" pid="7" name="MSIP_Label_bd427607-ff6b-482e-86cf-85fc569e58cd_ActionId">
    <vt:lpwstr>85906c42-e3d6-4788-972e-bd5dc4e39a03</vt:lpwstr>
  </property>
  <property fmtid="{D5CDD505-2E9C-101B-9397-08002B2CF9AE}" pid="8" name="MSIP_Label_bd427607-ff6b-482e-86cf-85fc569e58cd_ContentBits">
    <vt:lpwstr>2</vt:lpwstr>
  </property>
  <property fmtid="{D5CDD505-2E9C-101B-9397-08002B2CF9AE}" pid="9" name="MSIP_Label_bd427607-ff6b-482e-86cf-85fc569e58cd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Dubai Health  - Internal Use </vt:lpwstr>
  </property>
</Properties>
</file>