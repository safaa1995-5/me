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2" r:id="rId2"/>
    <p:sldId id="263" r:id="rId3"/>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FEF"/>
    <a:srgbClr val="EFF6F0"/>
    <a:srgbClr val="FCFCFC"/>
    <a:srgbClr val="EAF2FA"/>
    <a:srgbClr val="EBF3FB"/>
    <a:srgbClr val="F0F7FC"/>
    <a:srgbClr val="153D58"/>
    <a:srgbClr val="F6F8FA"/>
    <a:srgbClr val="000000"/>
    <a:srgbClr val="E2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90" d="100"/>
          <a:sy n="90" d="100"/>
        </p:scale>
        <p:origin x="35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  
  
  
  
  
  <Relationship Id="rId9" Type="http://schemas.openxmlformats.org/officeDocument/2006/relationships/slide" Target="slides/slide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DFE732-48EA-4853-9CFF-17CB7222D2C8}" type="datetimeFigureOut">
              <a:rPr lang="en-US" smtClean="0"/>
              <a:t>15/07/2026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99CEEC-B799-4806-BF33-2F1ABD3AF6E6}" type="slidenum">
              <a:rPr lang="en-US" smtClean="0"/>
              <a:t>‹#›</a:t>
            </a:fld>
            <a:endParaRPr lang="en-US"/>
          </a:p>
        </p:txBody>
      </p:sp>
    </p:spTree>
    <p:extLst>
      <p:ext uri="{BB962C8B-B14F-4D97-AF65-F5344CB8AC3E}">
        <p14:creationId xmlns:p14="http://schemas.microsoft.com/office/powerpoint/2010/main" val="4060270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BB3A49-C2E8-4AAC-8A15-78724902F19A}" type="slidenum">
              <a:rPr kumimoji="0" lang="en-A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0260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A6651-22D0-C2A1-DD78-883F74120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1CF9F-3446-78FB-A4BE-DC5DC8808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23251-CFBF-1FCB-BE28-85410709878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9C5DDF-CD7C-22C8-45CE-B82E266526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BB3A49-C2E8-4AAC-8A15-78724902F19A}" type="slidenum">
              <a:rPr kumimoji="0" lang="en-A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9981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8152-80AB-89F7-6CAE-8B2555EE1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FBE0B1-8B85-CADA-9AC5-063C88111A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C50823-85B3-8758-37AF-247A043C7B9F}"/>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CD45545B-F50F-CAEF-3562-F00435B2B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C69DC-9D35-5676-D1C9-4298AE818211}"/>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1468863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A25E-3374-147B-8E44-F08219AE1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F41CB2-0FD2-4FB3-93A1-203E8BB9EC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220FC-380B-038D-F581-5D1381282357}"/>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2A5D0D52-36FD-2AD1-D8EB-421F41C6B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5D19E-DE95-9A8D-8AEE-8265653D5E0E}"/>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1718551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34BE-9514-8303-D28B-5F9C970FFB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A7080D-995C-D94F-BC09-2AA6DFA137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1BC047-5D0F-2E98-5EED-995E1939E09F}"/>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E7296FA6-449E-D8F6-6850-57C2378B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1B1AB-6573-0F70-D59A-07675BED4A6E}"/>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568645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069-00A7-1F32-A582-A76262A01D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64C1F1-2ECD-5429-B341-2624C24B60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9EA14-E671-F467-F9A5-876E437A67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1760E1-1202-178E-95B0-C2B281724544}"/>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3A0543E9-024F-B941-6F20-31C7CDD1B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92A86-8DA1-322C-B909-AF864E4414A2}"/>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720526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7125-22E8-5503-F499-331AB338D3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A6CC6D-594D-B2C1-1799-409BB99BBF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3828DC-B3AA-57CF-68F7-82AB5D0ED1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292170-A996-94E6-9F5D-8BE92196B7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2A96C3-F3A9-36EA-D664-9027A5347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B7C2BC-82EB-0BAB-07AC-ABA6CEDB918C}"/>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8" name="Footer Placeholder 7">
            <a:extLst>
              <a:ext uri="{FF2B5EF4-FFF2-40B4-BE49-F238E27FC236}">
                <a16:creationId xmlns:a16="http://schemas.microsoft.com/office/drawing/2014/main" id="{BD5F99A8-EAE3-37BC-2E80-199024E212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2C89AA-66D9-E1C1-2D1F-D2C097D26F98}"/>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054966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12B2-41B0-CC54-EED0-4A36594546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07A901-87F6-D4D1-9682-2198FCC8326D}"/>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4" name="Footer Placeholder 3">
            <a:extLst>
              <a:ext uri="{FF2B5EF4-FFF2-40B4-BE49-F238E27FC236}">
                <a16:creationId xmlns:a16="http://schemas.microsoft.com/office/drawing/2014/main" id="{15668013-D4CF-DD9A-589C-69FCCD20A5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1AADDE-FBA6-602C-2969-B1F57C2498D4}"/>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148155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826E5-9466-1615-9991-E8AA1241ED03}"/>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3" name="Footer Placeholder 2">
            <a:extLst>
              <a:ext uri="{FF2B5EF4-FFF2-40B4-BE49-F238E27FC236}">
                <a16:creationId xmlns:a16="http://schemas.microsoft.com/office/drawing/2014/main" id="{0AFA2AD1-4F4D-9AD0-84C9-8DC33CC456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BEA0B3-7CBE-058F-CB2C-8A56409F1780}"/>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774350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03D37-1168-B845-D79F-E2812C09D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99113A-6358-4EEC-916E-8F4003D73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AB1628-A041-8453-71DF-F4B5D0DD5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B12319-A4EF-199F-1D68-9FADB62AA05E}"/>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4B7DFEC8-73EE-EBC2-8ABB-CD9B25361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646FB9-E857-418B-A0CD-0884D4340C1D}"/>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7726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DE1A-F9D4-3B17-E88B-F3CBD5820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0C0FEC-0BC0-4FCF-473F-F22974324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91BE0-F997-F05B-4D6D-83FD11015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C1538-A26E-BA66-C230-7E539EFEAD89}"/>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448F5C37-8D86-4D44-55E4-04594361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40758-BB36-8D83-FBB4-B00443A62CDC}"/>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74151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69A6-1108-C472-5C7F-931AD43B90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C5854A-DACA-2390-2DFD-866E2AE572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24050D-4D7D-8190-9D38-40391F0014EA}"/>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73F99A7A-9083-935C-4941-78786F242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C22C7-1E33-F8B4-A595-3232FA3740C5}"/>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82837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3EF21D-00BB-69C5-1844-BE4F358A9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F52D13-47E6-3D1F-541D-E0E3001A04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60D657-7DAF-8D1C-4F19-882D562904A3}"/>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47F91839-4A90-0727-1BE9-BE377C5D5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2B5104-54B1-53FC-DBB2-20D3C1B6BF8C}"/>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69595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620779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5F9FD-6A12-0179-05FA-D739067A8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8B5469-6284-8450-E539-458827A582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46C2F-A2C2-7907-17E0-AFE333FD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993FB1F5-A9A9-84CA-16E4-8568CB54AB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B47181-8B38-877C-A5EC-259FCB7194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0378DC-AEFB-4A8E-A452-880052F72D3C}" type="slidenum">
              <a:rPr lang="en-US" smtClean="0"/>
              <a:t>‹#›</a:t>
            </a:fld>
            <a:endParaRPr lang="en-US"/>
          </a:p>
        </p:txBody>
      </p:sp>
      <p:sp>
        <p:nvSpPr>
          <p:cNvPr id="8" name="TextBox 7">
            <a:extLst>
              <a:ext uri="{FF2B5EF4-FFF2-40B4-BE49-F238E27FC236}">
                <a16:creationId xmlns:a16="http://schemas.microsoft.com/office/drawing/2014/main" id="{B82A2AFF-22CF-4A8D-6D6B-0B3432EC7972}"/>
              </a:ext>
            </a:extLst>
          </p:cNvPr>
          <p:cNvSpPr txBox="1"/>
          <p:nvPr userDrawn="1">
            <p:extLst>
              <p:ext uri="{1162E1C5-73C7-4A58-AE30-91384D911F3F}">
                <p184:classification xmlns:p184="http://schemas.microsoft.com/office/powerpoint/2018/4/main" val="ftr"/>
              </p:ext>
            </p:extLst>
          </p:nvPr>
        </p:nvSpPr>
        <p:spPr>
          <a:xfrm>
            <a:off x="10707688" y="6642100"/>
            <a:ext cx="1477962" cy="152400"/>
          </a:xfrm>
          <a:prstGeom prst="rect">
            <a:avLst/>
          </a:prstGeom>
        </p:spPr>
        <p:txBody>
          <a:bodyPr horzOverflow="overflow" lIns="0" tIns="0" rIns="0" bIns="0">
            <a:spAutoFit/>
          </a:bodyPr>
          <a:lstStyle/>
          <a:p>
            <a:pPr algn="l"/>
            <a:r>
              <a:rPr lang="en-US"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Dubai Health  - Internal Use </a:t>
            </a:r>
          </a:p>
        </p:txBody>
      </p:sp>
    </p:spTree>
    <p:extLst>
      <p:ext uri="{BB962C8B-B14F-4D97-AF65-F5344CB8AC3E}">
        <p14:creationId xmlns:p14="http://schemas.microsoft.com/office/powerpoint/2010/main" val="631014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EAFD-F627-9981-9B4E-21AC76D460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FE3E04-621C-C04E-B403-AE0B051D03A3}"/>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5" name="Rectangle 4">
            <a:extLst>
              <a:ext uri="{FF2B5EF4-FFF2-40B4-BE49-F238E27FC236}">
                <a16:creationId xmlns:a16="http://schemas.microsoft.com/office/drawing/2014/main" id="{CF04BE40-B3F2-C2B2-10A9-B1C6FED40F2E}"/>
              </a:ext>
            </a:extLst>
          </p:cNvPr>
          <p:cNvSpPr/>
          <p:nvPr/>
        </p:nvSpPr>
        <p:spPr>
          <a:xfrm>
            <a:off x="8572981" y="2124071"/>
            <a:ext cx="3617126" cy="4733929"/>
          </a:xfrm>
          <a:prstGeom prst="rect">
            <a:avLst/>
          </a:prstGeom>
          <a:solidFill>
            <a:schemeClr val="accent4">
              <a:lumMod val="20000"/>
              <a:lumOff val="80000"/>
            </a:schemeClr>
          </a:solidFill>
          <a:ln w="28575" cap="rnd">
            <a:no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100" b="0" i="1" u="none" strike="noStrike" kern="1200" cap="none" spc="0" normalizeH="0" baseline="0" noProof="0">
              <a:ln>
                <a:noFill/>
              </a:ln>
              <a:solidFill>
                <a:srgbClr val="37373A"/>
              </a:solidFill>
              <a:effectLst/>
              <a:uLnTx/>
              <a:uFillTx/>
              <a:latin typeface="Aptos Display" panose="02110004020202020204"/>
              <a:ea typeface="Lato" panose="020F0502020204030203" pitchFamily="34" charset="0"/>
              <a:cs typeface="Lato" panose="020F0502020204030203" pitchFamily="34" charset="0"/>
              <a:sym typeface="Helvetica Neue Medium"/>
            </a:endParaRPr>
          </a:p>
        </p:txBody>
      </p:sp>
      <p:sp>
        <p:nvSpPr>
          <p:cNvPr id="6" name="Rectangle 5">
            <a:extLst>
              <a:ext uri="{FF2B5EF4-FFF2-40B4-BE49-F238E27FC236}">
                <a16:creationId xmlns:a16="http://schemas.microsoft.com/office/drawing/2014/main" id="{0A37A411-9DD4-9547-7E70-2A25A7FA1018}"/>
              </a:ext>
            </a:extLst>
          </p:cNvPr>
          <p:cNvSpPr/>
          <p:nvPr/>
        </p:nvSpPr>
        <p:spPr>
          <a:xfrm>
            <a:off x="0"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7" name="Rectangle 6">
            <a:extLst>
              <a:ext uri="{FF2B5EF4-FFF2-40B4-BE49-F238E27FC236}">
                <a16:creationId xmlns:a16="http://schemas.microsoft.com/office/drawing/2014/main" id="{81229949-549E-0179-C50D-2089A0854F40}"/>
              </a:ext>
            </a:extLst>
          </p:cNvPr>
          <p:cNvSpPr/>
          <p:nvPr/>
        </p:nvSpPr>
        <p:spPr>
          <a:xfrm>
            <a:off x="0"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Expected Benefit</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8" name="TextBox 7">
            <a:extLst>
              <a:ext uri="{FF2B5EF4-FFF2-40B4-BE49-F238E27FC236}">
                <a16:creationId xmlns:a16="http://schemas.microsoft.com/office/drawing/2014/main" id="{905F32E8-7453-3BA7-F79F-BDEB3AA9AE25}"/>
              </a:ext>
            </a:extLst>
          </p:cNvPr>
          <p:cNvSpPr txBox="1"/>
          <p:nvPr/>
        </p:nvSpPr>
        <p:spPr>
          <a:xfrm>
            <a:off x="111464"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Reduces time on repetitive triage</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Converts requests into structured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Consistent classification and routing</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AI output validated before action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for high-impact operations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Reusable across IT Support</a:t>
            </a:r>
          </a:p>
        </p:txBody>
      </p:sp>
      <p:sp>
        <p:nvSpPr>
          <p:cNvPr id="9" name="Rectangle 8">
            <a:extLst>
              <a:ext uri="{FF2B5EF4-FFF2-40B4-BE49-F238E27FC236}">
                <a16:creationId xmlns:a16="http://schemas.microsoft.com/office/drawing/2014/main" id="{ED3D5260-5FCD-CE89-B42D-133C22562423}"/>
              </a:ext>
            </a:extLst>
          </p:cNvPr>
          <p:cNvSpPr/>
          <p:nvPr/>
        </p:nvSpPr>
        <p:spPr>
          <a:xfrm>
            <a:off x="4362714"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08E5FA76-EF49-68CD-670E-D44236501BD9}"/>
              </a:ext>
            </a:extLst>
          </p:cNvPr>
          <p:cNvSpPr/>
          <p:nvPr/>
        </p:nvSpPr>
        <p:spPr>
          <a:xfrm>
            <a:off x="4362714"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Key Audience</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7DEF7286-FB08-6D45-2D14-EE64FBF4DED2}"/>
              </a:ext>
            </a:extLst>
          </p:cNvPr>
          <p:cNvSpPr txBox="1"/>
          <p:nvPr/>
        </p:nvSpPr>
        <p:spPr>
          <a:xfrm>
            <a:off x="4474178"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&amp; Application Support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Service Desk &amp; System Administrators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Operations &amp; Digital Transformation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Information Security &amp; Governance Teams</a:t>
            </a:r>
          </a:p>
        </p:txBody>
      </p:sp>
      <p:sp>
        <p:nvSpPr>
          <p:cNvPr id="12" name="Rectangle 11">
            <a:extLst>
              <a:ext uri="{FF2B5EF4-FFF2-40B4-BE49-F238E27FC236}">
                <a16:creationId xmlns:a16="http://schemas.microsoft.com/office/drawing/2014/main" id="{3C315958-04D3-6FCE-1225-A3934700D38F}"/>
              </a:ext>
            </a:extLst>
          </p:cNvPr>
          <p:cNvSpPr/>
          <p:nvPr/>
        </p:nvSpPr>
        <p:spPr>
          <a:xfrm>
            <a:off x="0"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024E56C4-C4EE-84F6-D9A5-2ECEAA616324}"/>
              </a:ext>
            </a:extLst>
          </p:cNvPr>
          <p:cNvSpPr/>
          <p:nvPr/>
        </p:nvSpPr>
        <p:spPr>
          <a:xfrm>
            <a:off x="0"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Data Requirement </a:t>
            </a:r>
            <a:r>
              <a:rPr kumimoji="0" lang="en-US" sz="900" b="0" i="1" u="none" strike="noStrike" kern="1200" cap="none" spc="0" normalizeH="0" baseline="0" noProof="0">
                <a:ln>
                  <a:noFill/>
                </a:ln>
                <a:solidFill>
                  <a:prstClr val="white"/>
                </a:solidFill>
                <a:effectLst/>
                <a:uLnTx/>
                <a:uFillTx/>
                <a:latin typeface="Aptos Display" panose="02110004020202020204"/>
                <a:ea typeface="+mn-ea"/>
                <a:cs typeface="+mn-cs"/>
              </a:rPr>
              <a:t>(Data Type)</a:t>
            </a:r>
            <a:endParaRPr kumimoji="0" lang="en-ZA" sz="900" b="0" i="1"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4" name="TextBox 13">
            <a:extLst>
              <a:ext uri="{FF2B5EF4-FFF2-40B4-BE49-F238E27FC236}">
                <a16:creationId xmlns:a16="http://schemas.microsoft.com/office/drawing/2014/main" id="{AA0F9929-F002-F115-19C9-B40320FDE7DE}"/>
              </a:ext>
            </a:extLst>
          </p:cNvPr>
          <p:cNvSpPr txBox="1"/>
          <p:nvPr/>
        </p:nvSpPr>
        <p:spPr>
          <a:xfrm>
            <a:off x="111464"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Support request emails and descriptions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User, identity, application &amp; configuration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reference and master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Knowledge base and support documentation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Workflow, approval, ticket &amp; audit records</a:t>
            </a:r>
          </a:p>
        </p:txBody>
      </p:sp>
      <p:sp>
        <p:nvSpPr>
          <p:cNvPr id="15" name="Rectangle 14">
            <a:extLst>
              <a:ext uri="{FF2B5EF4-FFF2-40B4-BE49-F238E27FC236}">
                <a16:creationId xmlns:a16="http://schemas.microsoft.com/office/drawing/2014/main" id="{2409FE7A-88F1-AEF3-53FF-DA2ED2B1B431}"/>
              </a:ext>
            </a:extLst>
          </p:cNvPr>
          <p:cNvSpPr/>
          <p:nvPr/>
        </p:nvSpPr>
        <p:spPr>
          <a:xfrm>
            <a:off x="4362714"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1F7A0187-735D-FF17-B197-9030CE3A4BE7}"/>
              </a:ext>
            </a:extLst>
          </p:cNvPr>
          <p:cNvSpPr/>
          <p:nvPr/>
        </p:nvSpPr>
        <p:spPr>
          <a:xfrm>
            <a:off x="4362714"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ptos Display" panose="02110004020202020204"/>
                <a:ea typeface="+mn-ea"/>
                <a:cs typeface="+mn-cs"/>
              </a:rPr>
              <a:t>System Dependencies </a:t>
            </a:r>
            <a:r>
              <a:rPr kumimoji="0" lang="pt-BR" sz="900" b="0" i="1" u="none" strike="noStrike" kern="1200" cap="none" spc="0" normalizeH="0" baseline="0" noProof="0">
                <a:ln>
                  <a:noFill/>
                </a:ln>
                <a:solidFill>
                  <a:prstClr val="white"/>
                </a:solidFill>
                <a:effectLst/>
                <a:uLnTx/>
                <a:uFillTx/>
                <a:latin typeface="Aptos Display" panose="02110004020202020204"/>
                <a:ea typeface="+mn-ea"/>
                <a:cs typeface="+mn-cs"/>
              </a:rPr>
              <a:t>(EMR/ERP/ etc)</a:t>
            </a:r>
          </a:p>
        </p:txBody>
      </p:sp>
      <p:sp>
        <p:nvSpPr>
          <p:cNvPr id="17" name="Rectangle 16">
            <a:extLst>
              <a:ext uri="{FF2B5EF4-FFF2-40B4-BE49-F238E27FC236}">
                <a16:creationId xmlns:a16="http://schemas.microsoft.com/office/drawing/2014/main" id="{A0B95D43-1988-2228-5820-5E6B6B9106AD}"/>
              </a:ext>
            </a:extLst>
          </p:cNvPr>
          <p:cNvSpPr/>
          <p:nvPr/>
        </p:nvSpPr>
        <p:spPr>
          <a:xfrm>
            <a:off x="-1" y="2391980"/>
            <a:ext cx="8572981"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8E9846AB-B4B6-1E85-BB42-7D265134D88A}"/>
              </a:ext>
            </a:extLst>
          </p:cNvPr>
          <p:cNvSpPr/>
          <p:nvPr/>
        </p:nvSpPr>
        <p:spPr>
          <a:xfrm>
            <a:off x="-1" y="2141994"/>
            <a:ext cx="8572981"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Problem Statement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9" name="TextBox 18">
            <a:extLst>
              <a:ext uri="{FF2B5EF4-FFF2-40B4-BE49-F238E27FC236}">
                <a16:creationId xmlns:a16="http://schemas.microsoft.com/office/drawing/2014/main" id="{0CFE59FE-DE5D-4A75-806A-CB2ED3BF7FCF}"/>
              </a:ext>
            </a:extLst>
          </p:cNvPr>
          <p:cNvSpPr txBox="1"/>
          <p:nvPr/>
        </p:nvSpPr>
        <p:spPr>
          <a:xfrm>
            <a:off x="228538" y="2562900"/>
            <a:ext cx="8115903"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teams spend significant time manually interpreting unstructured requests, verifying configurations, and preparing technical instructions before ticket creation. This increases resolution time and can cause inconsistent handling. Generative AI serves as an intelligent first layer of support, converting unstructured requests into structured data. Deterministic workflow logic validates AI output against trusted enterprise reference data, and human approval is maintained for privileged or high-impact operations.</a:t>
            </a:r>
          </a:p>
        </p:txBody>
      </p:sp>
      <p:sp>
        <p:nvSpPr>
          <p:cNvPr id="30" name="Lorem Ipsum">
            <a:extLst>
              <a:ext uri="{FF2B5EF4-FFF2-40B4-BE49-F238E27FC236}">
                <a16:creationId xmlns:a16="http://schemas.microsoft.com/office/drawing/2014/main" id="{2E9DD8CA-4E03-C700-965B-38CF9BEFC483}"/>
              </a:ext>
            </a:extLst>
          </p:cNvPr>
          <p:cNvSpPr txBox="1">
            <a:spLocks/>
          </p:cNvSpPr>
          <p:nvPr/>
        </p:nvSpPr>
        <p:spPr>
          <a:xfrm>
            <a:off x="9033207" y="2502916"/>
            <a:ext cx="2699925" cy="279744"/>
          </a:xfrm>
          <a:prstGeom prst="rect">
            <a:avLst/>
          </a:prstGeom>
        </p:spPr>
        <p:txBody>
          <a:bodyPr lIns="0" anchor="t">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ctr" defTabSz="412750" rtl="0" eaLnBrk="1" fontAlgn="auto" latinLnBrk="0" hangingPunct="1">
              <a:lnSpc>
                <a:spcPct val="100000"/>
              </a:lnSpc>
              <a:spcBef>
                <a:spcPts val="0"/>
              </a:spcBef>
              <a:spcAft>
                <a:spcPts val="0"/>
              </a:spcAft>
              <a:buClrTx/>
              <a:buSzTx/>
              <a:buFontTx/>
              <a:buNone/>
              <a:tabLst/>
              <a:defRPr/>
            </a:pPr>
            <a:r>
              <a:rPr kumimoji="0" lang="pl-PL" sz="1600" b="1" i="0" u="none" strike="noStrike" kern="0" cap="none" spc="0" normalizeH="0" baseline="0" noProof="0">
                <a:ln>
                  <a:noFill/>
                </a:ln>
                <a:solidFill>
                  <a:prstClr val="black">
                    <a:lumMod val="75000"/>
                    <a:lumOff val="25000"/>
                  </a:prstClr>
                </a:solidFill>
                <a:effectLst/>
                <a:uLnTx/>
                <a:uFillTx/>
                <a:latin typeface="Aptos Display" panose="02110004020202020204"/>
                <a:sym typeface="Helvetica Neue"/>
              </a:rPr>
              <a:t>Prioritization Outcomes</a:t>
            </a:r>
          </a:p>
        </p:txBody>
      </p:sp>
      <p:grpSp>
        <p:nvGrpSpPr>
          <p:cNvPr id="31" name="Group 30">
            <a:extLst>
              <a:ext uri="{FF2B5EF4-FFF2-40B4-BE49-F238E27FC236}">
                <a16:creationId xmlns:a16="http://schemas.microsoft.com/office/drawing/2014/main" id="{49B0A36D-19A6-A428-A8A5-52249E40BAE3}"/>
              </a:ext>
            </a:extLst>
          </p:cNvPr>
          <p:cNvGrpSpPr/>
          <p:nvPr/>
        </p:nvGrpSpPr>
        <p:grpSpPr>
          <a:xfrm>
            <a:off x="8855985" y="2949624"/>
            <a:ext cx="3510427" cy="426575"/>
            <a:chOff x="8855985" y="2856587"/>
            <a:chExt cx="3510427" cy="426575"/>
          </a:xfrm>
        </p:grpSpPr>
        <p:grpSp>
          <p:nvGrpSpPr>
            <p:cNvPr id="32" name="Group 31">
              <a:extLst>
                <a:ext uri="{FF2B5EF4-FFF2-40B4-BE49-F238E27FC236}">
                  <a16:creationId xmlns:a16="http://schemas.microsoft.com/office/drawing/2014/main" id="{86221D86-4493-A2B8-CCA6-C3053CD4CE62}"/>
                </a:ext>
              </a:extLst>
            </p:cNvPr>
            <p:cNvGrpSpPr/>
            <p:nvPr/>
          </p:nvGrpSpPr>
          <p:grpSpPr>
            <a:xfrm>
              <a:off x="8855985" y="2893604"/>
              <a:ext cx="1728429" cy="352541"/>
              <a:chOff x="8751288" y="2540042"/>
              <a:chExt cx="1728429" cy="352541"/>
            </a:xfrm>
          </p:grpSpPr>
          <p:pic>
            <p:nvPicPr>
              <p:cNvPr id="35" name="Graphic 34" descr="Diamond">
                <a:extLst>
                  <a:ext uri="{FF2B5EF4-FFF2-40B4-BE49-F238E27FC236}">
                    <a16:creationId xmlns:a16="http://schemas.microsoft.com/office/drawing/2014/main" id="{229C0E19-76AD-FEDE-522F-5E3930EC5845}"/>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51288" y="2540042"/>
                <a:ext cx="352541" cy="352541"/>
              </a:xfrm>
              <a:prstGeom prst="rect">
                <a:avLst/>
              </a:prstGeom>
            </p:spPr>
          </p:pic>
          <p:sp>
            <p:nvSpPr>
              <p:cNvPr id="36" name="Text Placeholder 10">
                <a:extLst>
                  <a:ext uri="{FF2B5EF4-FFF2-40B4-BE49-F238E27FC236}">
                    <a16:creationId xmlns:a16="http://schemas.microsoft.com/office/drawing/2014/main" id="{2112C4EA-BA63-E997-357A-CFF4BFF5DB8B}"/>
                  </a:ext>
                </a:extLst>
              </p:cNvPr>
              <p:cNvSpPr txBox="1">
                <a:spLocks/>
              </p:cNvSpPr>
              <p:nvPr/>
            </p:nvSpPr>
            <p:spPr>
              <a:xfrm>
                <a:off x="9153892" y="2608590"/>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en-GB"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Value</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pic>
          <p:nvPicPr>
            <p:cNvPr id="33" name="Graphic 32" descr="Single gear">
              <a:extLst>
                <a:ext uri="{FF2B5EF4-FFF2-40B4-BE49-F238E27FC236}">
                  <a16:creationId xmlns:a16="http://schemas.microsoft.com/office/drawing/2014/main" id="{8BF3D001-F120-93D6-E440-C94BC5113C49}"/>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4840" y="2856587"/>
              <a:ext cx="426575" cy="426575"/>
            </a:xfrm>
            <a:prstGeom prst="rect">
              <a:avLst/>
            </a:prstGeom>
          </p:spPr>
        </p:pic>
        <p:sp>
          <p:nvSpPr>
            <p:cNvPr id="34" name="Text Placeholder 10">
              <a:extLst>
                <a:ext uri="{FF2B5EF4-FFF2-40B4-BE49-F238E27FC236}">
                  <a16:creationId xmlns:a16="http://schemas.microsoft.com/office/drawing/2014/main" id="{4E22C927-008C-6AEF-1171-6F0C4B8623E5}"/>
                </a:ext>
              </a:extLst>
            </p:cNvPr>
            <p:cNvSpPr txBox="1">
              <a:spLocks/>
            </p:cNvSpPr>
            <p:nvPr/>
          </p:nvSpPr>
          <p:spPr>
            <a:xfrm>
              <a:off x="11040587" y="2962152"/>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pl-PL"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Feasibility</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sp>
        <p:nvSpPr>
          <p:cNvPr id="37" name="Rectangle 36">
            <a:extLst>
              <a:ext uri="{FF2B5EF4-FFF2-40B4-BE49-F238E27FC236}">
                <a16:creationId xmlns:a16="http://schemas.microsoft.com/office/drawing/2014/main" id="{23E0AE76-D866-BED9-CE70-E289877BF672}"/>
              </a:ext>
            </a:extLst>
          </p:cNvPr>
          <p:cNvSpPr/>
          <p:nvPr/>
        </p:nvSpPr>
        <p:spPr>
          <a:xfrm>
            <a:off x="8803430" y="6333805"/>
            <a:ext cx="151253" cy="145349"/>
          </a:xfrm>
          <a:prstGeom prst="rect">
            <a:avLst/>
          </a:prstGeom>
          <a:solidFill>
            <a:schemeClr val="bg1">
              <a:lumMod val="8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E8E8E8">
                  <a:lumMod val="10000"/>
                </a:srgbClr>
              </a:solidFill>
              <a:effectLst/>
              <a:uLnTx/>
              <a:uFillTx/>
              <a:latin typeface="Aptos Display" panose="02110004020202020204"/>
              <a:ea typeface="+mn-ea"/>
              <a:cs typeface="+mn-cs"/>
            </a:endParaRPr>
          </a:p>
        </p:txBody>
      </p:sp>
      <p:sp>
        <p:nvSpPr>
          <p:cNvPr id="38" name="Rectangle 37">
            <a:extLst>
              <a:ext uri="{FF2B5EF4-FFF2-40B4-BE49-F238E27FC236}">
                <a16:creationId xmlns:a16="http://schemas.microsoft.com/office/drawing/2014/main" id="{F466D4BA-DF2E-1120-9352-A1ACBE2AD202}"/>
              </a:ext>
            </a:extLst>
          </p:cNvPr>
          <p:cNvSpPr/>
          <p:nvPr/>
        </p:nvSpPr>
        <p:spPr>
          <a:xfrm>
            <a:off x="8902882"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ptos Display" panose="02110004020202020204"/>
                <a:ea typeface="+mn-ea"/>
                <a:cs typeface="+mn-cs"/>
              </a:rPr>
              <a:t>0 – 6  months </a:t>
            </a:r>
          </a:p>
        </p:txBody>
      </p:sp>
      <p:sp>
        <p:nvSpPr>
          <p:cNvPr id="39" name="Rectangle 38">
            <a:extLst>
              <a:ext uri="{FF2B5EF4-FFF2-40B4-BE49-F238E27FC236}">
                <a16:creationId xmlns:a16="http://schemas.microsoft.com/office/drawing/2014/main" id="{EC40CF54-A9D9-D288-3A90-1BA412C2E2B2}"/>
              </a:ext>
            </a:extLst>
          </p:cNvPr>
          <p:cNvSpPr/>
          <p:nvPr/>
        </p:nvSpPr>
        <p:spPr>
          <a:xfrm>
            <a:off x="9850775" y="6333805"/>
            <a:ext cx="151253" cy="145349"/>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0" name="Rectangle 39">
            <a:extLst>
              <a:ext uri="{FF2B5EF4-FFF2-40B4-BE49-F238E27FC236}">
                <a16:creationId xmlns:a16="http://schemas.microsoft.com/office/drawing/2014/main" id="{B46428DE-DA9C-47A8-13C9-FF47AB511DD1}"/>
              </a:ext>
            </a:extLst>
          </p:cNvPr>
          <p:cNvSpPr/>
          <p:nvPr/>
        </p:nvSpPr>
        <p:spPr>
          <a:xfrm>
            <a:off x="9950227"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6-12 months</a:t>
            </a:r>
          </a:p>
        </p:txBody>
      </p:sp>
      <p:sp>
        <p:nvSpPr>
          <p:cNvPr id="41" name="Rectangle 40">
            <a:extLst>
              <a:ext uri="{FF2B5EF4-FFF2-40B4-BE49-F238E27FC236}">
                <a16:creationId xmlns:a16="http://schemas.microsoft.com/office/drawing/2014/main" id="{26843225-2817-A485-A457-FA6FAEBF693A}"/>
              </a:ext>
            </a:extLst>
          </p:cNvPr>
          <p:cNvSpPr/>
          <p:nvPr/>
        </p:nvSpPr>
        <p:spPr>
          <a:xfrm>
            <a:off x="10901043" y="6333805"/>
            <a:ext cx="151253" cy="145349"/>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2" name="Rectangle 41">
            <a:extLst>
              <a:ext uri="{FF2B5EF4-FFF2-40B4-BE49-F238E27FC236}">
                <a16:creationId xmlns:a16="http://schemas.microsoft.com/office/drawing/2014/main" id="{3C45D53E-C8EC-E0BD-2D76-200AE0CC4C21}"/>
              </a:ext>
            </a:extLst>
          </p:cNvPr>
          <p:cNvSpPr/>
          <p:nvPr/>
        </p:nvSpPr>
        <p:spPr>
          <a:xfrm>
            <a:off x="11000495"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&gt;12 months</a:t>
            </a:r>
          </a:p>
        </p:txBody>
      </p:sp>
      <p:sp>
        <p:nvSpPr>
          <p:cNvPr id="43" name="Rectangle 42">
            <a:extLst>
              <a:ext uri="{FF2B5EF4-FFF2-40B4-BE49-F238E27FC236}">
                <a16:creationId xmlns:a16="http://schemas.microsoft.com/office/drawing/2014/main" id="{62525520-FED7-E1BC-0D6A-77FADAE57B29}"/>
              </a:ext>
            </a:extLst>
          </p:cNvPr>
          <p:cNvSpPr/>
          <p:nvPr/>
        </p:nvSpPr>
        <p:spPr>
          <a:xfrm>
            <a:off x="8828414" y="3600892"/>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Clinical Impact </a:t>
            </a:r>
          </a:p>
        </p:txBody>
      </p:sp>
      <p:sp>
        <p:nvSpPr>
          <p:cNvPr id="44" name="Rectangle 43">
            <a:extLst>
              <a:ext uri="{FF2B5EF4-FFF2-40B4-BE49-F238E27FC236}">
                <a16:creationId xmlns:a16="http://schemas.microsoft.com/office/drawing/2014/main" id="{4AF2EB77-D051-EFE9-048E-4474C558E26A}"/>
              </a:ext>
            </a:extLst>
          </p:cNvPr>
          <p:cNvSpPr/>
          <p:nvPr/>
        </p:nvSpPr>
        <p:spPr>
          <a:xfrm>
            <a:off x="971960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5" name="Rectangle 44">
            <a:extLst>
              <a:ext uri="{FF2B5EF4-FFF2-40B4-BE49-F238E27FC236}">
                <a16:creationId xmlns:a16="http://schemas.microsoft.com/office/drawing/2014/main" id="{A8463498-C10A-291F-51B7-2A9C097B0190}"/>
              </a:ext>
            </a:extLst>
          </p:cNvPr>
          <p:cNvSpPr/>
          <p:nvPr/>
        </p:nvSpPr>
        <p:spPr>
          <a:xfrm>
            <a:off x="971840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L</a:t>
            </a:r>
          </a:p>
        </p:txBody>
      </p:sp>
      <p:sp>
        <p:nvSpPr>
          <p:cNvPr id="46" name="Rectangle 45">
            <a:extLst>
              <a:ext uri="{FF2B5EF4-FFF2-40B4-BE49-F238E27FC236}">
                <a16:creationId xmlns:a16="http://schemas.microsoft.com/office/drawing/2014/main" id="{EA20F5FB-0B11-8F67-DC2F-0FBDE49ACDE3}"/>
              </a:ext>
            </a:extLst>
          </p:cNvPr>
          <p:cNvSpPr/>
          <p:nvPr/>
        </p:nvSpPr>
        <p:spPr>
          <a:xfrm>
            <a:off x="9883443" y="3655291"/>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7" name="Rectangle 46">
            <a:extLst>
              <a:ext uri="{FF2B5EF4-FFF2-40B4-BE49-F238E27FC236}">
                <a16:creationId xmlns:a16="http://schemas.microsoft.com/office/drawing/2014/main" id="{BEE8B475-1B08-21BB-F428-00EE0E07F4E9}"/>
              </a:ext>
            </a:extLst>
          </p:cNvPr>
          <p:cNvSpPr/>
          <p:nvPr/>
        </p:nvSpPr>
        <p:spPr>
          <a:xfrm>
            <a:off x="988224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48" name="Rectangle 47">
            <a:extLst>
              <a:ext uri="{FF2B5EF4-FFF2-40B4-BE49-F238E27FC236}">
                <a16:creationId xmlns:a16="http://schemas.microsoft.com/office/drawing/2014/main" id="{6760311F-B28C-1E02-AC7D-90A662898519}"/>
              </a:ext>
            </a:extLst>
          </p:cNvPr>
          <p:cNvSpPr/>
          <p:nvPr/>
        </p:nvSpPr>
        <p:spPr>
          <a:xfrm>
            <a:off x="10047281" y="3543163"/>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9" name="Rectangle 48">
            <a:extLst>
              <a:ext uri="{FF2B5EF4-FFF2-40B4-BE49-F238E27FC236}">
                <a16:creationId xmlns:a16="http://schemas.microsoft.com/office/drawing/2014/main" id="{C52DA895-F995-3FA4-5101-88FD32BBAC86}"/>
              </a:ext>
            </a:extLst>
          </p:cNvPr>
          <p:cNvSpPr/>
          <p:nvPr/>
        </p:nvSpPr>
        <p:spPr>
          <a:xfrm>
            <a:off x="1004607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0" name="Rectangle 49">
            <a:extLst>
              <a:ext uri="{FF2B5EF4-FFF2-40B4-BE49-F238E27FC236}">
                <a16:creationId xmlns:a16="http://schemas.microsoft.com/office/drawing/2014/main" id="{ACE39411-3BFB-E9D6-40B7-5D6A8750DD50}"/>
              </a:ext>
            </a:extLst>
          </p:cNvPr>
          <p:cNvSpPr/>
          <p:nvPr/>
        </p:nvSpPr>
        <p:spPr>
          <a:xfrm>
            <a:off x="10322147" y="3600892"/>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Technical Feasibility</a:t>
            </a:r>
          </a:p>
        </p:txBody>
      </p:sp>
      <p:sp>
        <p:nvSpPr>
          <p:cNvPr id="51" name="Rectangle 50">
            <a:extLst>
              <a:ext uri="{FF2B5EF4-FFF2-40B4-BE49-F238E27FC236}">
                <a16:creationId xmlns:a16="http://schemas.microsoft.com/office/drawing/2014/main" id="{5F5F8CF1-83E5-A55D-A303-4BBC5968CD4E}"/>
              </a:ext>
            </a:extLst>
          </p:cNvPr>
          <p:cNvSpPr/>
          <p:nvPr/>
        </p:nvSpPr>
        <p:spPr>
          <a:xfrm>
            <a:off x="1142624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2" name="Rectangle 51">
            <a:extLst>
              <a:ext uri="{FF2B5EF4-FFF2-40B4-BE49-F238E27FC236}">
                <a16:creationId xmlns:a16="http://schemas.microsoft.com/office/drawing/2014/main" id="{2622546B-1A62-C598-58F6-007FA12324EB}"/>
              </a:ext>
            </a:extLst>
          </p:cNvPr>
          <p:cNvSpPr/>
          <p:nvPr/>
        </p:nvSpPr>
        <p:spPr>
          <a:xfrm>
            <a:off x="1142504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53" name="Rectangle 52">
            <a:extLst>
              <a:ext uri="{FF2B5EF4-FFF2-40B4-BE49-F238E27FC236}">
                <a16:creationId xmlns:a16="http://schemas.microsoft.com/office/drawing/2014/main" id="{4932AFD6-9782-5703-5C85-BBFF0809671A}"/>
              </a:ext>
            </a:extLst>
          </p:cNvPr>
          <p:cNvSpPr/>
          <p:nvPr/>
        </p:nvSpPr>
        <p:spPr>
          <a:xfrm>
            <a:off x="11590083" y="3655291"/>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4" name="Rectangle 53">
            <a:extLst>
              <a:ext uri="{FF2B5EF4-FFF2-40B4-BE49-F238E27FC236}">
                <a16:creationId xmlns:a16="http://schemas.microsoft.com/office/drawing/2014/main" id="{A4EF3908-76D9-FD4F-CE78-8057E70E98BA}"/>
              </a:ext>
            </a:extLst>
          </p:cNvPr>
          <p:cNvSpPr/>
          <p:nvPr/>
        </p:nvSpPr>
        <p:spPr>
          <a:xfrm>
            <a:off x="1158888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55" name="Rectangle 54">
            <a:extLst>
              <a:ext uri="{FF2B5EF4-FFF2-40B4-BE49-F238E27FC236}">
                <a16:creationId xmlns:a16="http://schemas.microsoft.com/office/drawing/2014/main" id="{95645F8C-F278-3289-7AE0-87DBDD44380A}"/>
              </a:ext>
            </a:extLst>
          </p:cNvPr>
          <p:cNvSpPr/>
          <p:nvPr/>
        </p:nvSpPr>
        <p:spPr>
          <a:xfrm>
            <a:off x="11753921" y="3543163"/>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6" name="Rectangle 55">
            <a:extLst>
              <a:ext uri="{FF2B5EF4-FFF2-40B4-BE49-F238E27FC236}">
                <a16:creationId xmlns:a16="http://schemas.microsoft.com/office/drawing/2014/main" id="{3AEB7464-C2C8-4126-96AF-B66D6D64E6C6}"/>
              </a:ext>
            </a:extLst>
          </p:cNvPr>
          <p:cNvSpPr/>
          <p:nvPr/>
        </p:nvSpPr>
        <p:spPr>
          <a:xfrm>
            <a:off x="1175271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7" name="Rectangle 56">
            <a:extLst>
              <a:ext uri="{FF2B5EF4-FFF2-40B4-BE49-F238E27FC236}">
                <a16:creationId xmlns:a16="http://schemas.microsoft.com/office/drawing/2014/main" id="{D8E4F83C-AE03-11E9-D4C9-91B0FAC42D65}"/>
              </a:ext>
            </a:extLst>
          </p:cNvPr>
          <p:cNvSpPr/>
          <p:nvPr/>
        </p:nvSpPr>
        <p:spPr>
          <a:xfrm>
            <a:off x="8828414" y="4226373"/>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Business Impact</a:t>
            </a:r>
          </a:p>
        </p:txBody>
      </p:sp>
      <p:sp>
        <p:nvSpPr>
          <p:cNvPr id="58" name="Rectangle 57">
            <a:extLst>
              <a:ext uri="{FF2B5EF4-FFF2-40B4-BE49-F238E27FC236}">
                <a16:creationId xmlns:a16="http://schemas.microsoft.com/office/drawing/2014/main" id="{B9C941F1-94F7-1EC5-B89D-5297D1E1648C}"/>
              </a:ext>
            </a:extLst>
          </p:cNvPr>
          <p:cNvSpPr/>
          <p:nvPr/>
        </p:nvSpPr>
        <p:spPr>
          <a:xfrm>
            <a:off x="971960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9" name="Rectangle 58">
            <a:extLst>
              <a:ext uri="{FF2B5EF4-FFF2-40B4-BE49-F238E27FC236}">
                <a16:creationId xmlns:a16="http://schemas.microsoft.com/office/drawing/2014/main" id="{C8C56F1B-023B-A87E-AB27-F7626C66F6C5}"/>
              </a:ext>
            </a:extLst>
          </p:cNvPr>
          <p:cNvSpPr/>
          <p:nvPr/>
        </p:nvSpPr>
        <p:spPr>
          <a:xfrm>
            <a:off x="971840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0" name="Rectangle 59">
            <a:extLst>
              <a:ext uri="{FF2B5EF4-FFF2-40B4-BE49-F238E27FC236}">
                <a16:creationId xmlns:a16="http://schemas.microsoft.com/office/drawing/2014/main" id="{F94FFA98-AD82-505D-0160-DD203A552B8F}"/>
              </a:ext>
            </a:extLst>
          </p:cNvPr>
          <p:cNvSpPr/>
          <p:nvPr/>
        </p:nvSpPr>
        <p:spPr>
          <a:xfrm>
            <a:off x="9883443" y="4280772"/>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1" name="Rectangle 60">
            <a:extLst>
              <a:ext uri="{FF2B5EF4-FFF2-40B4-BE49-F238E27FC236}">
                <a16:creationId xmlns:a16="http://schemas.microsoft.com/office/drawing/2014/main" id="{FC6636E6-AA96-A03E-30E7-7D0E4EA83878}"/>
              </a:ext>
            </a:extLst>
          </p:cNvPr>
          <p:cNvSpPr/>
          <p:nvPr/>
        </p:nvSpPr>
        <p:spPr>
          <a:xfrm>
            <a:off x="988224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62" name="Rectangle 61">
            <a:extLst>
              <a:ext uri="{FF2B5EF4-FFF2-40B4-BE49-F238E27FC236}">
                <a16:creationId xmlns:a16="http://schemas.microsoft.com/office/drawing/2014/main" id="{D658DF67-83C5-F841-3018-027327E1766F}"/>
              </a:ext>
            </a:extLst>
          </p:cNvPr>
          <p:cNvSpPr/>
          <p:nvPr/>
        </p:nvSpPr>
        <p:spPr>
          <a:xfrm>
            <a:off x="10047281" y="4168644"/>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3" name="Rectangle 62">
            <a:extLst>
              <a:ext uri="{FF2B5EF4-FFF2-40B4-BE49-F238E27FC236}">
                <a16:creationId xmlns:a16="http://schemas.microsoft.com/office/drawing/2014/main" id="{49278D8C-A2CA-E6B1-0959-9BB76C1CA994}"/>
              </a:ext>
            </a:extLst>
          </p:cNvPr>
          <p:cNvSpPr/>
          <p:nvPr/>
        </p:nvSpPr>
        <p:spPr>
          <a:xfrm>
            <a:off x="1004607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64" name="Rectangle 63">
            <a:extLst>
              <a:ext uri="{FF2B5EF4-FFF2-40B4-BE49-F238E27FC236}">
                <a16:creationId xmlns:a16="http://schemas.microsoft.com/office/drawing/2014/main" id="{C8D529CF-BB8E-A6F7-A253-BA15EAF06D63}"/>
              </a:ext>
            </a:extLst>
          </p:cNvPr>
          <p:cNvSpPr/>
          <p:nvPr/>
        </p:nvSpPr>
        <p:spPr>
          <a:xfrm>
            <a:off x="10322147" y="4226373"/>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Organizational Feasibility</a:t>
            </a:r>
          </a:p>
        </p:txBody>
      </p:sp>
      <p:sp>
        <p:nvSpPr>
          <p:cNvPr id="65" name="Rectangle 64">
            <a:extLst>
              <a:ext uri="{FF2B5EF4-FFF2-40B4-BE49-F238E27FC236}">
                <a16:creationId xmlns:a16="http://schemas.microsoft.com/office/drawing/2014/main" id="{398F3108-3201-C62C-2D61-925528633E22}"/>
              </a:ext>
            </a:extLst>
          </p:cNvPr>
          <p:cNvSpPr/>
          <p:nvPr/>
        </p:nvSpPr>
        <p:spPr>
          <a:xfrm>
            <a:off x="1142624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6" name="Rectangle 65">
            <a:extLst>
              <a:ext uri="{FF2B5EF4-FFF2-40B4-BE49-F238E27FC236}">
                <a16:creationId xmlns:a16="http://schemas.microsoft.com/office/drawing/2014/main" id="{55E04679-88B3-6E9A-342D-6A76593E5720}"/>
              </a:ext>
            </a:extLst>
          </p:cNvPr>
          <p:cNvSpPr/>
          <p:nvPr/>
        </p:nvSpPr>
        <p:spPr>
          <a:xfrm>
            <a:off x="1142504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7" name="Rectangle 66">
            <a:extLst>
              <a:ext uri="{FF2B5EF4-FFF2-40B4-BE49-F238E27FC236}">
                <a16:creationId xmlns:a16="http://schemas.microsoft.com/office/drawing/2014/main" id="{AD7C70B0-EE0F-5923-6C26-945375F996B5}"/>
              </a:ext>
            </a:extLst>
          </p:cNvPr>
          <p:cNvSpPr/>
          <p:nvPr/>
        </p:nvSpPr>
        <p:spPr>
          <a:xfrm>
            <a:off x="11590083" y="4280772"/>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8" name="Rectangle 67">
            <a:extLst>
              <a:ext uri="{FF2B5EF4-FFF2-40B4-BE49-F238E27FC236}">
                <a16:creationId xmlns:a16="http://schemas.microsoft.com/office/drawing/2014/main" id="{3463BCAF-BBAA-E275-7853-32184761B809}"/>
              </a:ext>
            </a:extLst>
          </p:cNvPr>
          <p:cNvSpPr/>
          <p:nvPr/>
        </p:nvSpPr>
        <p:spPr>
          <a:xfrm>
            <a:off x="1158888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69" name="Rectangle 68">
            <a:extLst>
              <a:ext uri="{FF2B5EF4-FFF2-40B4-BE49-F238E27FC236}">
                <a16:creationId xmlns:a16="http://schemas.microsoft.com/office/drawing/2014/main" id="{B9551A0D-DA16-0575-9CCC-A757EBF1E875}"/>
              </a:ext>
            </a:extLst>
          </p:cNvPr>
          <p:cNvSpPr/>
          <p:nvPr/>
        </p:nvSpPr>
        <p:spPr>
          <a:xfrm>
            <a:off x="11753921" y="4168644"/>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0" name="Rectangle 69">
            <a:extLst>
              <a:ext uri="{FF2B5EF4-FFF2-40B4-BE49-F238E27FC236}">
                <a16:creationId xmlns:a16="http://schemas.microsoft.com/office/drawing/2014/main" id="{E1AFEC15-CFCD-0AA4-83B2-C72271158BCE}"/>
              </a:ext>
            </a:extLst>
          </p:cNvPr>
          <p:cNvSpPr/>
          <p:nvPr/>
        </p:nvSpPr>
        <p:spPr>
          <a:xfrm>
            <a:off x="1175271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71" name="Rectangle 70">
            <a:extLst>
              <a:ext uri="{FF2B5EF4-FFF2-40B4-BE49-F238E27FC236}">
                <a16:creationId xmlns:a16="http://schemas.microsoft.com/office/drawing/2014/main" id="{CA27EF73-3D72-5A67-3E06-E35E6EA96231}"/>
              </a:ext>
            </a:extLst>
          </p:cNvPr>
          <p:cNvSpPr/>
          <p:nvPr/>
        </p:nvSpPr>
        <p:spPr>
          <a:xfrm>
            <a:off x="8828414" y="4851854"/>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Strategic Alignment</a:t>
            </a:r>
          </a:p>
        </p:txBody>
      </p:sp>
      <p:sp>
        <p:nvSpPr>
          <p:cNvPr id="72" name="Rectangle 71">
            <a:extLst>
              <a:ext uri="{FF2B5EF4-FFF2-40B4-BE49-F238E27FC236}">
                <a16:creationId xmlns:a16="http://schemas.microsoft.com/office/drawing/2014/main" id="{74752DBD-DAA9-9228-D15D-CD542E2C6E2C}"/>
              </a:ext>
            </a:extLst>
          </p:cNvPr>
          <p:cNvSpPr/>
          <p:nvPr/>
        </p:nvSpPr>
        <p:spPr>
          <a:xfrm>
            <a:off x="971960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3" name="Rectangle 72">
            <a:extLst>
              <a:ext uri="{FF2B5EF4-FFF2-40B4-BE49-F238E27FC236}">
                <a16:creationId xmlns:a16="http://schemas.microsoft.com/office/drawing/2014/main" id="{A1D1D402-8B61-4E68-A677-2E84EE94D4B6}"/>
              </a:ext>
            </a:extLst>
          </p:cNvPr>
          <p:cNvSpPr/>
          <p:nvPr/>
        </p:nvSpPr>
        <p:spPr>
          <a:xfrm>
            <a:off x="971840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74" name="Rectangle 73">
            <a:extLst>
              <a:ext uri="{FF2B5EF4-FFF2-40B4-BE49-F238E27FC236}">
                <a16:creationId xmlns:a16="http://schemas.microsoft.com/office/drawing/2014/main" id="{6C02BCC3-4C24-29A7-01CE-F9431373E5D0}"/>
              </a:ext>
            </a:extLst>
          </p:cNvPr>
          <p:cNvSpPr/>
          <p:nvPr/>
        </p:nvSpPr>
        <p:spPr>
          <a:xfrm>
            <a:off x="9883443" y="4906253"/>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5" name="Rectangle 74">
            <a:extLst>
              <a:ext uri="{FF2B5EF4-FFF2-40B4-BE49-F238E27FC236}">
                <a16:creationId xmlns:a16="http://schemas.microsoft.com/office/drawing/2014/main" id="{A3BE1649-2519-0303-3A7F-ED1E46F25FD8}"/>
              </a:ext>
            </a:extLst>
          </p:cNvPr>
          <p:cNvSpPr/>
          <p:nvPr/>
        </p:nvSpPr>
        <p:spPr>
          <a:xfrm>
            <a:off x="988224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76" name="Rectangle 75">
            <a:extLst>
              <a:ext uri="{FF2B5EF4-FFF2-40B4-BE49-F238E27FC236}">
                <a16:creationId xmlns:a16="http://schemas.microsoft.com/office/drawing/2014/main" id="{22109F5B-099B-89C8-EA2B-EC0C69E6ACA1}"/>
              </a:ext>
            </a:extLst>
          </p:cNvPr>
          <p:cNvSpPr/>
          <p:nvPr/>
        </p:nvSpPr>
        <p:spPr>
          <a:xfrm>
            <a:off x="10047281" y="4794125"/>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7" name="Rectangle 76">
            <a:extLst>
              <a:ext uri="{FF2B5EF4-FFF2-40B4-BE49-F238E27FC236}">
                <a16:creationId xmlns:a16="http://schemas.microsoft.com/office/drawing/2014/main" id="{98F07B3E-F433-AD0B-0BEF-A31BB5BB02AD}"/>
              </a:ext>
            </a:extLst>
          </p:cNvPr>
          <p:cNvSpPr/>
          <p:nvPr/>
        </p:nvSpPr>
        <p:spPr>
          <a:xfrm>
            <a:off x="1004607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78" name="Rectangle 77">
            <a:extLst>
              <a:ext uri="{FF2B5EF4-FFF2-40B4-BE49-F238E27FC236}">
                <a16:creationId xmlns:a16="http://schemas.microsoft.com/office/drawing/2014/main" id="{8FFBDEAF-9DFD-CD98-AA6B-1A65643DBC58}"/>
              </a:ext>
            </a:extLst>
          </p:cNvPr>
          <p:cNvSpPr/>
          <p:nvPr/>
        </p:nvSpPr>
        <p:spPr>
          <a:xfrm>
            <a:off x="10322147" y="4851854"/>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Cost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Feasibility</a:t>
            </a:r>
          </a:p>
        </p:txBody>
      </p:sp>
      <p:sp>
        <p:nvSpPr>
          <p:cNvPr id="79" name="Rectangle 78">
            <a:extLst>
              <a:ext uri="{FF2B5EF4-FFF2-40B4-BE49-F238E27FC236}">
                <a16:creationId xmlns:a16="http://schemas.microsoft.com/office/drawing/2014/main" id="{5CB4C78C-9A65-6F19-48F7-6BBD1535CC9C}"/>
              </a:ext>
            </a:extLst>
          </p:cNvPr>
          <p:cNvSpPr/>
          <p:nvPr/>
        </p:nvSpPr>
        <p:spPr>
          <a:xfrm>
            <a:off x="1142624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0" name="Rectangle 79">
            <a:extLst>
              <a:ext uri="{FF2B5EF4-FFF2-40B4-BE49-F238E27FC236}">
                <a16:creationId xmlns:a16="http://schemas.microsoft.com/office/drawing/2014/main" id="{282B9CC1-7870-92B9-13EF-A756F025855D}"/>
              </a:ext>
            </a:extLst>
          </p:cNvPr>
          <p:cNvSpPr/>
          <p:nvPr/>
        </p:nvSpPr>
        <p:spPr>
          <a:xfrm>
            <a:off x="1142504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81" name="Rectangle 80">
            <a:extLst>
              <a:ext uri="{FF2B5EF4-FFF2-40B4-BE49-F238E27FC236}">
                <a16:creationId xmlns:a16="http://schemas.microsoft.com/office/drawing/2014/main" id="{29FEA1E3-1064-6856-533A-2FA09F7A5BD8}"/>
              </a:ext>
            </a:extLst>
          </p:cNvPr>
          <p:cNvSpPr/>
          <p:nvPr/>
        </p:nvSpPr>
        <p:spPr>
          <a:xfrm>
            <a:off x="11590083" y="4906253"/>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2" name="Rectangle 81">
            <a:extLst>
              <a:ext uri="{FF2B5EF4-FFF2-40B4-BE49-F238E27FC236}">
                <a16:creationId xmlns:a16="http://schemas.microsoft.com/office/drawing/2014/main" id="{1250A546-277B-4A0B-2E4D-60AB8975D0E9}"/>
              </a:ext>
            </a:extLst>
          </p:cNvPr>
          <p:cNvSpPr/>
          <p:nvPr/>
        </p:nvSpPr>
        <p:spPr>
          <a:xfrm>
            <a:off x="1158888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83" name="Rectangle 82">
            <a:extLst>
              <a:ext uri="{FF2B5EF4-FFF2-40B4-BE49-F238E27FC236}">
                <a16:creationId xmlns:a16="http://schemas.microsoft.com/office/drawing/2014/main" id="{0C706363-6564-B126-7AC3-1B25D6648839}"/>
              </a:ext>
            </a:extLst>
          </p:cNvPr>
          <p:cNvSpPr/>
          <p:nvPr/>
        </p:nvSpPr>
        <p:spPr>
          <a:xfrm>
            <a:off x="11753921" y="4794125"/>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4" name="Rectangle 83">
            <a:extLst>
              <a:ext uri="{FF2B5EF4-FFF2-40B4-BE49-F238E27FC236}">
                <a16:creationId xmlns:a16="http://schemas.microsoft.com/office/drawing/2014/main" id="{3280B61D-B5FB-B4E1-16B8-EFB16190B8A1}"/>
              </a:ext>
            </a:extLst>
          </p:cNvPr>
          <p:cNvSpPr/>
          <p:nvPr/>
        </p:nvSpPr>
        <p:spPr>
          <a:xfrm>
            <a:off x="1175271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cxnSp>
        <p:nvCxnSpPr>
          <p:cNvPr id="85" name="Straight Connector 84">
            <a:extLst>
              <a:ext uri="{FF2B5EF4-FFF2-40B4-BE49-F238E27FC236}">
                <a16:creationId xmlns:a16="http://schemas.microsoft.com/office/drawing/2014/main" id="{4A26B469-9DF3-56A9-ECDA-B01BF6F91B39}"/>
              </a:ext>
            </a:extLst>
          </p:cNvPr>
          <p:cNvCxnSpPr>
            <a:cxnSpLocks/>
          </p:cNvCxnSpPr>
          <p:nvPr/>
        </p:nvCxnSpPr>
        <p:spPr>
          <a:xfrm rot="5400000">
            <a:off x="10381544" y="3876457"/>
            <a:ext cx="0" cy="3200400"/>
          </a:xfrm>
          <a:prstGeom prst="line">
            <a:avLst/>
          </a:prstGeom>
          <a:ln w="19050" cap="flat" cmpd="sng" algn="ctr">
            <a:gradFill>
              <a:gsLst>
                <a:gs pos="0">
                  <a:schemeClr val="accent4">
                    <a:lumMod val="20000"/>
                    <a:lumOff val="80000"/>
                  </a:schemeClr>
                </a:gs>
                <a:gs pos="32000">
                  <a:schemeClr val="tx2"/>
                </a:gs>
                <a:gs pos="70000">
                  <a:schemeClr val="accent1"/>
                </a:gs>
                <a:gs pos="100000">
                  <a:schemeClr val="accent4">
                    <a:lumMod val="20000"/>
                    <a:lumOff val="80000"/>
                  </a:schemeClr>
                </a:gs>
              </a:gsLst>
              <a:lin ang="5400000" scaled="1"/>
            </a:gra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86" name="Group 85">
            <a:extLst>
              <a:ext uri="{FF2B5EF4-FFF2-40B4-BE49-F238E27FC236}">
                <a16:creationId xmlns:a16="http://schemas.microsoft.com/office/drawing/2014/main" id="{5C1432BE-A1FC-143E-02E0-5EA81C225D59}"/>
              </a:ext>
            </a:extLst>
          </p:cNvPr>
          <p:cNvGrpSpPr/>
          <p:nvPr/>
        </p:nvGrpSpPr>
        <p:grpSpPr>
          <a:xfrm>
            <a:off x="9401362" y="5704988"/>
            <a:ext cx="1960365" cy="400486"/>
            <a:chOff x="9352965" y="5558314"/>
            <a:chExt cx="1960365" cy="400486"/>
          </a:xfrm>
        </p:grpSpPr>
        <p:sp>
          <p:nvSpPr>
            <p:cNvPr id="87" name="Rectangle 86">
              <a:extLst>
                <a:ext uri="{FF2B5EF4-FFF2-40B4-BE49-F238E27FC236}">
                  <a16:creationId xmlns:a16="http://schemas.microsoft.com/office/drawing/2014/main" id="{8A7AD7FE-76EB-1167-2F3B-3CFB14107CB7}"/>
                </a:ext>
              </a:extLst>
            </p:cNvPr>
            <p:cNvSpPr/>
            <p:nvPr/>
          </p:nvSpPr>
          <p:spPr>
            <a:xfrm>
              <a:off x="9608782" y="5604668"/>
              <a:ext cx="1704548" cy="307777"/>
            </a:xfrm>
            <a:prstGeom prst="rect">
              <a:avLst/>
            </a:prstGeom>
          </p:spPr>
          <p:txBody>
            <a:bodyPr wrap="square" anchor="ctr">
              <a:sp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73370"/>
                  </a:solidFill>
                  <a:effectLst/>
                  <a:uLnTx/>
                  <a:uFillTx/>
                  <a:latin typeface="Aptos Display" panose="02110004020202020204"/>
                  <a:ea typeface="+mn-ea"/>
                  <a:cs typeface="+mn-cs"/>
                  <a:sym typeface="Helvetica Neue Medium"/>
                </a:rPr>
                <a:t>Time to Deploy </a:t>
              </a:r>
            </a:p>
          </p:txBody>
        </p:sp>
        <p:pic>
          <p:nvPicPr>
            <p:cNvPr id="88" name="Graphic 87" descr="Stopwatch 75% with solid fill">
              <a:extLst>
                <a:ext uri="{FF2B5EF4-FFF2-40B4-BE49-F238E27FC236}">
                  <a16:creationId xmlns:a16="http://schemas.microsoft.com/office/drawing/2014/main" id="{337987AC-B45B-547D-BBD9-69746E57B5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965" y="5558314"/>
              <a:ext cx="400486" cy="400486"/>
            </a:xfrm>
            <a:prstGeom prst="rect">
              <a:avLst/>
            </a:prstGeom>
          </p:spPr>
        </p:pic>
      </p:grpSp>
      <p:sp>
        <p:nvSpPr>
          <p:cNvPr id="90" name="Oval 89">
            <a:extLst>
              <a:ext uri="{FF2B5EF4-FFF2-40B4-BE49-F238E27FC236}">
                <a16:creationId xmlns:a16="http://schemas.microsoft.com/office/drawing/2014/main" id="{2B40313E-5848-3707-DBC8-5A50F56B2740}"/>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09663201-2DEE-BD55-A788-BEF4DD2B70D7}"/>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17EEAA63-D6FB-FD67-1420-486F56F0C481}"/>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Production Vision Overview</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7082A433-B81E-58E1-EA97-055776D526F4}"/>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Enterprise production architecture and business case for AI-Powered IT Support Request Automation</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4903B4B0-061F-E427-1274-9C22A5915FCC}"/>
              </a:ext>
            </a:extLst>
          </p:cNvPr>
          <p:cNvSpPr txBox="1"/>
          <p:nvPr/>
        </p:nvSpPr>
        <p:spPr>
          <a:xfrm>
            <a:off x="4474178"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Power Platform, GenAI platform &amp; AI Gateway</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systems, APIs &amp; identity services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ITSM &amp; Microsoft 365 collaboration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Security, governance &amp; audit controls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Premium connectors where required</a:t>
            </a:r>
          </a:p>
        </p:txBody>
      </p:sp>
    </p:spTree>
    <p:extLst>
      <p:ext uri="{BB962C8B-B14F-4D97-AF65-F5344CB8AC3E}">
        <p14:creationId xmlns:p14="http://schemas.microsoft.com/office/powerpoint/2010/main" val="2084743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C0C6-9CD5-625C-A68A-8E736FC05C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2614E11-CB5F-79EE-3640-8B77121D1460}"/>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9" name="Rectangle 8">
            <a:extLst>
              <a:ext uri="{FF2B5EF4-FFF2-40B4-BE49-F238E27FC236}">
                <a16:creationId xmlns:a16="http://schemas.microsoft.com/office/drawing/2014/main" id="{F3C2B0BA-9F44-3BA4-1AF1-1D22AFD718E4}"/>
              </a:ext>
            </a:extLst>
          </p:cNvPr>
          <p:cNvSpPr/>
          <p:nvPr/>
        </p:nvSpPr>
        <p:spPr>
          <a:xfrm>
            <a:off x="471945" y="5520341"/>
            <a:ext cx="4005666" cy="1249396"/>
          </a:xfrm>
          <a:prstGeom prst="rect">
            <a:avLst/>
          </a:prstGeom>
          <a:solidFill>
            <a:srgbClr val="EAF2FA"/>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8D2B6269-35E1-61D3-C4AA-5C08973FD56A}"/>
              </a:ext>
            </a:extLst>
          </p:cNvPr>
          <p:cNvSpPr/>
          <p:nvPr/>
        </p:nvSpPr>
        <p:spPr>
          <a:xfrm>
            <a:off x="471945" y="5270355"/>
            <a:ext cx="400566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Key B</a:t>
            </a:r>
            <a:r>
              <a:rPr lang="en-US" sz="1200" b="1" dirty="0" err="1">
                <a:solidFill>
                  <a:prstClr val="white"/>
                </a:solidFill>
                <a:latin typeface="Aptos Display" panose="02110004020202020204"/>
              </a:rPr>
              <a:t>enefits</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31A38E53-3528-CBC1-9634-5D1C75D462FE}"/>
              </a:ext>
            </a:extLst>
          </p:cNvPr>
          <p:cNvSpPr txBox="1"/>
          <p:nvPr/>
        </p:nvSpPr>
        <p:spPr>
          <a:xfrm>
            <a:off x="578728" y="5593453"/>
            <a:ext cx="379209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Faster request interpretation &amp; classification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Structured extraction from unstructured input</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AI output validated before downstream action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Consistent routing and workflow orchestration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required for high-impact actions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Reusable framework across IT Support scenarios</a:t>
            </a:r>
          </a:p>
        </p:txBody>
      </p:sp>
      <p:sp>
        <p:nvSpPr>
          <p:cNvPr id="12" name="Rectangle 11">
            <a:extLst>
              <a:ext uri="{FF2B5EF4-FFF2-40B4-BE49-F238E27FC236}">
                <a16:creationId xmlns:a16="http://schemas.microsoft.com/office/drawing/2014/main" id="{BA8B3D47-9586-F318-EBCC-FC1CE0DA3017}"/>
              </a:ext>
            </a:extLst>
          </p:cNvPr>
          <p:cNvSpPr/>
          <p:nvPr/>
        </p:nvSpPr>
        <p:spPr>
          <a:xfrm>
            <a:off x="4604502" y="5509394"/>
            <a:ext cx="3713608" cy="1249396"/>
          </a:xfrm>
          <a:prstGeom prst="rect">
            <a:avLst/>
          </a:prstGeom>
          <a:solidFill>
            <a:srgbClr val="FBEFEF"/>
          </a:solidFill>
          <a:ln w="38100" cap="flat">
            <a:solidFill>
              <a:srgbClr val="FBEFEF"/>
            </a:solid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R="0" lvl="0" algn="l" defTabSz="825500" rtl="0" eaLnBrk="1" fontAlgn="auto" latinLnBrk="0" hangingPunct="0">
              <a:lnSpc>
                <a:spcPct val="100000"/>
              </a:lnSpc>
              <a:spcBef>
                <a:spcPts val="0"/>
              </a:spcBef>
              <a:spcAft>
                <a:spcPts val="400"/>
              </a:spcAft>
              <a:buClrTx/>
              <a:buSzTx/>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FFA68BC5-A4D6-C458-AB71-77A86B5EEE9A}"/>
              </a:ext>
            </a:extLst>
          </p:cNvPr>
          <p:cNvSpPr/>
          <p:nvPr/>
        </p:nvSpPr>
        <p:spPr>
          <a:xfrm>
            <a:off x="4604502" y="5259408"/>
            <a:ext cx="3713608"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Risks/ Limitation</a:t>
            </a:r>
            <a:endParaRPr kumimoji="0" lang="en-ZA" sz="900" b="0" i="1"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5" name="Rectangle 14">
            <a:extLst>
              <a:ext uri="{FF2B5EF4-FFF2-40B4-BE49-F238E27FC236}">
                <a16:creationId xmlns:a16="http://schemas.microsoft.com/office/drawing/2014/main" id="{8257D77F-675E-8430-6E93-5141B1789A5F}"/>
              </a:ext>
            </a:extLst>
          </p:cNvPr>
          <p:cNvSpPr/>
          <p:nvPr/>
        </p:nvSpPr>
        <p:spPr>
          <a:xfrm>
            <a:off x="8465980" y="5509394"/>
            <a:ext cx="3556297" cy="1249396"/>
          </a:xfrm>
          <a:prstGeom prst="rect">
            <a:avLst/>
          </a:prstGeom>
          <a:solidFill>
            <a:srgbClr val="EFF6F0"/>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D4FD4A18-315F-887D-B207-1134CDF381CE}"/>
              </a:ext>
            </a:extLst>
          </p:cNvPr>
          <p:cNvSpPr/>
          <p:nvPr/>
        </p:nvSpPr>
        <p:spPr>
          <a:xfrm>
            <a:off x="8465980" y="5259408"/>
            <a:ext cx="3556297"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dirty="0">
                <a:ln>
                  <a:noFill/>
                </a:ln>
                <a:solidFill>
                  <a:prstClr val="white"/>
                </a:solidFill>
                <a:effectLst/>
                <a:uLnTx/>
                <a:uFillTx/>
                <a:latin typeface="Aptos Display" panose="02110004020202020204"/>
                <a:ea typeface="+mn-ea"/>
                <a:cs typeface="+mn-cs"/>
              </a:rPr>
              <a:t>Recommendation</a:t>
            </a:r>
            <a:endParaRPr kumimoji="0" lang="pt-BR" sz="900" b="0" i="1"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7" name="Rectangle 16">
            <a:extLst>
              <a:ext uri="{FF2B5EF4-FFF2-40B4-BE49-F238E27FC236}">
                <a16:creationId xmlns:a16="http://schemas.microsoft.com/office/drawing/2014/main" id="{FFCCB0C9-58BD-C308-B587-DA81C89E38C0}"/>
              </a:ext>
            </a:extLst>
          </p:cNvPr>
          <p:cNvSpPr/>
          <p:nvPr/>
        </p:nvSpPr>
        <p:spPr>
          <a:xfrm>
            <a:off x="471943" y="2391979"/>
            <a:ext cx="4424521" cy="2833689"/>
          </a:xfrm>
          <a:prstGeom prst="rect">
            <a:avLst/>
          </a:prstGeom>
          <a:solidFill>
            <a:schemeClr val="bg1"/>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1273C44B-55DB-678D-5527-47CF56D0AB4F}"/>
              </a:ext>
            </a:extLst>
          </p:cNvPr>
          <p:cNvSpPr/>
          <p:nvPr/>
        </p:nvSpPr>
        <p:spPr>
          <a:xfrm>
            <a:off x="499861" y="2141993"/>
            <a:ext cx="4396603" cy="213167"/>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AI Tool Information</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0" name="Oval 89">
            <a:extLst>
              <a:ext uri="{FF2B5EF4-FFF2-40B4-BE49-F238E27FC236}">
                <a16:creationId xmlns:a16="http://schemas.microsoft.com/office/drawing/2014/main" id="{3F4D131A-706D-BCAE-3F74-A868906AD925}"/>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63CA622A-AAAE-FBE3-CDF7-86F5EA322BC4}"/>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E8E4A182-8912-69B1-8B70-72E768A89F0C}"/>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Production Use Case Summary</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6F9C7C63-C88B-6926-2BB3-FCBA07978867}"/>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Enterprise production architecture for AI-Powered IT Support Request Automation across multiple IT Support scenarios</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A4BA618B-FE56-667A-19F1-6CE32D1D491B}"/>
              </a:ext>
            </a:extLst>
          </p:cNvPr>
          <p:cNvSpPr txBox="1"/>
          <p:nvPr/>
        </p:nvSpPr>
        <p:spPr>
          <a:xfrm>
            <a:off x="8480994" y="5680314"/>
            <a:ext cx="336668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Proceed with a phased implementation targeting up to 90% reduction in request preparation time (POC-demonstrated), subject to Enterprise Architecture, Information Security, AI Governance, and licensing approval.</a:t>
            </a:r>
          </a:p>
        </p:txBody>
      </p:sp>
      <p:sp>
        <p:nvSpPr>
          <p:cNvPr id="3" name="Rectangle 2">
            <a:extLst>
              <a:ext uri="{FF2B5EF4-FFF2-40B4-BE49-F238E27FC236}">
                <a16:creationId xmlns:a16="http://schemas.microsoft.com/office/drawing/2014/main" id="{E936B217-BABD-944E-5546-244F780C98F7}"/>
              </a:ext>
            </a:extLst>
          </p:cNvPr>
          <p:cNvSpPr/>
          <p:nvPr/>
        </p:nvSpPr>
        <p:spPr>
          <a:xfrm>
            <a:off x="4812225" y="2391980"/>
            <a:ext cx="6811619" cy="1728477"/>
          </a:xfrm>
          <a:prstGeom prst="rect">
            <a:avLst/>
          </a:prstGeom>
          <a:no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20" name="Rectangle 19">
            <a:extLst>
              <a:ext uri="{FF2B5EF4-FFF2-40B4-BE49-F238E27FC236}">
                <a16:creationId xmlns:a16="http://schemas.microsoft.com/office/drawing/2014/main" id="{11E6F743-0C8B-2167-D28F-D9E5C2C79C49}"/>
              </a:ext>
            </a:extLst>
          </p:cNvPr>
          <p:cNvSpPr/>
          <p:nvPr/>
        </p:nvSpPr>
        <p:spPr>
          <a:xfrm>
            <a:off x="5002653" y="2141993"/>
            <a:ext cx="6621191" cy="287841"/>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Process Impact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1" name="TextBox 20">
            <a:extLst>
              <a:ext uri="{FF2B5EF4-FFF2-40B4-BE49-F238E27FC236}">
                <a16:creationId xmlns:a16="http://schemas.microsoft.com/office/drawing/2014/main" id="{371D338D-9EA8-6A69-8ECB-DC179D72123D}"/>
              </a:ext>
            </a:extLst>
          </p:cNvPr>
          <p:cNvSpPr txBox="1"/>
          <p:nvPr/>
        </p:nvSpPr>
        <p:spPr>
          <a:xfrm>
            <a:off x="5127024" y="2601063"/>
            <a:ext cx="137405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Manual Process</a:t>
            </a: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sym typeface="Helvetica Neue Medium"/>
              </a:rPr>
              <a:t> Before AI</a:t>
            </a:r>
            <a:endPar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89" name="TextBox 88">
            <a:extLst>
              <a:ext uri="{FF2B5EF4-FFF2-40B4-BE49-F238E27FC236}">
                <a16:creationId xmlns:a16="http://schemas.microsoft.com/office/drawing/2014/main" id="{DAB939BA-39DD-C736-6E5D-6FC331F35557}"/>
              </a:ext>
            </a:extLst>
          </p:cNvPr>
          <p:cNvSpPr txBox="1"/>
          <p:nvPr/>
        </p:nvSpPr>
        <p:spPr>
          <a:xfrm>
            <a:off x="2176861" y="2539956"/>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Approved Generative AI Platform via governed AI Gateway</a:t>
            </a:r>
          </a:p>
        </p:txBody>
      </p:sp>
      <p:sp>
        <p:nvSpPr>
          <p:cNvPr id="97" name="TextBox 96">
            <a:extLst>
              <a:ext uri="{FF2B5EF4-FFF2-40B4-BE49-F238E27FC236}">
                <a16:creationId xmlns:a16="http://schemas.microsoft.com/office/drawing/2014/main" id="{EABC6977-510C-FE80-E033-96EDE34EAA80}"/>
              </a:ext>
            </a:extLst>
          </p:cNvPr>
          <p:cNvSpPr txBox="1"/>
          <p:nvPr/>
        </p:nvSpPr>
        <p:spPr>
          <a:xfrm>
            <a:off x="2176861" y="2979341"/>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Interprets and classifies unstructured IT support requests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98" name="TextBox 97">
            <a:extLst>
              <a:ext uri="{FF2B5EF4-FFF2-40B4-BE49-F238E27FC236}">
                <a16:creationId xmlns:a16="http://schemas.microsoft.com/office/drawing/2014/main" id="{7F0713DB-E2B6-BDE8-1BA1-E5B5BBD9C553}"/>
              </a:ext>
            </a:extLst>
          </p:cNvPr>
          <p:cNvSpPr txBox="1"/>
          <p:nvPr/>
        </p:nvSpPr>
        <p:spPr>
          <a:xfrm>
            <a:off x="2176861" y="3417756"/>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Yes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99" name="TextBox 98">
            <a:extLst>
              <a:ext uri="{FF2B5EF4-FFF2-40B4-BE49-F238E27FC236}">
                <a16:creationId xmlns:a16="http://schemas.microsoft.com/office/drawing/2014/main" id="{3D9F61DF-5D32-21F3-337C-77E8A6A4D8B9}"/>
              </a:ext>
            </a:extLst>
          </p:cNvPr>
          <p:cNvSpPr txBox="1"/>
          <p:nvPr/>
        </p:nvSpPr>
        <p:spPr>
          <a:xfrm>
            <a:off x="2176861" y="3858152"/>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subscription with required Power Platform licensing</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0" name="TextBox 99">
            <a:extLst>
              <a:ext uri="{FF2B5EF4-FFF2-40B4-BE49-F238E27FC236}">
                <a16:creationId xmlns:a16="http://schemas.microsoft.com/office/drawing/2014/main" id="{8F645731-3048-4E95-9FF8-D167128970C6}"/>
              </a:ext>
            </a:extLst>
          </p:cNvPr>
          <p:cNvSpPr txBox="1"/>
          <p:nvPr/>
        </p:nvSpPr>
        <p:spPr>
          <a:xfrm>
            <a:off x="2169783" y="4299065"/>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~$15/user/mo + AI usage (~$0.002–$0.004/req); est. $20–$400/mo total</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1" name="TextBox 100">
            <a:extLst>
              <a:ext uri="{FF2B5EF4-FFF2-40B4-BE49-F238E27FC236}">
                <a16:creationId xmlns:a16="http://schemas.microsoft.com/office/drawing/2014/main" id="{59A109B9-80CE-D803-FDB7-6BD6541EBE26}"/>
              </a:ext>
            </a:extLst>
          </p:cNvPr>
          <p:cNvSpPr txBox="1"/>
          <p:nvPr/>
        </p:nvSpPr>
        <p:spPr>
          <a:xfrm>
            <a:off x="2176861" y="4740343"/>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Yes — Power Platform, AI Gateway, Identity &amp; Data Services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4" name="Rectangle 103">
            <a:extLst>
              <a:ext uri="{FF2B5EF4-FFF2-40B4-BE49-F238E27FC236}">
                <a16:creationId xmlns:a16="http://schemas.microsoft.com/office/drawing/2014/main" id="{B37AF5C2-1860-5BA1-32B0-5FA87493973D}"/>
              </a:ext>
            </a:extLst>
          </p:cNvPr>
          <p:cNvSpPr/>
          <p:nvPr/>
        </p:nvSpPr>
        <p:spPr>
          <a:xfrm>
            <a:off x="576697" y="2544038"/>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AI Tool Used</a:t>
            </a:r>
          </a:p>
        </p:txBody>
      </p:sp>
      <p:sp>
        <p:nvSpPr>
          <p:cNvPr id="105" name="Rectangle 104">
            <a:extLst>
              <a:ext uri="{FF2B5EF4-FFF2-40B4-BE49-F238E27FC236}">
                <a16:creationId xmlns:a16="http://schemas.microsoft.com/office/drawing/2014/main" id="{36A293D3-3542-8C00-9187-CCF2ACC1EA65}"/>
              </a:ext>
            </a:extLst>
          </p:cNvPr>
          <p:cNvSpPr/>
          <p:nvPr/>
        </p:nvSpPr>
        <p:spPr>
          <a:xfrm>
            <a:off x="575231" y="3418210"/>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Subscription Required</a:t>
            </a:r>
          </a:p>
        </p:txBody>
      </p:sp>
      <p:sp>
        <p:nvSpPr>
          <p:cNvPr id="106" name="Rectangle 105">
            <a:extLst>
              <a:ext uri="{FF2B5EF4-FFF2-40B4-BE49-F238E27FC236}">
                <a16:creationId xmlns:a16="http://schemas.microsoft.com/office/drawing/2014/main" id="{A4DCE125-78A4-0F52-7BB6-DA8E147AEE5A}"/>
              </a:ext>
            </a:extLst>
          </p:cNvPr>
          <p:cNvSpPr/>
          <p:nvPr/>
        </p:nvSpPr>
        <p:spPr>
          <a:xfrm>
            <a:off x="575232" y="2978852"/>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Purpose of Tool</a:t>
            </a:r>
          </a:p>
        </p:txBody>
      </p:sp>
      <p:sp>
        <p:nvSpPr>
          <p:cNvPr id="108" name="Rectangle 107">
            <a:extLst>
              <a:ext uri="{FF2B5EF4-FFF2-40B4-BE49-F238E27FC236}">
                <a16:creationId xmlns:a16="http://schemas.microsoft.com/office/drawing/2014/main" id="{2BF7E89E-7996-B0C9-E776-02C8034C22D1}"/>
              </a:ext>
            </a:extLst>
          </p:cNvPr>
          <p:cNvSpPr/>
          <p:nvPr/>
        </p:nvSpPr>
        <p:spPr>
          <a:xfrm>
            <a:off x="575231" y="3860565"/>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Subscription Type</a:t>
            </a:r>
          </a:p>
        </p:txBody>
      </p:sp>
      <p:sp>
        <p:nvSpPr>
          <p:cNvPr id="109" name="Rectangle 108">
            <a:extLst>
              <a:ext uri="{FF2B5EF4-FFF2-40B4-BE49-F238E27FC236}">
                <a16:creationId xmlns:a16="http://schemas.microsoft.com/office/drawing/2014/main" id="{96FCCFB3-8302-A4EB-5214-53FBD471A67A}"/>
              </a:ext>
            </a:extLst>
          </p:cNvPr>
          <p:cNvSpPr/>
          <p:nvPr/>
        </p:nvSpPr>
        <p:spPr>
          <a:xfrm>
            <a:off x="575230" y="4304630"/>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Estimated Cost</a:t>
            </a:r>
          </a:p>
        </p:txBody>
      </p:sp>
      <p:sp>
        <p:nvSpPr>
          <p:cNvPr id="110" name="Rectangle 109">
            <a:extLst>
              <a:ext uri="{FF2B5EF4-FFF2-40B4-BE49-F238E27FC236}">
                <a16:creationId xmlns:a16="http://schemas.microsoft.com/office/drawing/2014/main" id="{B05CDB87-D7F2-FD4C-8650-82DB59DA7EFF}"/>
              </a:ext>
            </a:extLst>
          </p:cNvPr>
          <p:cNvSpPr/>
          <p:nvPr/>
        </p:nvSpPr>
        <p:spPr>
          <a:xfrm>
            <a:off x="572548" y="4743061"/>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Integration Required</a:t>
            </a:r>
          </a:p>
        </p:txBody>
      </p:sp>
      <p:pic>
        <p:nvPicPr>
          <p:cNvPr id="112" name="Picture 111"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2BEF79C9-9069-7BF9-17CE-DD94C863C16B}"/>
              </a:ext>
            </a:extLst>
          </p:cNvPr>
          <p:cNvPicPr>
            <a:picLocks noChangeAspect="1"/>
          </p:cNvPicPr>
          <p:nvPr/>
        </p:nvPicPr>
        <p:blipFill>
          <a:blip r:embed="rId4">
            <a:extLst>
              <a:ext uri="{28A0092B-C50C-407E-A947-70E740481C1C}">
                <a14:useLocalDpi xmlns:a14="http://schemas.microsoft.com/office/drawing/2010/main" val="0"/>
              </a:ext>
            </a:extLst>
          </a:blip>
          <a:srcRect t="2067" b="84274"/>
          <a:stretch>
            <a:fillRect/>
          </a:stretch>
        </p:blipFill>
        <p:spPr>
          <a:xfrm flipH="1">
            <a:off x="571086" y="2645686"/>
            <a:ext cx="255655" cy="219865"/>
          </a:xfrm>
          <a:prstGeom prst="rect">
            <a:avLst/>
          </a:prstGeom>
        </p:spPr>
      </p:pic>
      <p:pic>
        <p:nvPicPr>
          <p:cNvPr id="115" name="Picture 114"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7BE1993D-D408-083A-B2D7-9499267E470A}"/>
              </a:ext>
            </a:extLst>
          </p:cNvPr>
          <p:cNvPicPr>
            <a:picLocks noChangeAspect="1"/>
          </p:cNvPicPr>
          <p:nvPr/>
        </p:nvPicPr>
        <p:blipFill>
          <a:blip r:embed="rId4">
            <a:extLst>
              <a:ext uri="{28A0092B-C50C-407E-A947-70E740481C1C}">
                <a14:useLocalDpi xmlns:a14="http://schemas.microsoft.com/office/drawing/2010/main" val="0"/>
              </a:ext>
            </a:extLst>
          </a:blip>
          <a:srcRect l="3" t="20787" r="-3" b="65757"/>
          <a:stretch>
            <a:fillRect/>
          </a:stretch>
        </p:blipFill>
        <p:spPr>
          <a:xfrm flipH="1">
            <a:off x="568156" y="3100283"/>
            <a:ext cx="244982" cy="207559"/>
          </a:xfrm>
          <a:prstGeom prst="rect">
            <a:avLst/>
          </a:prstGeom>
        </p:spPr>
      </p:pic>
      <p:pic>
        <p:nvPicPr>
          <p:cNvPr id="117" name="Picture 116"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EE6B214E-52FB-008B-9BA8-BFC92402884D}"/>
              </a:ext>
            </a:extLst>
          </p:cNvPr>
          <p:cNvPicPr>
            <a:picLocks noChangeAspect="1"/>
          </p:cNvPicPr>
          <p:nvPr/>
        </p:nvPicPr>
        <p:blipFill>
          <a:blip r:embed="rId4">
            <a:extLst>
              <a:ext uri="{28A0092B-C50C-407E-A947-70E740481C1C}">
                <a14:useLocalDpi xmlns:a14="http://schemas.microsoft.com/office/drawing/2010/main" val="0"/>
              </a:ext>
            </a:extLst>
          </a:blip>
          <a:srcRect l="8425" t="38500" r="18327" b="50127"/>
          <a:stretch>
            <a:fillRect/>
          </a:stretch>
        </p:blipFill>
        <p:spPr>
          <a:xfrm flipH="1">
            <a:off x="605746" y="3540483"/>
            <a:ext cx="207392" cy="202759"/>
          </a:xfrm>
          <a:prstGeom prst="rect">
            <a:avLst/>
          </a:prstGeom>
        </p:spPr>
      </p:pic>
      <p:pic>
        <p:nvPicPr>
          <p:cNvPr id="118" name="Picture 117"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B81D2DF2-C98C-4E76-318B-0D80391192E7}"/>
              </a:ext>
            </a:extLst>
          </p:cNvPr>
          <p:cNvPicPr>
            <a:picLocks noChangeAspect="1"/>
          </p:cNvPicPr>
          <p:nvPr/>
        </p:nvPicPr>
        <p:blipFill>
          <a:blip r:embed="rId4">
            <a:extLst>
              <a:ext uri="{28A0092B-C50C-407E-A947-70E740481C1C}">
                <a14:useLocalDpi xmlns:a14="http://schemas.microsoft.com/office/drawing/2010/main" val="0"/>
              </a:ext>
            </a:extLst>
          </a:blip>
          <a:srcRect l="10436" t="53646" r="14675" b="32602"/>
          <a:stretch>
            <a:fillRect/>
          </a:stretch>
        </p:blipFill>
        <p:spPr>
          <a:xfrm flipH="1">
            <a:off x="575229" y="3934350"/>
            <a:ext cx="237883" cy="275047"/>
          </a:xfrm>
          <a:prstGeom prst="rect">
            <a:avLst/>
          </a:prstGeom>
        </p:spPr>
      </p:pic>
      <p:pic>
        <p:nvPicPr>
          <p:cNvPr id="120" name="Picture 119"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86871790-F269-2076-E617-CE5560BA7D59}"/>
              </a:ext>
            </a:extLst>
          </p:cNvPr>
          <p:cNvPicPr>
            <a:picLocks noChangeAspect="1"/>
          </p:cNvPicPr>
          <p:nvPr/>
        </p:nvPicPr>
        <p:blipFill>
          <a:blip r:embed="rId4">
            <a:extLst>
              <a:ext uri="{28A0092B-C50C-407E-A947-70E740481C1C}">
                <a14:useLocalDpi xmlns:a14="http://schemas.microsoft.com/office/drawing/2010/main" val="0"/>
              </a:ext>
            </a:extLst>
          </a:blip>
          <a:srcRect l="10438" t="71034" r="18814" b="16848"/>
          <a:stretch>
            <a:fillRect/>
          </a:stretch>
        </p:blipFill>
        <p:spPr>
          <a:xfrm flipH="1">
            <a:off x="600319" y="4394824"/>
            <a:ext cx="224727" cy="242382"/>
          </a:xfrm>
          <a:prstGeom prst="rect">
            <a:avLst/>
          </a:prstGeom>
        </p:spPr>
      </p:pic>
      <p:pic>
        <p:nvPicPr>
          <p:cNvPr id="121" name="Picture 120"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5F35632C-B5DC-9F94-FFC9-82206CA6F082}"/>
              </a:ext>
            </a:extLst>
          </p:cNvPr>
          <p:cNvPicPr>
            <a:picLocks noChangeAspect="1"/>
          </p:cNvPicPr>
          <p:nvPr/>
        </p:nvPicPr>
        <p:blipFill>
          <a:blip r:embed="rId4">
            <a:extLst>
              <a:ext uri="{28A0092B-C50C-407E-A947-70E740481C1C}">
                <a14:useLocalDpi xmlns:a14="http://schemas.microsoft.com/office/drawing/2010/main" val="0"/>
              </a:ext>
            </a:extLst>
          </a:blip>
          <a:srcRect l="8720" t="88534" r="18814"/>
          <a:stretch>
            <a:fillRect/>
          </a:stretch>
        </p:blipFill>
        <p:spPr>
          <a:xfrm flipH="1">
            <a:off x="600319" y="4838889"/>
            <a:ext cx="230184" cy="229347"/>
          </a:xfrm>
          <a:prstGeom prst="rect">
            <a:avLst/>
          </a:prstGeom>
        </p:spPr>
      </p:pic>
      <p:sp>
        <p:nvSpPr>
          <p:cNvPr id="122" name="TextBox 121">
            <a:extLst>
              <a:ext uri="{FF2B5EF4-FFF2-40B4-BE49-F238E27FC236}">
                <a16:creationId xmlns:a16="http://schemas.microsoft.com/office/drawing/2014/main" id="{A3D54FB8-4CD1-4474-B28B-BDE52A38A485}"/>
              </a:ext>
            </a:extLst>
          </p:cNvPr>
          <p:cNvSpPr txBox="1"/>
          <p:nvPr/>
        </p:nvSpPr>
        <p:spPr>
          <a:xfrm>
            <a:off x="6895841" y="2627054"/>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Process</a:t>
            </a: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sym typeface="Helvetica Neue Medium"/>
              </a:rPr>
              <a:t> Before AI</a:t>
            </a:r>
            <a:endPar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cxnSp>
        <p:nvCxnSpPr>
          <p:cNvPr id="124" name="Straight Connector 123">
            <a:extLst>
              <a:ext uri="{FF2B5EF4-FFF2-40B4-BE49-F238E27FC236}">
                <a16:creationId xmlns:a16="http://schemas.microsoft.com/office/drawing/2014/main" id="{FFF886C4-1AA9-1BB9-7E69-4DF419C8C6AF}"/>
              </a:ext>
            </a:extLst>
          </p:cNvPr>
          <p:cNvCxnSpPr>
            <a:cxnSpLocks/>
          </p:cNvCxnSpPr>
          <p:nvPr/>
        </p:nvCxnSpPr>
        <p:spPr>
          <a:xfrm>
            <a:off x="6619065" y="2698784"/>
            <a:ext cx="0" cy="1849421"/>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pic>
        <p:nvPicPr>
          <p:cNvPr id="126" name="Picture 125" descr="The diagram depicts a circular flowchart with a clock icon and a percentage increase, illustrating a process or progression over time.&#10;&#10;AI-generated content may be incorrect.">
            <a:extLst>
              <a:ext uri="{FF2B5EF4-FFF2-40B4-BE49-F238E27FC236}">
                <a16:creationId xmlns:a16="http://schemas.microsoft.com/office/drawing/2014/main" id="{10598265-71E3-2F8C-CF9C-3FC25F74975F}"/>
              </a:ext>
            </a:extLst>
          </p:cNvPr>
          <p:cNvPicPr>
            <a:picLocks noChangeAspect="1"/>
          </p:cNvPicPr>
          <p:nvPr/>
        </p:nvPicPr>
        <p:blipFill>
          <a:blip r:embed="rId5">
            <a:extLst>
              <a:ext uri="{28A0092B-C50C-407E-A947-70E740481C1C}">
                <a14:useLocalDpi xmlns:a14="http://schemas.microsoft.com/office/drawing/2010/main" val="0"/>
              </a:ext>
            </a:extLst>
          </a:blip>
          <a:srcRect l="881" t="7033" r="83840" b="4189"/>
          <a:stretch>
            <a:fillRect/>
          </a:stretch>
        </p:blipFill>
        <p:spPr>
          <a:xfrm>
            <a:off x="5484956" y="3213302"/>
            <a:ext cx="642567" cy="633670"/>
          </a:xfrm>
          <a:prstGeom prst="rect">
            <a:avLst/>
          </a:prstGeom>
        </p:spPr>
      </p:pic>
      <p:sp>
        <p:nvSpPr>
          <p:cNvPr id="129" name="Rectangle 128">
            <a:extLst>
              <a:ext uri="{FF2B5EF4-FFF2-40B4-BE49-F238E27FC236}">
                <a16:creationId xmlns:a16="http://schemas.microsoft.com/office/drawing/2014/main" id="{1F702B77-3F30-77A2-1934-26629EC17D8C}"/>
              </a:ext>
            </a:extLst>
          </p:cNvPr>
          <p:cNvSpPr/>
          <p:nvPr/>
        </p:nvSpPr>
        <p:spPr>
          <a:xfrm>
            <a:off x="5287115" y="4161481"/>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~15+ min</a:t>
            </a:r>
          </a:p>
        </p:txBody>
      </p:sp>
      <p:sp>
        <p:nvSpPr>
          <p:cNvPr id="130" name="Rectangle 129">
            <a:extLst>
              <a:ext uri="{FF2B5EF4-FFF2-40B4-BE49-F238E27FC236}">
                <a16:creationId xmlns:a16="http://schemas.microsoft.com/office/drawing/2014/main" id="{40681EA9-6D03-B830-50D8-6C198B560384}"/>
              </a:ext>
            </a:extLst>
          </p:cNvPr>
          <p:cNvSpPr/>
          <p:nvPr/>
        </p:nvSpPr>
        <p:spPr>
          <a:xfrm>
            <a:off x="6921808" y="4161480"/>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~1 min</a:t>
            </a:r>
          </a:p>
        </p:txBody>
      </p:sp>
      <p:sp>
        <p:nvSpPr>
          <p:cNvPr id="131" name="Rectangle 130">
            <a:extLst>
              <a:ext uri="{FF2B5EF4-FFF2-40B4-BE49-F238E27FC236}">
                <a16:creationId xmlns:a16="http://schemas.microsoft.com/office/drawing/2014/main" id="{F4C571C9-D328-F578-955F-950A1F23062A}"/>
              </a:ext>
            </a:extLst>
          </p:cNvPr>
          <p:cNvSpPr/>
          <p:nvPr/>
        </p:nvSpPr>
        <p:spPr>
          <a:xfrm>
            <a:off x="8678349" y="4161480"/>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~90%+</a:t>
            </a:r>
          </a:p>
        </p:txBody>
      </p:sp>
      <p:sp>
        <p:nvSpPr>
          <p:cNvPr id="132" name="Rectangle 131">
            <a:extLst>
              <a:ext uri="{FF2B5EF4-FFF2-40B4-BE49-F238E27FC236}">
                <a16:creationId xmlns:a16="http://schemas.microsoft.com/office/drawing/2014/main" id="{2880D60F-3664-1E3D-9426-6F6C8769B5F9}"/>
              </a:ext>
            </a:extLst>
          </p:cNvPr>
          <p:cNvSpPr/>
          <p:nvPr/>
        </p:nvSpPr>
        <p:spPr>
          <a:xfrm>
            <a:off x="10348907" y="4171613"/>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IT &amp; Ops Teams</a:t>
            </a:r>
          </a:p>
        </p:txBody>
      </p:sp>
      <p:pic>
        <p:nvPicPr>
          <p:cNvPr id="134" name="Picture 133" descr="The diagram depicts a circular flowchart with a clock icon and a percentage increase, illustrating a process or progression over time.&#10;&#10;AI-generated content may be incorrect.">
            <a:extLst>
              <a:ext uri="{FF2B5EF4-FFF2-40B4-BE49-F238E27FC236}">
                <a16:creationId xmlns:a16="http://schemas.microsoft.com/office/drawing/2014/main" id="{F02B4125-E9A3-63B2-24BF-9E7E75F1991D}"/>
              </a:ext>
            </a:extLst>
          </p:cNvPr>
          <p:cNvPicPr>
            <a:picLocks noChangeAspect="1"/>
          </p:cNvPicPr>
          <p:nvPr/>
        </p:nvPicPr>
        <p:blipFill>
          <a:blip r:embed="rId5">
            <a:extLst>
              <a:ext uri="{28A0092B-C50C-407E-A947-70E740481C1C}">
                <a14:useLocalDpi xmlns:a14="http://schemas.microsoft.com/office/drawing/2010/main" val="0"/>
              </a:ext>
            </a:extLst>
          </a:blip>
          <a:srcRect l="26806" t="7421" r="57647" b="5373"/>
          <a:stretch>
            <a:fillRect/>
          </a:stretch>
        </p:blipFill>
        <p:spPr>
          <a:xfrm>
            <a:off x="7129715" y="3198684"/>
            <a:ext cx="617903" cy="588256"/>
          </a:xfrm>
          <a:prstGeom prst="rect">
            <a:avLst/>
          </a:prstGeom>
        </p:spPr>
      </p:pic>
      <p:pic>
        <p:nvPicPr>
          <p:cNvPr id="135" name="Picture 134">
            <a:extLst>
              <a:ext uri="{FF2B5EF4-FFF2-40B4-BE49-F238E27FC236}">
                <a16:creationId xmlns:a16="http://schemas.microsoft.com/office/drawing/2014/main" id="{A7C6C9A5-E268-FA5D-F8C0-9B6F4E9402A3}"/>
              </a:ext>
            </a:extLst>
          </p:cNvPr>
          <p:cNvPicPr>
            <a:picLocks noChangeAspect="1"/>
          </p:cNvPicPr>
          <p:nvPr/>
        </p:nvPicPr>
        <p:blipFill>
          <a:blip r:embed="rId5">
            <a:extLst>
              <a:ext uri="{28A0092B-C50C-407E-A947-70E740481C1C}">
                <a14:useLocalDpi xmlns:a14="http://schemas.microsoft.com/office/drawing/2010/main" val="0"/>
              </a:ext>
            </a:extLst>
          </a:blip>
          <a:srcRect l="54152" t="4829" r="30941" b="1"/>
          <a:stretch>
            <a:fillRect/>
          </a:stretch>
        </p:blipFill>
        <p:spPr>
          <a:xfrm>
            <a:off x="8867276" y="3170510"/>
            <a:ext cx="558484" cy="605123"/>
          </a:xfrm>
          <a:prstGeom prst="rect">
            <a:avLst/>
          </a:prstGeom>
        </p:spPr>
      </p:pic>
      <p:cxnSp>
        <p:nvCxnSpPr>
          <p:cNvPr id="136" name="Straight Connector 135">
            <a:extLst>
              <a:ext uri="{FF2B5EF4-FFF2-40B4-BE49-F238E27FC236}">
                <a16:creationId xmlns:a16="http://schemas.microsoft.com/office/drawing/2014/main" id="{0EF47845-F8FF-048D-6AB0-965EE5EFD02C}"/>
              </a:ext>
            </a:extLst>
          </p:cNvPr>
          <p:cNvCxnSpPr>
            <a:cxnSpLocks/>
          </p:cNvCxnSpPr>
          <p:nvPr/>
        </p:nvCxnSpPr>
        <p:spPr>
          <a:xfrm>
            <a:off x="8358391" y="2698784"/>
            <a:ext cx="0" cy="1849421"/>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pic>
        <p:nvPicPr>
          <p:cNvPr id="137" name="Picture 136">
            <a:extLst>
              <a:ext uri="{FF2B5EF4-FFF2-40B4-BE49-F238E27FC236}">
                <a16:creationId xmlns:a16="http://schemas.microsoft.com/office/drawing/2014/main" id="{A92FEE27-266E-2337-4AE7-CA553FC087F8}"/>
              </a:ext>
            </a:extLst>
          </p:cNvPr>
          <p:cNvPicPr>
            <a:picLocks noChangeAspect="1"/>
          </p:cNvPicPr>
          <p:nvPr/>
        </p:nvPicPr>
        <p:blipFill>
          <a:blip r:embed="rId5">
            <a:extLst>
              <a:ext uri="{28A0092B-C50C-407E-A947-70E740481C1C}">
                <a14:useLocalDpi xmlns:a14="http://schemas.microsoft.com/office/drawing/2010/main" val="0"/>
              </a:ext>
            </a:extLst>
          </a:blip>
          <a:srcRect l="80099" t="5180" r="3748"/>
          <a:stretch>
            <a:fillRect/>
          </a:stretch>
        </p:blipFill>
        <p:spPr>
          <a:xfrm>
            <a:off x="10578385" y="3157135"/>
            <a:ext cx="632158" cy="629805"/>
          </a:xfrm>
          <a:prstGeom prst="rect">
            <a:avLst/>
          </a:prstGeom>
        </p:spPr>
      </p:pic>
      <p:sp>
        <p:nvSpPr>
          <p:cNvPr id="138" name="TextBox 137">
            <a:extLst>
              <a:ext uri="{FF2B5EF4-FFF2-40B4-BE49-F238E27FC236}">
                <a16:creationId xmlns:a16="http://schemas.microsoft.com/office/drawing/2014/main" id="{27DA3FAC-7206-144D-27BE-80CD76958B29}"/>
              </a:ext>
            </a:extLst>
          </p:cNvPr>
          <p:cNvSpPr txBox="1"/>
          <p:nvPr/>
        </p:nvSpPr>
        <p:spPr>
          <a:xfrm>
            <a:off x="8529789" y="2646048"/>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Time Saved</a:t>
            </a:r>
          </a:p>
        </p:txBody>
      </p:sp>
      <p:cxnSp>
        <p:nvCxnSpPr>
          <p:cNvPr id="139" name="Straight Connector 138">
            <a:extLst>
              <a:ext uri="{FF2B5EF4-FFF2-40B4-BE49-F238E27FC236}">
                <a16:creationId xmlns:a16="http://schemas.microsoft.com/office/drawing/2014/main" id="{BD62D52C-D9BB-6507-EE96-647FA8107111}"/>
              </a:ext>
            </a:extLst>
          </p:cNvPr>
          <p:cNvCxnSpPr>
            <a:cxnSpLocks/>
          </p:cNvCxnSpPr>
          <p:nvPr/>
        </p:nvCxnSpPr>
        <p:spPr>
          <a:xfrm>
            <a:off x="10026925" y="2698784"/>
            <a:ext cx="0" cy="190861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A2CF9C71-1483-502C-CBE6-C1B2ED2E7D9C}"/>
              </a:ext>
            </a:extLst>
          </p:cNvPr>
          <p:cNvSpPr txBox="1"/>
          <p:nvPr/>
        </p:nvSpPr>
        <p:spPr>
          <a:xfrm>
            <a:off x="10226359" y="2627054"/>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Expected Users</a:t>
            </a:r>
          </a:p>
        </p:txBody>
      </p:sp>
      <p:sp>
        <p:nvSpPr>
          <p:cNvPr id="37" name="TextBox 36">
            <a:extLst>
              <a:ext uri="{FF2B5EF4-FFF2-40B4-BE49-F238E27FC236}">
                <a16:creationId xmlns:a16="http://schemas.microsoft.com/office/drawing/2014/main" id="{A4FDF9A3-BAED-EBEE-306C-75B530D6099E}"/>
              </a:ext>
            </a:extLst>
          </p:cNvPr>
          <p:cNvSpPr txBox="1"/>
          <p:nvPr/>
        </p:nvSpPr>
        <p:spPr>
          <a:xfrm>
            <a:off x="4674698" y="5680314"/>
            <a:ext cx="336668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Requires business-rule validation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Layered controls for prompt injection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Data minimization &amp; residency required</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Depends on approved integrations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Architecture &amp; licensing require approval</a:t>
            </a:r>
          </a:p>
        </p:txBody>
      </p:sp>
    </p:spTree>
    <p:extLst>
      <p:ext uri="{BB962C8B-B14F-4D97-AF65-F5344CB8AC3E}">
        <p14:creationId xmlns:p14="http://schemas.microsoft.com/office/powerpoint/2010/main" val="1965545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EAFD-F627-9981-9B4E-21AC76D460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FE3E04-621C-C04E-B403-AE0B051D03A3}"/>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5" name="Rectangle 4">
            <a:extLst>
              <a:ext uri="{FF2B5EF4-FFF2-40B4-BE49-F238E27FC236}">
                <a16:creationId xmlns:a16="http://schemas.microsoft.com/office/drawing/2014/main" id="{CF04BE40-B3F2-C2B2-10A9-B1C6FED40F2E}"/>
              </a:ext>
            </a:extLst>
          </p:cNvPr>
          <p:cNvSpPr/>
          <p:nvPr/>
        </p:nvSpPr>
        <p:spPr>
          <a:xfrm>
            <a:off x="8572981" y="2124071"/>
            <a:ext cx="3617126" cy="4733929"/>
          </a:xfrm>
          <a:prstGeom prst="rect">
            <a:avLst/>
          </a:prstGeom>
          <a:solidFill>
            <a:schemeClr val="accent4">
              <a:lumMod val="20000"/>
              <a:lumOff val="80000"/>
            </a:schemeClr>
          </a:solidFill>
          <a:ln w="28575" cap="rnd">
            <a:no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100" b="0" i="1" u="none" strike="noStrike" kern="1200" cap="none" spc="0" normalizeH="0" baseline="0" noProof="0">
              <a:ln>
                <a:noFill/>
              </a:ln>
              <a:solidFill>
                <a:srgbClr val="37373A"/>
              </a:solidFill>
              <a:effectLst/>
              <a:uLnTx/>
              <a:uFillTx/>
              <a:latin typeface="Aptos Display" panose="02110004020202020204"/>
              <a:ea typeface="Lato" panose="020F0502020204030203" pitchFamily="34" charset="0"/>
              <a:cs typeface="Lato" panose="020F0502020204030203" pitchFamily="34" charset="0"/>
              <a:sym typeface="Helvetica Neue Medium"/>
            </a:endParaRPr>
          </a:p>
        </p:txBody>
      </p:sp>
      <p:sp>
        <p:nvSpPr>
          <p:cNvPr id="6" name="Rectangle 5">
            <a:extLst>
              <a:ext uri="{FF2B5EF4-FFF2-40B4-BE49-F238E27FC236}">
                <a16:creationId xmlns:a16="http://schemas.microsoft.com/office/drawing/2014/main" id="{0A37A411-9DD4-9547-7E70-2A25A7FA1018}"/>
              </a:ext>
            </a:extLst>
          </p:cNvPr>
          <p:cNvSpPr/>
          <p:nvPr/>
        </p:nvSpPr>
        <p:spPr>
          <a:xfrm>
            <a:off x="0"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7" name="Rectangle 6">
            <a:extLst>
              <a:ext uri="{FF2B5EF4-FFF2-40B4-BE49-F238E27FC236}">
                <a16:creationId xmlns:a16="http://schemas.microsoft.com/office/drawing/2014/main" id="{81229949-549E-0179-C50D-2089A0854F40}"/>
              </a:ext>
            </a:extLst>
          </p:cNvPr>
          <p:cNvSpPr/>
          <p:nvPr/>
        </p:nvSpPr>
        <p:spPr>
          <a:xfrm>
            <a:off x="0"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Expected Benefit</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8" name="TextBox 7">
            <a:extLst>
              <a:ext uri="{FF2B5EF4-FFF2-40B4-BE49-F238E27FC236}">
                <a16:creationId xmlns:a16="http://schemas.microsoft.com/office/drawing/2014/main" id="{905F32E8-7453-3BA7-F79F-BDEB3AA9AE25}"/>
              </a:ext>
            </a:extLst>
          </p:cNvPr>
          <p:cNvSpPr txBox="1"/>
          <p:nvPr/>
        </p:nvSpPr>
        <p:spPr>
          <a:xfrm>
            <a:off x="111464"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End-to-end handling, from intake to ticket creation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Extracts &amp; classifies permission requests from emails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Validated against trusted SharePoint reference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Scripts generated for review, not auto-executed</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required before execution</a:t>
            </a:r>
          </a:p>
        </p:txBody>
      </p:sp>
      <p:sp>
        <p:nvSpPr>
          <p:cNvPr id="9" name="Rectangle 8">
            <a:extLst>
              <a:ext uri="{FF2B5EF4-FFF2-40B4-BE49-F238E27FC236}">
                <a16:creationId xmlns:a16="http://schemas.microsoft.com/office/drawing/2014/main" id="{ED3D5260-5FCD-CE89-B42D-133C22562423}"/>
              </a:ext>
            </a:extLst>
          </p:cNvPr>
          <p:cNvSpPr/>
          <p:nvPr/>
        </p:nvSpPr>
        <p:spPr>
          <a:xfrm>
            <a:off x="4362714"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08E5FA76-EF49-68CD-670E-D44236501BD9}"/>
              </a:ext>
            </a:extLst>
          </p:cNvPr>
          <p:cNvSpPr/>
          <p:nvPr/>
        </p:nvSpPr>
        <p:spPr>
          <a:xfrm>
            <a:off x="4362714"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Key Audience</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7DEF7286-FB08-6D45-2D14-EE64FBF4DED2}"/>
              </a:ext>
            </a:extLst>
          </p:cNvPr>
          <p:cNvSpPr txBox="1"/>
          <p:nvPr/>
        </p:nvSpPr>
        <p:spPr>
          <a:xfrm>
            <a:off x="4474178"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&amp; Application Support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Service Desk &amp; System Administrators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Operations &amp; Digital Transformation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Information Security &amp; Governance Teams</a:t>
            </a:r>
          </a:p>
        </p:txBody>
      </p:sp>
      <p:sp>
        <p:nvSpPr>
          <p:cNvPr id="12" name="Rectangle 11">
            <a:extLst>
              <a:ext uri="{FF2B5EF4-FFF2-40B4-BE49-F238E27FC236}">
                <a16:creationId xmlns:a16="http://schemas.microsoft.com/office/drawing/2014/main" id="{3C315958-04D3-6FCE-1225-A3934700D38F}"/>
              </a:ext>
            </a:extLst>
          </p:cNvPr>
          <p:cNvSpPr/>
          <p:nvPr/>
        </p:nvSpPr>
        <p:spPr>
          <a:xfrm>
            <a:off x="0"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024E56C4-C4EE-84F6-D9A5-2ECEAA616324}"/>
              </a:ext>
            </a:extLst>
          </p:cNvPr>
          <p:cNvSpPr/>
          <p:nvPr/>
        </p:nvSpPr>
        <p:spPr>
          <a:xfrm>
            <a:off x="0"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Data Requirement </a:t>
            </a:r>
            <a:r>
              <a:rPr kumimoji="0" lang="en-US" sz="900" b="0" i="1" u="none" strike="noStrike" kern="1200" cap="none" spc="0" normalizeH="0" baseline="0" noProof="0">
                <a:ln>
                  <a:noFill/>
                </a:ln>
                <a:solidFill>
                  <a:prstClr val="white"/>
                </a:solidFill>
                <a:effectLst/>
                <a:uLnTx/>
                <a:uFillTx/>
                <a:latin typeface="Aptos Display" panose="02110004020202020204"/>
                <a:ea typeface="+mn-ea"/>
                <a:cs typeface="+mn-cs"/>
              </a:rPr>
              <a:t>(Data Type)</a:t>
            </a:r>
            <a:endParaRPr kumimoji="0" lang="en-ZA" sz="900" b="0" i="1"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4" name="TextBox 13">
            <a:extLst>
              <a:ext uri="{FF2B5EF4-FFF2-40B4-BE49-F238E27FC236}">
                <a16:creationId xmlns:a16="http://schemas.microsoft.com/office/drawing/2014/main" id="{AA0F9929-F002-F115-19C9-B40320FDE7DE}"/>
              </a:ext>
            </a:extLst>
          </p:cNvPr>
          <p:cNvSpPr txBox="1"/>
          <p:nvPr/>
        </p:nvSpPr>
        <p:spPr>
          <a:xfrm>
            <a:off x="111464"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Support request emails (permission/access requests)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SharePoint reference data: roles, facilities, specialties, mappings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Historical requests and Teams notification records</a:t>
            </a:r>
          </a:p>
        </p:txBody>
      </p:sp>
      <p:sp>
        <p:nvSpPr>
          <p:cNvPr id="15" name="Rectangle 14">
            <a:extLst>
              <a:ext uri="{FF2B5EF4-FFF2-40B4-BE49-F238E27FC236}">
                <a16:creationId xmlns:a16="http://schemas.microsoft.com/office/drawing/2014/main" id="{2409FE7A-88F1-AEF3-53FF-DA2ED2B1B431}"/>
              </a:ext>
            </a:extLst>
          </p:cNvPr>
          <p:cNvSpPr/>
          <p:nvPr/>
        </p:nvSpPr>
        <p:spPr>
          <a:xfrm>
            <a:off x="4362714"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1F7A0187-735D-FF17-B197-9030CE3A4BE7}"/>
              </a:ext>
            </a:extLst>
          </p:cNvPr>
          <p:cNvSpPr/>
          <p:nvPr/>
        </p:nvSpPr>
        <p:spPr>
          <a:xfrm>
            <a:off x="4362714"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ptos Display" panose="02110004020202020204"/>
                <a:ea typeface="+mn-ea"/>
                <a:cs typeface="+mn-cs"/>
              </a:rPr>
              <a:t>System Dependencies </a:t>
            </a:r>
            <a:r>
              <a:rPr kumimoji="0" lang="pt-BR" sz="900" b="0" i="1" u="none" strike="noStrike" kern="1200" cap="none" spc="0" normalizeH="0" baseline="0" noProof="0">
                <a:ln>
                  <a:noFill/>
                </a:ln>
                <a:solidFill>
                  <a:prstClr val="white"/>
                </a:solidFill>
                <a:effectLst/>
                <a:uLnTx/>
                <a:uFillTx/>
                <a:latin typeface="Aptos Display" panose="02110004020202020204"/>
                <a:ea typeface="+mn-ea"/>
                <a:cs typeface="+mn-cs"/>
              </a:rPr>
              <a:t>(EMR/ERP/ etc)</a:t>
            </a:r>
          </a:p>
        </p:txBody>
      </p:sp>
      <p:sp>
        <p:nvSpPr>
          <p:cNvPr id="17" name="Rectangle 16">
            <a:extLst>
              <a:ext uri="{FF2B5EF4-FFF2-40B4-BE49-F238E27FC236}">
                <a16:creationId xmlns:a16="http://schemas.microsoft.com/office/drawing/2014/main" id="{A0B95D43-1988-2228-5820-5E6B6B9106AD}"/>
              </a:ext>
            </a:extLst>
          </p:cNvPr>
          <p:cNvSpPr/>
          <p:nvPr/>
        </p:nvSpPr>
        <p:spPr>
          <a:xfrm>
            <a:off x="-1" y="2391980"/>
            <a:ext cx="8572981"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8E9846AB-B4B6-1E85-BB42-7D265134D88A}"/>
              </a:ext>
            </a:extLst>
          </p:cNvPr>
          <p:cNvSpPr/>
          <p:nvPr/>
        </p:nvSpPr>
        <p:spPr>
          <a:xfrm>
            <a:off x="-1" y="2141994"/>
            <a:ext cx="8572981"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Problem Statement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9" name="TextBox 18">
            <a:extLst>
              <a:ext uri="{FF2B5EF4-FFF2-40B4-BE49-F238E27FC236}">
                <a16:creationId xmlns:a16="http://schemas.microsoft.com/office/drawing/2014/main" id="{0CFE59FE-DE5D-4A75-806A-CB2ED3BF7FCF}"/>
              </a:ext>
            </a:extLst>
          </p:cNvPr>
          <p:cNvSpPr txBox="1"/>
          <p:nvPr/>
        </p:nvSpPr>
        <p:spPr>
          <a:xfrm>
            <a:off x="228538" y="2562900"/>
            <a:ext cx="8115903"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The implemented POC demonstrates that Generative AI can understand and extract information from unstructured access and permission requests. Deterministic workflow logic validates the AI-generated output against trusted enterprise reference data before any downstream action, and human approval is mandatory prior to execution. The same architecture is reusable across multiple IT Support scenarios.</a:t>
            </a:r>
          </a:p>
        </p:txBody>
      </p:sp>
      <p:sp>
        <p:nvSpPr>
          <p:cNvPr id="30" name="Lorem Ipsum">
            <a:extLst>
              <a:ext uri="{FF2B5EF4-FFF2-40B4-BE49-F238E27FC236}">
                <a16:creationId xmlns:a16="http://schemas.microsoft.com/office/drawing/2014/main" id="{2E9DD8CA-4E03-C700-965B-38CF9BEFC483}"/>
              </a:ext>
            </a:extLst>
          </p:cNvPr>
          <p:cNvSpPr txBox="1">
            <a:spLocks/>
          </p:cNvSpPr>
          <p:nvPr/>
        </p:nvSpPr>
        <p:spPr>
          <a:xfrm>
            <a:off x="9033207" y="2502916"/>
            <a:ext cx="2699925" cy="279744"/>
          </a:xfrm>
          <a:prstGeom prst="rect">
            <a:avLst/>
          </a:prstGeom>
        </p:spPr>
        <p:txBody>
          <a:bodyPr lIns="0" anchor="t">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ctr" defTabSz="412750" rtl="0" eaLnBrk="1" fontAlgn="auto" latinLnBrk="0" hangingPunct="1">
              <a:lnSpc>
                <a:spcPct val="100000"/>
              </a:lnSpc>
              <a:spcBef>
                <a:spcPts val="0"/>
              </a:spcBef>
              <a:spcAft>
                <a:spcPts val="0"/>
              </a:spcAft>
              <a:buClrTx/>
              <a:buSzTx/>
              <a:buFontTx/>
              <a:buNone/>
              <a:tabLst/>
              <a:defRPr/>
            </a:pPr>
            <a:r>
              <a:rPr kumimoji="0" lang="pl-PL" sz="1600" b="1" i="0" u="none" strike="noStrike" kern="0" cap="none" spc="0" normalizeH="0" baseline="0" noProof="0">
                <a:ln>
                  <a:noFill/>
                </a:ln>
                <a:solidFill>
                  <a:prstClr val="black">
                    <a:lumMod val="75000"/>
                    <a:lumOff val="25000"/>
                  </a:prstClr>
                </a:solidFill>
                <a:effectLst/>
                <a:uLnTx/>
                <a:uFillTx/>
                <a:latin typeface="Aptos Display" panose="02110004020202020204"/>
                <a:sym typeface="Helvetica Neue"/>
              </a:rPr>
              <a:t>Prioritization Outcomes</a:t>
            </a:r>
          </a:p>
        </p:txBody>
      </p:sp>
      <p:grpSp>
        <p:nvGrpSpPr>
          <p:cNvPr id="31" name="Group 30">
            <a:extLst>
              <a:ext uri="{FF2B5EF4-FFF2-40B4-BE49-F238E27FC236}">
                <a16:creationId xmlns:a16="http://schemas.microsoft.com/office/drawing/2014/main" id="{49B0A36D-19A6-A428-A8A5-52249E40BAE3}"/>
              </a:ext>
            </a:extLst>
          </p:cNvPr>
          <p:cNvGrpSpPr/>
          <p:nvPr/>
        </p:nvGrpSpPr>
        <p:grpSpPr>
          <a:xfrm>
            <a:off x="8855985" y="2949624"/>
            <a:ext cx="3510427" cy="426575"/>
            <a:chOff x="8855985" y="2856587"/>
            <a:chExt cx="3510427" cy="426575"/>
          </a:xfrm>
        </p:grpSpPr>
        <p:grpSp>
          <p:nvGrpSpPr>
            <p:cNvPr id="32" name="Group 31">
              <a:extLst>
                <a:ext uri="{FF2B5EF4-FFF2-40B4-BE49-F238E27FC236}">
                  <a16:creationId xmlns:a16="http://schemas.microsoft.com/office/drawing/2014/main" id="{86221D86-4493-A2B8-CCA6-C3053CD4CE62}"/>
                </a:ext>
              </a:extLst>
            </p:cNvPr>
            <p:cNvGrpSpPr/>
            <p:nvPr/>
          </p:nvGrpSpPr>
          <p:grpSpPr>
            <a:xfrm>
              <a:off x="8855985" y="2893604"/>
              <a:ext cx="1728429" cy="352541"/>
              <a:chOff x="8751288" y="2540042"/>
              <a:chExt cx="1728429" cy="352541"/>
            </a:xfrm>
          </p:grpSpPr>
          <p:pic>
            <p:nvPicPr>
              <p:cNvPr id="35" name="Graphic 34" descr="Diamond">
                <a:extLst>
                  <a:ext uri="{FF2B5EF4-FFF2-40B4-BE49-F238E27FC236}">
                    <a16:creationId xmlns:a16="http://schemas.microsoft.com/office/drawing/2014/main" id="{229C0E19-76AD-FEDE-522F-5E3930EC5845}"/>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51288" y="2540042"/>
                <a:ext cx="352541" cy="352541"/>
              </a:xfrm>
              <a:prstGeom prst="rect">
                <a:avLst/>
              </a:prstGeom>
            </p:spPr>
          </p:pic>
          <p:sp>
            <p:nvSpPr>
              <p:cNvPr id="36" name="Text Placeholder 10">
                <a:extLst>
                  <a:ext uri="{FF2B5EF4-FFF2-40B4-BE49-F238E27FC236}">
                    <a16:creationId xmlns:a16="http://schemas.microsoft.com/office/drawing/2014/main" id="{2112C4EA-BA63-E997-357A-CFF4BFF5DB8B}"/>
                  </a:ext>
                </a:extLst>
              </p:cNvPr>
              <p:cNvSpPr txBox="1">
                <a:spLocks/>
              </p:cNvSpPr>
              <p:nvPr/>
            </p:nvSpPr>
            <p:spPr>
              <a:xfrm>
                <a:off x="9153892" y="2608590"/>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en-GB"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Value</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pic>
          <p:nvPicPr>
            <p:cNvPr id="33" name="Graphic 32" descr="Single gear">
              <a:extLst>
                <a:ext uri="{FF2B5EF4-FFF2-40B4-BE49-F238E27FC236}">
                  <a16:creationId xmlns:a16="http://schemas.microsoft.com/office/drawing/2014/main" id="{8BF3D001-F120-93D6-E440-C94BC5113C49}"/>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4840" y="2856587"/>
              <a:ext cx="426575" cy="426575"/>
            </a:xfrm>
            <a:prstGeom prst="rect">
              <a:avLst/>
            </a:prstGeom>
          </p:spPr>
        </p:pic>
        <p:sp>
          <p:nvSpPr>
            <p:cNvPr id="34" name="Text Placeholder 10">
              <a:extLst>
                <a:ext uri="{FF2B5EF4-FFF2-40B4-BE49-F238E27FC236}">
                  <a16:creationId xmlns:a16="http://schemas.microsoft.com/office/drawing/2014/main" id="{4E22C927-008C-6AEF-1171-6F0C4B8623E5}"/>
                </a:ext>
              </a:extLst>
            </p:cNvPr>
            <p:cNvSpPr txBox="1">
              <a:spLocks/>
            </p:cNvSpPr>
            <p:nvPr/>
          </p:nvSpPr>
          <p:spPr>
            <a:xfrm>
              <a:off x="11040587" y="2962152"/>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pl-PL"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Feasibility</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sp>
        <p:nvSpPr>
          <p:cNvPr id="37" name="Rectangle 36">
            <a:extLst>
              <a:ext uri="{FF2B5EF4-FFF2-40B4-BE49-F238E27FC236}">
                <a16:creationId xmlns:a16="http://schemas.microsoft.com/office/drawing/2014/main" id="{23E0AE76-D866-BED9-CE70-E289877BF672}"/>
              </a:ext>
            </a:extLst>
          </p:cNvPr>
          <p:cNvSpPr/>
          <p:nvPr/>
        </p:nvSpPr>
        <p:spPr>
          <a:xfrm>
            <a:off x="8803430" y="6333805"/>
            <a:ext cx="151253" cy="145349"/>
          </a:xfrm>
          <a:prstGeom prst="rect">
            <a:avLst/>
          </a:prstGeom>
          <a:solidFill>
            <a:schemeClr val="bg1">
              <a:lumMod val="8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E8E8E8">
                  <a:lumMod val="10000"/>
                </a:srgbClr>
              </a:solidFill>
              <a:effectLst/>
              <a:uLnTx/>
              <a:uFillTx/>
              <a:latin typeface="Aptos Display" panose="02110004020202020204"/>
              <a:ea typeface="+mn-ea"/>
              <a:cs typeface="+mn-cs"/>
            </a:endParaRPr>
          </a:p>
        </p:txBody>
      </p:sp>
      <p:sp>
        <p:nvSpPr>
          <p:cNvPr id="38" name="Rectangle 37">
            <a:extLst>
              <a:ext uri="{FF2B5EF4-FFF2-40B4-BE49-F238E27FC236}">
                <a16:creationId xmlns:a16="http://schemas.microsoft.com/office/drawing/2014/main" id="{F466D4BA-DF2E-1120-9352-A1ACBE2AD202}"/>
              </a:ext>
            </a:extLst>
          </p:cNvPr>
          <p:cNvSpPr/>
          <p:nvPr/>
        </p:nvSpPr>
        <p:spPr>
          <a:xfrm>
            <a:off x="8902882"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ptos Display" panose="02110004020202020204"/>
                <a:ea typeface="+mn-ea"/>
                <a:cs typeface="+mn-cs"/>
              </a:rPr>
              <a:t>0 – 6  months </a:t>
            </a:r>
          </a:p>
        </p:txBody>
      </p:sp>
      <p:sp>
        <p:nvSpPr>
          <p:cNvPr id="39" name="Rectangle 38">
            <a:extLst>
              <a:ext uri="{FF2B5EF4-FFF2-40B4-BE49-F238E27FC236}">
                <a16:creationId xmlns:a16="http://schemas.microsoft.com/office/drawing/2014/main" id="{EC40CF54-A9D9-D288-3A90-1BA412C2E2B2}"/>
              </a:ext>
            </a:extLst>
          </p:cNvPr>
          <p:cNvSpPr/>
          <p:nvPr/>
        </p:nvSpPr>
        <p:spPr>
          <a:xfrm>
            <a:off x="9850775" y="6333805"/>
            <a:ext cx="151253" cy="145349"/>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0" name="Rectangle 39">
            <a:extLst>
              <a:ext uri="{FF2B5EF4-FFF2-40B4-BE49-F238E27FC236}">
                <a16:creationId xmlns:a16="http://schemas.microsoft.com/office/drawing/2014/main" id="{B46428DE-DA9C-47A8-13C9-FF47AB511DD1}"/>
              </a:ext>
            </a:extLst>
          </p:cNvPr>
          <p:cNvSpPr/>
          <p:nvPr/>
        </p:nvSpPr>
        <p:spPr>
          <a:xfrm>
            <a:off x="9950227"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6-12 months</a:t>
            </a:r>
          </a:p>
        </p:txBody>
      </p:sp>
      <p:sp>
        <p:nvSpPr>
          <p:cNvPr id="41" name="Rectangle 40">
            <a:extLst>
              <a:ext uri="{FF2B5EF4-FFF2-40B4-BE49-F238E27FC236}">
                <a16:creationId xmlns:a16="http://schemas.microsoft.com/office/drawing/2014/main" id="{26843225-2817-A485-A457-FA6FAEBF693A}"/>
              </a:ext>
            </a:extLst>
          </p:cNvPr>
          <p:cNvSpPr/>
          <p:nvPr/>
        </p:nvSpPr>
        <p:spPr>
          <a:xfrm>
            <a:off x="10901043" y="6333805"/>
            <a:ext cx="151253" cy="145349"/>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2" name="Rectangle 41">
            <a:extLst>
              <a:ext uri="{FF2B5EF4-FFF2-40B4-BE49-F238E27FC236}">
                <a16:creationId xmlns:a16="http://schemas.microsoft.com/office/drawing/2014/main" id="{3C45D53E-C8EC-E0BD-2D76-200AE0CC4C21}"/>
              </a:ext>
            </a:extLst>
          </p:cNvPr>
          <p:cNvSpPr/>
          <p:nvPr/>
        </p:nvSpPr>
        <p:spPr>
          <a:xfrm>
            <a:off x="11000495"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&gt;12 months</a:t>
            </a:r>
          </a:p>
        </p:txBody>
      </p:sp>
      <p:sp>
        <p:nvSpPr>
          <p:cNvPr id="43" name="Rectangle 42">
            <a:extLst>
              <a:ext uri="{FF2B5EF4-FFF2-40B4-BE49-F238E27FC236}">
                <a16:creationId xmlns:a16="http://schemas.microsoft.com/office/drawing/2014/main" id="{62525520-FED7-E1BC-0D6A-77FADAE57B29}"/>
              </a:ext>
            </a:extLst>
          </p:cNvPr>
          <p:cNvSpPr/>
          <p:nvPr/>
        </p:nvSpPr>
        <p:spPr>
          <a:xfrm>
            <a:off x="8828414" y="3600892"/>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Clinical Impact </a:t>
            </a:r>
          </a:p>
        </p:txBody>
      </p:sp>
      <p:sp>
        <p:nvSpPr>
          <p:cNvPr id="44" name="Rectangle 43">
            <a:extLst>
              <a:ext uri="{FF2B5EF4-FFF2-40B4-BE49-F238E27FC236}">
                <a16:creationId xmlns:a16="http://schemas.microsoft.com/office/drawing/2014/main" id="{4AF2EB77-D051-EFE9-048E-4474C558E26A}"/>
              </a:ext>
            </a:extLst>
          </p:cNvPr>
          <p:cNvSpPr/>
          <p:nvPr/>
        </p:nvSpPr>
        <p:spPr>
          <a:xfrm>
            <a:off x="971960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5" name="Rectangle 44">
            <a:extLst>
              <a:ext uri="{FF2B5EF4-FFF2-40B4-BE49-F238E27FC236}">
                <a16:creationId xmlns:a16="http://schemas.microsoft.com/office/drawing/2014/main" id="{A8463498-C10A-291F-51B7-2A9C097B0190}"/>
              </a:ext>
            </a:extLst>
          </p:cNvPr>
          <p:cNvSpPr/>
          <p:nvPr/>
        </p:nvSpPr>
        <p:spPr>
          <a:xfrm>
            <a:off x="971840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L</a:t>
            </a:r>
          </a:p>
        </p:txBody>
      </p:sp>
      <p:sp>
        <p:nvSpPr>
          <p:cNvPr id="46" name="Rectangle 45">
            <a:extLst>
              <a:ext uri="{FF2B5EF4-FFF2-40B4-BE49-F238E27FC236}">
                <a16:creationId xmlns:a16="http://schemas.microsoft.com/office/drawing/2014/main" id="{EA20F5FB-0B11-8F67-DC2F-0FBDE49ACDE3}"/>
              </a:ext>
            </a:extLst>
          </p:cNvPr>
          <p:cNvSpPr/>
          <p:nvPr/>
        </p:nvSpPr>
        <p:spPr>
          <a:xfrm>
            <a:off x="9883443" y="3655291"/>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7" name="Rectangle 46">
            <a:extLst>
              <a:ext uri="{FF2B5EF4-FFF2-40B4-BE49-F238E27FC236}">
                <a16:creationId xmlns:a16="http://schemas.microsoft.com/office/drawing/2014/main" id="{BEE8B475-1B08-21BB-F428-00EE0E07F4E9}"/>
              </a:ext>
            </a:extLst>
          </p:cNvPr>
          <p:cNvSpPr/>
          <p:nvPr/>
        </p:nvSpPr>
        <p:spPr>
          <a:xfrm>
            <a:off x="988224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48" name="Rectangle 47">
            <a:extLst>
              <a:ext uri="{FF2B5EF4-FFF2-40B4-BE49-F238E27FC236}">
                <a16:creationId xmlns:a16="http://schemas.microsoft.com/office/drawing/2014/main" id="{6760311F-B28C-1E02-AC7D-90A662898519}"/>
              </a:ext>
            </a:extLst>
          </p:cNvPr>
          <p:cNvSpPr/>
          <p:nvPr/>
        </p:nvSpPr>
        <p:spPr>
          <a:xfrm>
            <a:off x="10047281" y="3543163"/>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9" name="Rectangle 48">
            <a:extLst>
              <a:ext uri="{FF2B5EF4-FFF2-40B4-BE49-F238E27FC236}">
                <a16:creationId xmlns:a16="http://schemas.microsoft.com/office/drawing/2014/main" id="{C52DA895-F995-3FA4-5101-88FD32BBAC86}"/>
              </a:ext>
            </a:extLst>
          </p:cNvPr>
          <p:cNvSpPr/>
          <p:nvPr/>
        </p:nvSpPr>
        <p:spPr>
          <a:xfrm>
            <a:off x="1004607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0" name="Rectangle 49">
            <a:extLst>
              <a:ext uri="{FF2B5EF4-FFF2-40B4-BE49-F238E27FC236}">
                <a16:creationId xmlns:a16="http://schemas.microsoft.com/office/drawing/2014/main" id="{ACE39411-3BFB-E9D6-40B7-5D6A8750DD50}"/>
              </a:ext>
            </a:extLst>
          </p:cNvPr>
          <p:cNvSpPr/>
          <p:nvPr/>
        </p:nvSpPr>
        <p:spPr>
          <a:xfrm>
            <a:off x="10322147" y="3600892"/>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Technical Feasibility</a:t>
            </a:r>
          </a:p>
        </p:txBody>
      </p:sp>
      <p:sp>
        <p:nvSpPr>
          <p:cNvPr id="51" name="Rectangle 50">
            <a:extLst>
              <a:ext uri="{FF2B5EF4-FFF2-40B4-BE49-F238E27FC236}">
                <a16:creationId xmlns:a16="http://schemas.microsoft.com/office/drawing/2014/main" id="{5F5F8CF1-83E5-A55D-A303-4BBC5968CD4E}"/>
              </a:ext>
            </a:extLst>
          </p:cNvPr>
          <p:cNvSpPr/>
          <p:nvPr/>
        </p:nvSpPr>
        <p:spPr>
          <a:xfrm>
            <a:off x="1142624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2" name="Rectangle 51">
            <a:extLst>
              <a:ext uri="{FF2B5EF4-FFF2-40B4-BE49-F238E27FC236}">
                <a16:creationId xmlns:a16="http://schemas.microsoft.com/office/drawing/2014/main" id="{2622546B-1A62-C598-58F6-007FA12324EB}"/>
              </a:ext>
            </a:extLst>
          </p:cNvPr>
          <p:cNvSpPr/>
          <p:nvPr/>
        </p:nvSpPr>
        <p:spPr>
          <a:xfrm>
            <a:off x="1142504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53" name="Rectangle 52">
            <a:extLst>
              <a:ext uri="{FF2B5EF4-FFF2-40B4-BE49-F238E27FC236}">
                <a16:creationId xmlns:a16="http://schemas.microsoft.com/office/drawing/2014/main" id="{4932AFD6-9782-5703-5C85-BBFF0809671A}"/>
              </a:ext>
            </a:extLst>
          </p:cNvPr>
          <p:cNvSpPr/>
          <p:nvPr/>
        </p:nvSpPr>
        <p:spPr>
          <a:xfrm>
            <a:off x="11590083" y="3655291"/>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4" name="Rectangle 53">
            <a:extLst>
              <a:ext uri="{FF2B5EF4-FFF2-40B4-BE49-F238E27FC236}">
                <a16:creationId xmlns:a16="http://schemas.microsoft.com/office/drawing/2014/main" id="{A4EF3908-76D9-FD4F-CE78-8057E70E98BA}"/>
              </a:ext>
            </a:extLst>
          </p:cNvPr>
          <p:cNvSpPr/>
          <p:nvPr/>
        </p:nvSpPr>
        <p:spPr>
          <a:xfrm>
            <a:off x="1158888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55" name="Rectangle 54">
            <a:extLst>
              <a:ext uri="{FF2B5EF4-FFF2-40B4-BE49-F238E27FC236}">
                <a16:creationId xmlns:a16="http://schemas.microsoft.com/office/drawing/2014/main" id="{95645F8C-F278-3289-7AE0-87DBDD44380A}"/>
              </a:ext>
            </a:extLst>
          </p:cNvPr>
          <p:cNvSpPr/>
          <p:nvPr/>
        </p:nvSpPr>
        <p:spPr>
          <a:xfrm>
            <a:off x="11753921" y="3543163"/>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6" name="Rectangle 55">
            <a:extLst>
              <a:ext uri="{FF2B5EF4-FFF2-40B4-BE49-F238E27FC236}">
                <a16:creationId xmlns:a16="http://schemas.microsoft.com/office/drawing/2014/main" id="{3AEB7464-C2C8-4126-96AF-B66D6D64E6C6}"/>
              </a:ext>
            </a:extLst>
          </p:cNvPr>
          <p:cNvSpPr/>
          <p:nvPr/>
        </p:nvSpPr>
        <p:spPr>
          <a:xfrm>
            <a:off x="1175271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7" name="Rectangle 56">
            <a:extLst>
              <a:ext uri="{FF2B5EF4-FFF2-40B4-BE49-F238E27FC236}">
                <a16:creationId xmlns:a16="http://schemas.microsoft.com/office/drawing/2014/main" id="{D8E4F83C-AE03-11E9-D4C9-91B0FAC42D65}"/>
              </a:ext>
            </a:extLst>
          </p:cNvPr>
          <p:cNvSpPr/>
          <p:nvPr/>
        </p:nvSpPr>
        <p:spPr>
          <a:xfrm>
            <a:off x="8828414" y="4226373"/>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Business Impact</a:t>
            </a:r>
          </a:p>
        </p:txBody>
      </p:sp>
      <p:sp>
        <p:nvSpPr>
          <p:cNvPr id="58" name="Rectangle 57">
            <a:extLst>
              <a:ext uri="{FF2B5EF4-FFF2-40B4-BE49-F238E27FC236}">
                <a16:creationId xmlns:a16="http://schemas.microsoft.com/office/drawing/2014/main" id="{B9C941F1-94F7-1EC5-B89D-5297D1E1648C}"/>
              </a:ext>
            </a:extLst>
          </p:cNvPr>
          <p:cNvSpPr/>
          <p:nvPr/>
        </p:nvSpPr>
        <p:spPr>
          <a:xfrm>
            <a:off x="971960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9" name="Rectangle 58">
            <a:extLst>
              <a:ext uri="{FF2B5EF4-FFF2-40B4-BE49-F238E27FC236}">
                <a16:creationId xmlns:a16="http://schemas.microsoft.com/office/drawing/2014/main" id="{C8C56F1B-023B-A87E-AB27-F7626C66F6C5}"/>
              </a:ext>
            </a:extLst>
          </p:cNvPr>
          <p:cNvSpPr/>
          <p:nvPr/>
        </p:nvSpPr>
        <p:spPr>
          <a:xfrm>
            <a:off x="971840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0" name="Rectangle 59">
            <a:extLst>
              <a:ext uri="{FF2B5EF4-FFF2-40B4-BE49-F238E27FC236}">
                <a16:creationId xmlns:a16="http://schemas.microsoft.com/office/drawing/2014/main" id="{F94FFA98-AD82-505D-0160-DD203A552B8F}"/>
              </a:ext>
            </a:extLst>
          </p:cNvPr>
          <p:cNvSpPr/>
          <p:nvPr/>
        </p:nvSpPr>
        <p:spPr>
          <a:xfrm>
            <a:off x="9883443" y="4280772"/>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1" name="Rectangle 60">
            <a:extLst>
              <a:ext uri="{FF2B5EF4-FFF2-40B4-BE49-F238E27FC236}">
                <a16:creationId xmlns:a16="http://schemas.microsoft.com/office/drawing/2014/main" id="{FC6636E6-AA96-A03E-30E7-7D0E4EA83878}"/>
              </a:ext>
            </a:extLst>
          </p:cNvPr>
          <p:cNvSpPr/>
          <p:nvPr/>
        </p:nvSpPr>
        <p:spPr>
          <a:xfrm>
            <a:off x="988224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62" name="Rectangle 61">
            <a:extLst>
              <a:ext uri="{FF2B5EF4-FFF2-40B4-BE49-F238E27FC236}">
                <a16:creationId xmlns:a16="http://schemas.microsoft.com/office/drawing/2014/main" id="{D658DF67-83C5-F841-3018-027327E1766F}"/>
              </a:ext>
            </a:extLst>
          </p:cNvPr>
          <p:cNvSpPr/>
          <p:nvPr/>
        </p:nvSpPr>
        <p:spPr>
          <a:xfrm>
            <a:off x="10047281" y="4168644"/>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3" name="Rectangle 62">
            <a:extLst>
              <a:ext uri="{FF2B5EF4-FFF2-40B4-BE49-F238E27FC236}">
                <a16:creationId xmlns:a16="http://schemas.microsoft.com/office/drawing/2014/main" id="{49278D8C-A2CA-E6B1-0959-9BB76C1CA994}"/>
              </a:ext>
            </a:extLst>
          </p:cNvPr>
          <p:cNvSpPr/>
          <p:nvPr/>
        </p:nvSpPr>
        <p:spPr>
          <a:xfrm>
            <a:off x="1004607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64" name="Rectangle 63">
            <a:extLst>
              <a:ext uri="{FF2B5EF4-FFF2-40B4-BE49-F238E27FC236}">
                <a16:creationId xmlns:a16="http://schemas.microsoft.com/office/drawing/2014/main" id="{C8D529CF-BB8E-A6F7-A253-BA15EAF06D63}"/>
              </a:ext>
            </a:extLst>
          </p:cNvPr>
          <p:cNvSpPr/>
          <p:nvPr/>
        </p:nvSpPr>
        <p:spPr>
          <a:xfrm>
            <a:off x="10322147" y="4226373"/>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Organizational Feasibility</a:t>
            </a:r>
          </a:p>
        </p:txBody>
      </p:sp>
      <p:sp>
        <p:nvSpPr>
          <p:cNvPr id="65" name="Rectangle 64">
            <a:extLst>
              <a:ext uri="{FF2B5EF4-FFF2-40B4-BE49-F238E27FC236}">
                <a16:creationId xmlns:a16="http://schemas.microsoft.com/office/drawing/2014/main" id="{398F3108-3201-C62C-2D61-925528633E22}"/>
              </a:ext>
            </a:extLst>
          </p:cNvPr>
          <p:cNvSpPr/>
          <p:nvPr/>
        </p:nvSpPr>
        <p:spPr>
          <a:xfrm>
            <a:off x="1142624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6" name="Rectangle 65">
            <a:extLst>
              <a:ext uri="{FF2B5EF4-FFF2-40B4-BE49-F238E27FC236}">
                <a16:creationId xmlns:a16="http://schemas.microsoft.com/office/drawing/2014/main" id="{55E04679-88B3-6E9A-342D-6A76593E5720}"/>
              </a:ext>
            </a:extLst>
          </p:cNvPr>
          <p:cNvSpPr/>
          <p:nvPr/>
        </p:nvSpPr>
        <p:spPr>
          <a:xfrm>
            <a:off x="1142504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7" name="Rectangle 66">
            <a:extLst>
              <a:ext uri="{FF2B5EF4-FFF2-40B4-BE49-F238E27FC236}">
                <a16:creationId xmlns:a16="http://schemas.microsoft.com/office/drawing/2014/main" id="{AD7C70B0-EE0F-5923-6C26-945375F996B5}"/>
              </a:ext>
            </a:extLst>
          </p:cNvPr>
          <p:cNvSpPr/>
          <p:nvPr/>
        </p:nvSpPr>
        <p:spPr>
          <a:xfrm>
            <a:off x="11590083" y="4280772"/>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8" name="Rectangle 67">
            <a:extLst>
              <a:ext uri="{FF2B5EF4-FFF2-40B4-BE49-F238E27FC236}">
                <a16:creationId xmlns:a16="http://schemas.microsoft.com/office/drawing/2014/main" id="{3463BCAF-BBAA-E275-7853-32184761B809}"/>
              </a:ext>
            </a:extLst>
          </p:cNvPr>
          <p:cNvSpPr/>
          <p:nvPr/>
        </p:nvSpPr>
        <p:spPr>
          <a:xfrm>
            <a:off x="1158888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69" name="Rectangle 68">
            <a:extLst>
              <a:ext uri="{FF2B5EF4-FFF2-40B4-BE49-F238E27FC236}">
                <a16:creationId xmlns:a16="http://schemas.microsoft.com/office/drawing/2014/main" id="{B9551A0D-DA16-0575-9CCC-A757EBF1E875}"/>
              </a:ext>
            </a:extLst>
          </p:cNvPr>
          <p:cNvSpPr/>
          <p:nvPr/>
        </p:nvSpPr>
        <p:spPr>
          <a:xfrm>
            <a:off x="11753921" y="4168644"/>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0" name="Rectangle 69">
            <a:extLst>
              <a:ext uri="{FF2B5EF4-FFF2-40B4-BE49-F238E27FC236}">
                <a16:creationId xmlns:a16="http://schemas.microsoft.com/office/drawing/2014/main" id="{E1AFEC15-CFCD-0AA4-83B2-C72271158BCE}"/>
              </a:ext>
            </a:extLst>
          </p:cNvPr>
          <p:cNvSpPr/>
          <p:nvPr/>
        </p:nvSpPr>
        <p:spPr>
          <a:xfrm>
            <a:off x="1175271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71" name="Rectangle 70">
            <a:extLst>
              <a:ext uri="{FF2B5EF4-FFF2-40B4-BE49-F238E27FC236}">
                <a16:creationId xmlns:a16="http://schemas.microsoft.com/office/drawing/2014/main" id="{CA27EF73-3D72-5A67-3E06-E35E6EA96231}"/>
              </a:ext>
            </a:extLst>
          </p:cNvPr>
          <p:cNvSpPr/>
          <p:nvPr/>
        </p:nvSpPr>
        <p:spPr>
          <a:xfrm>
            <a:off x="8828414" y="4851854"/>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Strategic Alignment</a:t>
            </a:r>
          </a:p>
        </p:txBody>
      </p:sp>
      <p:sp>
        <p:nvSpPr>
          <p:cNvPr id="72" name="Rectangle 71">
            <a:extLst>
              <a:ext uri="{FF2B5EF4-FFF2-40B4-BE49-F238E27FC236}">
                <a16:creationId xmlns:a16="http://schemas.microsoft.com/office/drawing/2014/main" id="{74752DBD-DAA9-9228-D15D-CD542E2C6E2C}"/>
              </a:ext>
            </a:extLst>
          </p:cNvPr>
          <p:cNvSpPr/>
          <p:nvPr/>
        </p:nvSpPr>
        <p:spPr>
          <a:xfrm>
            <a:off x="971960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3" name="Rectangle 72">
            <a:extLst>
              <a:ext uri="{FF2B5EF4-FFF2-40B4-BE49-F238E27FC236}">
                <a16:creationId xmlns:a16="http://schemas.microsoft.com/office/drawing/2014/main" id="{A1D1D402-8B61-4E68-A677-2E84EE94D4B6}"/>
              </a:ext>
            </a:extLst>
          </p:cNvPr>
          <p:cNvSpPr/>
          <p:nvPr/>
        </p:nvSpPr>
        <p:spPr>
          <a:xfrm>
            <a:off x="971840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74" name="Rectangle 73">
            <a:extLst>
              <a:ext uri="{FF2B5EF4-FFF2-40B4-BE49-F238E27FC236}">
                <a16:creationId xmlns:a16="http://schemas.microsoft.com/office/drawing/2014/main" id="{6C02BCC3-4C24-29A7-01CE-F9431373E5D0}"/>
              </a:ext>
            </a:extLst>
          </p:cNvPr>
          <p:cNvSpPr/>
          <p:nvPr/>
        </p:nvSpPr>
        <p:spPr>
          <a:xfrm>
            <a:off x="9883443" y="4906253"/>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5" name="Rectangle 74">
            <a:extLst>
              <a:ext uri="{FF2B5EF4-FFF2-40B4-BE49-F238E27FC236}">
                <a16:creationId xmlns:a16="http://schemas.microsoft.com/office/drawing/2014/main" id="{A3BE1649-2519-0303-3A7F-ED1E46F25FD8}"/>
              </a:ext>
            </a:extLst>
          </p:cNvPr>
          <p:cNvSpPr/>
          <p:nvPr/>
        </p:nvSpPr>
        <p:spPr>
          <a:xfrm>
            <a:off x="988224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76" name="Rectangle 75">
            <a:extLst>
              <a:ext uri="{FF2B5EF4-FFF2-40B4-BE49-F238E27FC236}">
                <a16:creationId xmlns:a16="http://schemas.microsoft.com/office/drawing/2014/main" id="{22109F5B-099B-89C8-EA2B-EC0C69E6ACA1}"/>
              </a:ext>
            </a:extLst>
          </p:cNvPr>
          <p:cNvSpPr/>
          <p:nvPr/>
        </p:nvSpPr>
        <p:spPr>
          <a:xfrm>
            <a:off x="10047281" y="4794125"/>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7" name="Rectangle 76">
            <a:extLst>
              <a:ext uri="{FF2B5EF4-FFF2-40B4-BE49-F238E27FC236}">
                <a16:creationId xmlns:a16="http://schemas.microsoft.com/office/drawing/2014/main" id="{98F07B3E-F433-AD0B-0BEF-A31BB5BB02AD}"/>
              </a:ext>
            </a:extLst>
          </p:cNvPr>
          <p:cNvSpPr/>
          <p:nvPr/>
        </p:nvSpPr>
        <p:spPr>
          <a:xfrm>
            <a:off x="1004607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78" name="Rectangle 77">
            <a:extLst>
              <a:ext uri="{FF2B5EF4-FFF2-40B4-BE49-F238E27FC236}">
                <a16:creationId xmlns:a16="http://schemas.microsoft.com/office/drawing/2014/main" id="{8FFBDEAF-9DFD-CD98-AA6B-1A65643DBC58}"/>
              </a:ext>
            </a:extLst>
          </p:cNvPr>
          <p:cNvSpPr/>
          <p:nvPr/>
        </p:nvSpPr>
        <p:spPr>
          <a:xfrm>
            <a:off x="10322147" y="4851854"/>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Cost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Feasibility</a:t>
            </a:r>
          </a:p>
        </p:txBody>
      </p:sp>
      <p:sp>
        <p:nvSpPr>
          <p:cNvPr id="79" name="Rectangle 78">
            <a:extLst>
              <a:ext uri="{FF2B5EF4-FFF2-40B4-BE49-F238E27FC236}">
                <a16:creationId xmlns:a16="http://schemas.microsoft.com/office/drawing/2014/main" id="{5CB4C78C-9A65-6F19-48F7-6BBD1535CC9C}"/>
              </a:ext>
            </a:extLst>
          </p:cNvPr>
          <p:cNvSpPr/>
          <p:nvPr/>
        </p:nvSpPr>
        <p:spPr>
          <a:xfrm>
            <a:off x="1142624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0" name="Rectangle 79">
            <a:extLst>
              <a:ext uri="{FF2B5EF4-FFF2-40B4-BE49-F238E27FC236}">
                <a16:creationId xmlns:a16="http://schemas.microsoft.com/office/drawing/2014/main" id="{282B9CC1-7870-92B9-13EF-A756F025855D}"/>
              </a:ext>
            </a:extLst>
          </p:cNvPr>
          <p:cNvSpPr/>
          <p:nvPr/>
        </p:nvSpPr>
        <p:spPr>
          <a:xfrm>
            <a:off x="1142504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81" name="Rectangle 80">
            <a:extLst>
              <a:ext uri="{FF2B5EF4-FFF2-40B4-BE49-F238E27FC236}">
                <a16:creationId xmlns:a16="http://schemas.microsoft.com/office/drawing/2014/main" id="{29FEA1E3-1064-6856-533A-2FA09F7A5BD8}"/>
              </a:ext>
            </a:extLst>
          </p:cNvPr>
          <p:cNvSpPr/>
          <p:nvPr/>
        </p:nvSpPr>
        <p:spPr>
          <a:xfrm>
            <a:off x="11590083" y="4906253"/>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2" name="Rectangle 81">
            <a:extLst>
              <a:ext uri="{FF2B5EF4-FFF2-40B4-BE49-F238E27FC236}">
                <a16:creationId xmlns:a16="http://schemas.microsoft.com/office/drawing/2014/main" id="{1250A546-277B-4A0B-2E4D-60AB8975D0E9}"/>
              </a:ext>
            </a:extLst>
          </p:cNvPr>
          <p:cNvSpPr/>
          <p:nvPr/>
        </p:nvSpPr>
        <p:spPr>
          <a:xfrm>
            <a:off x="1158888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83" name="Rectangle 82">
            <a:extLst>
              <a:ext uri="{FF2B5EF4-FFF2-40B4-BE49-F238E27FC236}">
                <a16:creationId xmlns:a16="http://schemas.microsoft.com/office/drawing/2014/main" id="{0C706363-6564-B126-7AC3-1B25D6648839}"/>
              </a:ext>
            </a:extLst>
          </p:cNvPr>
          <p:cNvSpPr/>
          <p:nvPr/>
        </p:nvSpPr>
        <p:spPr>
          <a:xfrm>
            <a:off x="11753921" y="4794125"/>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4" name="Rectangle 83">
            <a:extLst>
              <a:ext uri="{FF2B5EF4-FFF2-40B4-BE49-F238E27FC236}">
                <a16:creationId xmlns:a16="http://schemas.microsoft.com/office/drawing/2014/main" id="{3280B61D-B5FB-B4E1-16B8-EFB16190B8A1}"/>
              </a:ext>
            </a:extLst>
          </p:cNvPr>
          <p:cNvSpPr/>
          <p:nvPr/>
        </p:nvSpPr>
        <p:spPr>
          <a:xfrm>
            <a:off x="1175271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cxnSp>
        <p:nvCxnSpPr>
          <p:cNvPr id="85" name="Straight Connector 84">
            <a:extLst>
              <a:ext uri="{FF2B5EF4-FFF2-40B4-BE49-F238E27FC236}">
                <a16:creationId xmlns:a16="http://schemas.microsoft.com/office/drawing/2014/main" id="{4A26B469-9DF3-56A9-ECDA-B01BF6F91B39}"/>
              </a:ext>
            </a:extLst>
          </p:cNvPr>
          <p:cNvCxnSpPr>
            <a:cxnSpLocks/>
          </p:cNvCxnSpPr>
          <p:nvPr/>
        </p:nvCxnSpPr>
        <p:spPr>
          <a:xfrm rot="5400000">
            <a:off x="10381544" y="3876457"/>
            <a:ext cx="0" cy="3200400"/>
          </a:xfrm>
          <a:prstGeom prst="line">
            <a:avLst/>
          </a:prstGeom>
          <a:ln w="19050" cap="flat" cmpd="sng" algn="ctr">
            <a:gradFill>
              <a:gsLst>
                <a:gs pos="0">
                  <a:schemeClr val="accent4">
                    <a:lumMod val="20000"/>
                    <a:lumOff val="80000"/>
                  </a:schemeClr>
                </a:gs>
                <a:gs pos="32000">
                  <a:schemeClr val="tx2"/>
                </a:gs>
                <a:gs pos="70000">
                  <a:schemeClr val="accent1"/>
                </a:gs>
                <a:gs pos="100000">
                  <a:schemeClr val="accent4">
                    <a:lumMod val="20000"/>
                    <a:lumOff val="80000"/>
                  </a:schemeClr>
                </a:gs>
              </a:gsLst>
              <a:lin ang="5400000" scaled="1"/>
            </a:gra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86" name="Group 85">
            <a:extLst>
              <a:ext uri="{FF2B5EF4-FFF2-40B4-BE49-F238E27FC236}">
                <a16:creationId xmlns:a16="http://schemas.microsoft.com/office/drawing/2014/main" id="{5C1432BE-A1FC-143E-02E0-5EA81C225D59}"/>
              </a:ext>
            </a:extLst>
          </p:cNvPr>
          <p:cNvGrpSpPr/>
          <p:nvPr/>
        </p:nvGrpSpPr>
        <p:grpSpPr>
          <a:xfrm>
            <a:off x="9401362" y="5704988"/>
            <a:ext cx="1960365" cy="400486"/>
            <a:chOff x="9352965" y="5558314"/>
            <a:chExt cx="1960365" cy="400486"/>
          </a:xfrm>
        </p:grpSpPr>
        <p:sp>
          <p:nvSpPr>
            <p:cNvPr id="87" name="Rectangle 86">
              <a:extLst>
                <a:ext uri="{FF2B5EF4-FFF2-40B4-BE49-F238E27FC236}">
                  <a16:creationId xmlns:a16="http://schemas.microsoft.com/office/drawing/2014/main" id="{8A7AD7FE-76EB-1167-2F3B-3CFB14107CB7}"/>
                </a:ext>
              </a:extLst>
            </p:cNvPr>
            <p:cNvSpPr/>
            <p:nvPr/>
          </p:nvSpPr>
          <p:spPr>
            <a:xfrm>
              <a:off x="9608782" y="5604668"/>
              <a:ext cx="1704548" cy="307777"/>
            </a:xfrm>
            <a:prstGeom prst="rect">
              <a:avLst/>
            </a:prstGeom>
          </p:spPr>
          <p:txBody>
            <a:bodyPr wrap="square" anchor="ctr">
              <a:sp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73370"/>
                  </a:solidFill>
                  <a:effectLst/>
                  <a:uLnTx/>
                  <a:uFillTx/>
                  <a:latin typeface="Aptos Display" panose="02110004020202020204"/>
                  <a:ea typeface="+mn-ea"/>
                  <a:cs typeface="+mn-cs"/>
                  <a:sym typeface="Helvetica Neue Medium"/>
                </a:rPr>
                <a:t>Time to Deploy </a:t>
              </a:r>
            </a:p>
          </p:txBody>
        </p:sp>
        <p:pic>
          <p:nvPicPr>
            <p:cNvPr id="88" name="Graphic 87" descr="Stopwatch 75% with solid fill">
              <a:extLst>
                <a:ext uri="{FF2B5EF4-FFF2-40B4-BE49-F238E27FC236}">
                  <a16:creationId xmlns:a16="http://schemas.microsoft.com/office/drawing/2014/main" id="{337987AC-B45B-547D-BBD9-69746E57B5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965" y="5558314"/>
              <a:ext cx="400486" cy="400486"/>
            </a:xfrm>
            <a:prstGeom prst="rect">
              <a:avLst/>
            </a:prstGeom>
          </p:spPr>
        </p:pic>
      </p:grpSp>
      <p:sp>
        <p:nvSpPr>
          <p:cNvPr id="90" name="Oval 89">
            <a:extLst>
              <a:ext uri="{FF2B5EF4-FFF2-40B4-BE49-F238E27FC236}">
                <a16:creationId xmlns:a16="http://schemas.microsoft.com/office/drawing/2014/main" id="{2B40313E-5848-3707-DBC8-5A50F56B2740}"/>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09663201-2DEE-BD55-A788-BEF4DD2B70D7}"/>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17EEAA63-D6FB-FD67-1420-486F56F0C481}"/>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Appendix A: Implemented Proof of Concept (POC) – User Access &amp; Permission Requests</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7082A433-B81E-58E1-EA97-055776D526F4}"/>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Implemented Proof of Concept validating the reusable AI-assisted IT Support automation architecture</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4903B4B0-061F-E427-1274-9C22A5915FCC}"/>
              </a:ext>
            </a:extLst>
          </p:cNvPr>
          <p:cNvSpPr txBox="1"/>
          <p:nvPr/>
        </p:nvSpPr>
        <p:spPr>
          <a:xfrm>
            <a:off x="4474178"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Power Automate (Run a prompt capability)</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SharePoint — POC reference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Teams &amp; Approvals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ITSM ticketing (human-approved)</a:t>
            </a:r>
          </a:p>
        </p:txBody>
      </p:sp>
    </p:spTree>
    <p:extLst>
      <p:ext uri="{BB962C8B-B14F-4D97-AF65-F5344CB8AC3E}">
        <p14:creationId xmlns:p14="http://schemas.microsoft.com/office/powerpoint/2010/main" val="2084743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765</TotalTime>
  <Words>185</Words>
  <Application>Microsoft Office PowerPoint</Application>
  <PresentationFormat>Widescreen</PresentationFormat>
  <Paragraphs>80</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Hend Majed AlAbbar</dc:creator>
  <cp:lastModifiedBy>Safaa Abdel Hamid Soliman</cp:lastModifiedBy>
  <cp:revision>40</cp:revision>
  <dcterms:created xsi:type="dcterms:W3CDTF">2026-04-07T09:52:47Z</dcterms:created>
  <dcterms:modified xsi:type="dcterms:W3CDTF">2026-07-15T19:13:28Z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427607-ff6b-482e-86cf-85fc569e58cd_Enabled">
    <vt:lpwstr>true</vt:lpwstr>
  </property>
  <property fmtid="{D5CDD505-2E9C-101B-9397-08002B2CF9AE}" pid="3" name="MSIP_Label_bd427607-ff6b-482e-86cf-85fc569e58cd_SetDate">
    <vt:lpwstr>2026-04-07T09:53:14Z</vt:lpwstr>
  </property>
  <property fmtid="{D5CDD505-2E9C-101B-9397-08002B2CF9AE}" pid="4" name="MSIP_Label_bd427607-ff6b-482e-86cf-85fc569e58cd_Method">
    <vt:lpwstr>Standard</vt:lpwstr>
  </property>
  <property fmtid="{D5CDD505-2E9C-101B-9397-08002B2CF9AE}" pid="5" name="MSIP_Label_bd427607-ff6b-482e-86cf-85fc569e58cd_Name">
    <vt:lpwstr>Dubai Health-Confidential</vt:lpwstr>
  </property>
  <property fmtid="{D5CDD505-2E9C-101B-9397-08002B2CF9AE}" pid="6" name="MSIP_Label_bd427607-ff6b-482e-86cf-85fc569e58cd_SiteId">
    <vt:lpwstr>2498e482-d486-4e8f-a0d8-bd97124de46e</vt:lpwstr>
  </property>
  <property fmtid="{D5CDD505-2E9C-101B-9397-08002B2CF9AE}" pid="7" name="MSIP_Label_bd427607-ff6b-482e-86cf-85fc569e58cd_ActionId">
    <vt:lpwstr>85906c42-e3d6-4788-972e-bd5dc4e39a03</vt:lpwstr>
  </property>
  <property fmtid="{D5CDD505-2E9C-101B-9397-08002B2CF9AE}" pid="8" name="MSIP_Label_bd427607-ff6b-482e-86cf-85fc569e58cd_ContentBits">
    <vt:lpwstr>2</vt:lpwstr>
  </property>
  <property fmtid="{D5CDD505-2E9C-101B-9397-08002B2CF9AE}" pid="9" name="MSIP_Label_bd427607-ff6b-482e-86cf-85fc569e58cd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Dubai Health  - Internal Use </vt:lpwstr>
  </property>
</Properties>
</file>